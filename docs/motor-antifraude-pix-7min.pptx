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05d0190b664d78" /><Relationship Type="http://schemas.openxmlformats.org/officeDocument/2006/relationships/extended-properties" Target="/docProps/app.xml" Id="Ref2eb499242a42db" /><Relationship Type="http://schemas.openxmlformats.org/officeDocument/2006/relationships/officeDocument" Target="/ppt/presentation.xml" Id="R0f1a5cebc6c245ca" /></Relationships>
</file>

<file path=ppt/presentation.xml><?xml version="1.0" encoding="utf-8"?>
<p:presentation xmlns:p="http://schemas.openxmlformats.org/presentationml/2006/main">
  <p:sldMasterIdLst>
    <p:sldMasterId xmlns:r="http://schemas.openxmlformats.org/officeDocument/2006/relationships" id="2147483648" r:id="Rc5e1a184c1a046c9"/>
  </p:sldMasterIdLst>
  <p:notesMasterIdLst>
    <p:notesMasterId xmlns:r="http://schemas.openxmlformats.org/officeDocument/2006/relationships" r:id="R256dae01f773439b"/>
  </p:notesMasterIdLst>
  <p:sldIdLst>
    <p:sldId xmlns:r="http://schemas.openxmlformats.org/officeDocument/2006/relationships" id="256" r:id="R4f27a8dd419545cf"/>
    <p:sldId xmlns:r="http://schemas.openxmlformats.org/officeDocument/2006/relationships" id="257" r:id="R619fbe120c7d4f76"/>
    <p:sldId xmlns:r="http://schemas.openxmlformats.org/officeDocument/2006/relationships" id="258" r:id="Rd340d0607a3f41e3"/>
    <p:sldId xmlns:r="http://schemas.openxmlformats.org/officeDocument/2006/relationships" id="259" r:id="R3760c4f224fe4404"/>
    <p:sldId xmlns:r="http://schemas.openxmlformats.org/officeDocument/2006/relationships" id="260" r:id="R6423c72563a94684"/>
    <p:sldId xmlns:r="http://schemas.openxmlformats.org/officeDocument/2006/relationships" id="261" r:id="Raaf6951fa4064954"/>
    <p:sldId xmlns:r="http://schemas.openxmlformats.org/officeDocument/2006/relationships" id="262" r:id="R08a5d51e1bd646cf"/>
    <p:sldId xmlns:r="http://schemas.openxmlformats.org/officeDocument/2006/relationships" id="263" r:id="R6be8e7e29d554109"/>
    <p:sldId xmlns:r="http://schemas.openxmlformats.org/officeDocument/2006/relationships" id="264" r:id="R3770a8e90c8a4ae4"/>
    <p:sldId xmlns:r="http://schemas.openxmlformats.org/officeDocument/2006/relationships" id="265" r:id="Rb6375d57e92f4366"/>
    <p:sldId xmlns:r="http://schemas.openxmlformats.org/officeDocument/2006/relationships" id="266" r:id="Ra5168947c452431b"/>
    <p:sldId xmlns:r="http://schemas.openxmlformats.org/officeDocument/2006/relationships" id="267" r:id="R86be4c5460f44d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09351cc8bb4ed4" /><Relationship Type="http://schemas.openxmlformats.org/officeDocument/2006/relationships/slideMaster" Target="/ppt/slideMasters/slideMaster1.xml" Id="Rc5e1a184c1a046c9" /><Relationship Type="http://schemas.openxmlformats.org/officeDocument/2006/relationships/notesMaster" Target="/ppt/notesMasters/notesMaster1.xml" Id="R256dae01f773439b" /><Relationship Type="http://schemas.openxmlformats.org/officeDocument/2006/relationships/presProps" Target="/ppt/presProps.xml" Id="R0be31043c6e94ed2" /><Relationship Type="http://schemas.openxmlformats.org/officeDocument/2006/relationships/tableStyles" Target="/ppt/tableStyles.xml" Id="Rb3312d9edb2e4344" /><Relationship Type="http://schemas.openxmlformats.org/officeDocument/2006/relationships/slide" Target="/ppt/slides/slide1.xml" Id="R4f27a8dd419545cf" /><Relationship Type="http://schemas.openxmlformats.org/officeDocument/2006/relationships/slide" Target="/ppt/slides/slide2.xml" Id="R619fbe120c7d4f76" /><Relationship Type="http://schemas.openxmlformats.org/officeDocument/2006/relationships/slide" Target="/ppt/slides/slide3.xml" Id="Rd340d0607a3f41e3" /><Relationship Type="http://schemas.openxmlformats.org/officeDocument/2006/relationships/slide" Target="/ppt/slides/slide4.xml" Id="R3760c4f224fe4404" /><Relationship Type="http://schemas.openxmlformats.org/officeDocument/2006/relationships/slide" Target="/ppt/slides/slide5.xml" Id="R6423c72563a94684" /><Relationship Type="http://schemas.openxmlformats.org/officeDocument/2006/relationships/slide" Target="/ppt/slides/slide6.xml" Id="Raaf6951fa4064954" /><Relationship Type="http://schemas.openxmlformats.org/officeDocument/2006/relationships/slide" Target="/ppt/slides/slide7.xml" Id="R08a5d51e1bd646cf" /><Relationship Type="http://schemas.openxmlformats.org/officeDocument/2006/relationships/slide" Target="/ppt/slides/slide8.xml" Id="R6be8e7e29d554109" /><Relationship Type="http://schemas.openxmlformats.org/officeDocument/2006/relationships/slide" Target="/ppt/slides/slide9.xml" Id="R3770a8e90c8a4ae4" /><Relationship Type="http://schemas.openxmlformats.org/officeDocument/2006/relationships/slide" Target="/ppt/slides/slide10.xml" Id="Rb6375d57e92f4366" /><Relationship Type="http://schemas.openxmlformats.org/officeDocument/2006/relationships/slide" Target="/ppt/slides/slide11.xml" Id="Ra5168947c452431b" /><Relationship Type="http://schemas.openxmlformats.org/officeDocument/2006/relationships/slide" Target="/ppt/slides/slide12.xml" Id="R86be4c5460f44d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3a6aaead0640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5a1c04769d4815" /><Relationship Type="http://schemas.openxmlformats.org/officeDocument/2006/relationships/notesMaster" Target="/ppt/notesMasters/notesMaster1.xml" Id="Rd51a463c61f546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498ad57b414465" /><Relationship Type="http://schemas.openxmlformats.org/officeDocument/2006/relationships/notesMaster" Target="/ppt/notesMasters/notesMaster1.xml" Id="Rec281419b50445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7c0a1f68514f45" /><Relationship Type="http://schemas.openxmlformats.org/officeDocument/2006/relationships/notesMaster" Target="/ppt/notesMasters/notesMaster1.xml" Id="R0de14b3765c246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2278ee67f8465c" /><Relationship Type="http://schemas.openxmlformats.org/officeDocument/2006/relationships/notesMaster" Target="/ppt/notesMasters/notesMaster1.xml" Id="Rb2c01fc405434e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64cccf8d2a478b" /><Relationship Type="http://schemas.openxmlformats.org/officeDocument/2006/relationships/notesMaster" Target="/ppt/notesMasters/notesMaster1.xml" Id="R643ed21044ce4b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d09cc7a8fc45a5" /><Relationship Type="http://schemas.openxmlformats.org/officeDocument/2006/relationships/notesMaster" Target="/ppt/notesMasters/notesMaster1.xml" Id="Rf2e202efe1e645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5d94076ce64f6f" /><Relationship Type="http://schemas.openxmlformats.org/officeDocument/2006/relationships/notesMaster" Target="/ppt/notesMasters/notesMaster1.xml" Id="Rdc3a7df8a49645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71d1777d1c4ec9" /><Relationship Type="http://schemas.openxmlformats.org/officeDocument/2006/relationships/notesMaster" Target="/ppt/notesMasters/notesMaster1.xml" Id="R55c4cb68791b4f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72850b7744442e" /><Relationship Type="http://schemas.openxmlformats.org/officeDocument/2006/relationships/notesMaster" Target="/ppt/notesMasters/notesMaster1.xml" Id="R7790a2d4175648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448888e27c47f7" /><Relationship Type="http://schemas.openxmlformats.org/officeDocument/2006/relationships/notesMaster" Target="/ppt/notesMasters/notesMaster1.xml" Id="Re501ffdee3b041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37a25e305e4dee" /><Relationship Type="http://schemas.openxmlformats.org/officeDocument/2006/relationships/notesMaster" Target="/ppt/notesMasters/notesMaster1.xml" Id="R85c853af8a4648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879b30461b4453" /><Relationship Type="http://schemas.openxmlformats.org/officeDocument/2006/relationships/notesMaster" Target="/ppt/notesMasters/notesMaster1.xml" Id="R9b943a00dc0e4c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20s.</a:t>
            </a:r>
          </a:p>
          <a:p xmlns:a="http://schemas.openxmlformats.org/drawingml/2006/main">
            <a:r>
              <a:t/>
            </a:r>
          </a:p>
          <a:p xmlns:a="http://schemas.openxmlformats.org/drawingml/2006/main">
            <a:r>
              <a:t>FALA SUGERIDA</a:t>
            </a:r>
          </a:p>
          <a:p xmlns:a="http://schemas.openxmlformats.org/drawingml/2006/main">
            <a:r>
              <a:t>Nosso projeto decide se um Pix pode seguir, precisa de confirmação ou deve ser recusado. Partimos do Base Service e combinamos regras explicáveis, histórico por conta e análise de possíveis laranjas. O foco é equilibrar risco e fricção.</a:t>
            </a:r>
          </a:p>
          <a:p xmlns:a="http://schemas.openxmlformats.org/drawingml/2006/main">
            <a:r>
              <a:t/>
            </a:r>
          </a:p>
          <a:p xmlns:a="http://schemas.openxmlformats.org/drawingml/2006/main">
            <a:r>
              <a:t>PONTO DE ATENÇÃO</a:t>
            </a:r>
          </a:p>
          <a:p xmlns:a="http://schemas.openxmlformats.org/drawingml/2006/main">
            <a:r>
              <a:t>Apresente o projeto e os integrantes. Evite abrir com a lista de tecnologias.</a:t>
            </a:r>
          </a:p>
          <a:p xmlns:a="http://schemas.openxmlformats.org/drawingml/2006/main">
            <a:r>
              <a:t/>
            </a:r>
          </a:p>
          <a:p xmlns:a="http://schemas.openxmlformats.org/drawingml/2006/main">
            <a:r>
              <a:t>FONTES</a:t>
            </a:r>
          </a:p>
          <a:p xmlns:a="http://schemas.openxmlformats.org/drawingml/2006/main">
            <a:r>
              <a:t>README.md, seções Como o motor de decisão funciona e Regras</a:t>
            </a:r>
          </a:p>
          <a:p xmlns:a="http://schemas.openxmlformats.org/drawingml/2006/main">
            <a:r>
              <a:t>Desafio Antifraude Pix.pdf, páginas 1, 2, 5 e 7</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a:p xmlns:a="http://schemas.openxmlformats.org/drawingml/2006/main">
            <a:br/>
            <a:r>
              <a:t>Imagem de capa: ilustração abstrata gerada para esta apresentação. Não representa uma operação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35s.</a:t>
            </a:r>
          </a:p>
          <a:p xmlns:a="http://schemas.openxmlformats.org/drawingml/2006/main">
            <a:r>
              <a:t/>
            </a:r>
          </a:p>
          <a:p xmlns:a="http://schemas.openxmlformats.org/drawingml/2006/main">
            <a:r>
              <a:t>FALA SUGERIDA</a:t>
            </a:r>
          </a:p>
          <a:p xmlns:a="http://schemas.openxmlformats.org/drawingml/2006/main">
            <a:r>
              <a:t>O contrato segue o desafio: o POST recebe a transação e devolve um dos três status. O GET recupera a análise original. Cada resposta informa a versão da política e um motivo determinante. Assumimos que o sistema de origem cuidou da autenticação básica e do cadastro. Nosso trabalho começa na decisão transacional. Como um bloqueio também prejudica o cliente legítimo, confirmação adicional e rejeição têm funções diferentes.</a:t>
            </a:r>
          </a:p>
          <a:p xmlns:a="http://schemas.openxmlformats.org/drawingml/2006/main">
            <a:r>
              <a:t/>
            </a:r>
          </a:p>
          <a:p xmlns:a="http://schemas.openxmlformats.org/drawingml/2006/main">
            <a:r>
              <a:t>PONTO DE ATENÇÃO</a:t>
            </a:r>
          </a:p>
          <a:p xmlns:a="http://schemas.openxmlformats.org/drawingml/2006/main">
            <a:r>
              <a:t>2FA é uma recomendação de confirmação. Esta API não executa nem conclui o segundo fator.</a:t>
            </a:r>
          </a:p>
          <a:p xmlns:a="http://schemas.openxmlformats.org/drawingml/2006/main">
            <a:r>
              <a:t/>
            </a:r>
          </a:p>
          <a:p xmlns:a="http://schemas.openxmlformats.org/drawingml/2006/main">
            <a:r>
              <a:t>FONTES</a:t>
            </a:r>
          </a:p>
          <a:p xmlns:a="http://schemas.openxmlformats.org/drawingml/2006/main">
            <a:r>
              <a:t>Desafio Antifraude Pix.pdf, páginas 2 a 5</a:t>
            </a:r>
          </a:p>
          <a:p xmlns:a="http://schemas.openxmlformats.org/drawingml/2006/main">
            <a:r>
              <a:t>README.md, seções Como o motor de decisão funciona e Como as regras viram decisão</a:t>
            </a:r>
          </a:p>
          <a:p xmlns:a="http://schemas.openxmlformats.org/drawingml/2006/main">
            <a:r>
              <a:t>src/rules/decision.py</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55s.</a:t>
            </a:r>
          </a:p>
          <a:p xmlns:a="http://schemas.openxmlformats.org/drawingml/2006/main">
            <a:r>
              <a:t/>
            </a:r>
          </a:p>
          <a:p xmlns:a="http://schemas.openxmlformats.org/drawingml/2006/main">
            <a:r>
              <a:t>FALA SUGERIDA</a:t>
            </a:r>
          </a:p>
          <a:p xmlns:a="http://schemas.openxmlformats.org/drawingml/2006/main">
            <a:r>
              <a:t>Começamos por controles simples. Na primeira semana, a conta pode enviar até mil reais em uma janela móvel de vinte e quatro horas. Para as demais contas, o teto geral é vinte mil. Só aprovações consomem esses limites, e somar a janela evita contornar o teto dividindo o valor. Já o segundo fator entra na terceira tentativa em dois minutos ou em um Pix de pelo menos cinco mil num aparelho sem familiaridade. O aparelho só se torna familiar vinte e quatro horas após a primeira aprovação. Essa espera impede uma aprovação pequena de liberar valores altos imediatamente. O custo existe: contas novas e clientes de maior volume podem enfrentar restrições legítimas.</a:t>
            </a:r>
          </a:p>
          <a:p xmlns:a="http://schemas.openxmlformats.org/drawingml/2006/main">
            <a:r>
              <a:t/>
            </a:r>
          </a:p>
          <a:p xmlns:a="http://schemas.openxmlformats.org/drawingml/2006/main">
            <a:r>
              <a:t>PONTO DE ATENÇÃO</a:t>
            </a:r>
          </a:p>
          <a:p xmlns:a="http://schemas.openxmlformats.org/drawingml/2006/main">
            <a:r>
              <a:t>Os parâmetros são hipóteses iniciais do protótipo. Não os apresente como padrões oficiais ou valores calibrados em clientes reais.</a:t>
            </a:r>
          </a:p>
          <a:p xmlns:a="http://schemas.openxmlformats.org/drawingml/2006/main">
            <a:r>
              <a:t/>
            </a:r>
          </a:p>
          <a:p xmlns:a="http://schemas.openxmlformats.org/drawingml/2006/main">
            <a:r>
              <a:t>FONTES</a:t>
            </a:r>
          </a:p>
          <a:p xmlns:a="http://schemas.openxmlformats.org/drawingml/2006/main">
            <a:r>
              <a:t>README.md, tabela Regras</a:t>
            </a:r>
          </a:p>
          <a:p xmlns:a="http://schemas.openxmlformats.org/drawingml/2006/main">
            <a:r>
              <a:t>src/rules/parameters.py</a:t>
            </a:r>
          </a:p>
          <a:p xmlns:a="http://schemas.openxmlformats.org/drawingml/2006/main">
            <a:r>
              <a:t>src/rules/policy.py</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50s.</a:t>
            </a:r>
          </a:p>
          <a:p xmlns:a="http://schemas.openxmlformats.org/drawingml/2006/main">
            <a:r>
              <a:t/>
            </a:r>
          </a:p>
          <a:p xmlns:a="http://schemas.openxmlformats.org/drawingml/2006/main">
            <a:r>
              <a:t>FALA SUGERIDA</a:t>
            </a:r>
          </a:p>
          <a:p xmlns:a="http://schemas.openxmlformats.org/drawingml/2006/main">
            <a:r>
              <a:t>Comparamos o valor com a média dos Pix enviados e aprovados observados daquela conta. A referência é o maior valor entre a média e quinhentos reais. Acima de dez vezes essa referência, pedimos segundo fator, mesmo em aparelho conhecido. Com média de seiscentos, seis mil e um centavo já aciona a regra. Se a média cair para trezentos reais e cinquenta centavos, o piso mantém o limiar em cinco mil. Assim, pagamentos pequenos não desligam a proteção. Exigimos uma aprovação anterior. Esse é um limiar de confirmação. O teto de rejeição continua sendo vinte mil acumulados em vinte e quatro horas.</a:t>
            </a:r>
          </a:p>
          <a:p xmlns:a="http://schemas.openxmlformats.org/drawingml/2006/main">
            <a:r>
              <a:t/>
            </a:r>
          </a:p>
          <a:p xmlns:a="http://schemas.openxmlformats.org/drawingml/2006/main">
            <a:r>
              <a:t>PONTO DE ATENÇÃO</a:t>
            </a:r>
          </a:p>
          <a:p xmlns:a="http://schemas.openxmlformats.org/drawingml/2006/main">
            <a:r>
              <a:t>Diga explicitamente que R$ 500 é piso da referência. Igualdade não aciona R5. Os exemplos pressupõem ausência de outras intervenções.</a:t>
            </a:r>
          </a:p>
          <a:p xmlns:a="http://schemas.openxmlformats.org/drawingml/2006/main">
            <a:r>
              <a:t/>
            </a:r>
          </a:p>
          <a:p xmlns:a="http://schemas.openxmlformats.org/drawingml/2006/main">
            <a:r>
              <a:t>FONTES</a:t>
            </a:r>
          </a:p>
          <a:p xmlns:a="http://schemas.openxmlformats.org/drawingml/2006/main">
            <a:r>
              <a:t>README.md, regra R5</a:t>
            </a:r>
          </a:p>
          <a:p xmlns:a="http://schemas.openxmlformats.org/drawingml/2006/main">
            <a:r>
              <a:t>docs/revisao-e-justificativas-v1.3.md, Definição da média e Exemplos e limites</a:t>
            </a:r>
          </a:p>
          <a:p xmlns:a="http://schemas.openxmlformats.org/drawingml/2006/main">
            <a:r>
              <a:t>src/rules/policy.py</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60s.</a:t>
            </a:r>
          </a:p>
          <a:p xmlns:a="http://schemas.openxmlformats.org/drawingml/2006/main">
            <a:r>
              <a:t/>
            </a:r>
          </a:p>
          <a:p xmlns:a="http://schemas.openxmlformats.org/drawingml/2006/main">
            <a:r>
              <a:t>FALA SUGERIDA</a:t>
            </a:r>
          </a:p>
          <a:p xmlns:a="http://schemas.openxmlformats.org/drawingml/2006/main">
            <a:r>
              <a:t>Separamos a suspeita da conta do pagamento atual. Combinamos um mock externo com vínculos e fluxos locais. Concentração de recebimentos indica suspeita, mas pode ser um rateio legítimo. A suspeita elevada exige marcação, relatos de instituições distintas ou uma combinação específica de vínculo e relatos abertos. Depois analisamos o ato. Um repasse aparente exige mil reais recebidos em uma hora e saídas, incluindo o Pix atual, de pelo menos metade, para pessoa física ou CNPJ com conta recente. Gastos típicos têm uma exceção limitada. Para destino elevado, preservamos uma relação comprovadamente anterior às evidências. Contato com conta suspeita não é prova de fraude. Segundo fator não resolve esse módulo: o próprio operador pode confirmar.</a:t>
            </a:r>
          </a:p>
          <a:p xmlns:a="http://schemas.openxmlformats.org/drawingml/2006/main">
            <a:r>
              <a:t/>
            </a:r>
          </a:p>
          <a:p xmlns:a="http://schemas.openxmlformats.org/drawingml/2006/main">
            <a:r>
              <a:t>PONTO DE ATENÇÃO</a:t>
            </a:r>
          </a:p>
          <a:p xmlns:a="http://schemas.openxmlformats.org/drawingml/2006/main">
            <a:r>
              <a:t>A fonte é simulada. A classificação mede risco, não comprova que alguém é laranja. Idade da conta CNPJ não é idade da empresa.</a:t>
            </a:r>
          </a:p>
          <a:p xmlns:a="http://schemas.openxmlformats.org/drawingml/2006/main">
            <a:r>
              <a:t/>
            </a:r>
          </a:p>
          <a:p xmlns:a="http://schemas.openxmlformats.org/drawingml/2006/main">
            <a:r>
              <a:t>FONTES</a:t>
            </a:r>
          </a:p>
          <a:p xmlns:a="http://schemas.openxmlformats.org/drawingml/2006/main">
            <a:r>
              <a:t>README.md, Classificação de possível laranja e Tipo de pagamento</a:t>
            </a:r>
          </a:p>
          <a:p xmlns:a="http://schemas.openxmlformats.org/drawingml/2006/main">
            <a:r>
              <a:t>src/rules/laranja.py</a:t>
            </a:r>
          </a:p>
          <a:p xmlns:a="http://schemas.openxmlformats.org/drawingml/2006/main">
            <a:r>
              <a:t>docs/revisao-e-justificativas-v1.3.md, exceção de CNPJ antigo</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55s.</a:t>
            </a:r>
          </a:p>
          <a:p xmlns:a="http://schemas.openxmlformats.org/drawingml/2006/main">
            <a:r>
              <a:t/>
            </a:r>
          </a:p>
          <a:p xmlns:a="http://schemas.openxmlformats.org/drawingml/2006/main">
            <a:r>
              <a:t>FALA SUGERIDA</a:t>
            </a:r>
          </a:p>
          <a:p xmlns:a="http://schemas.openxmlformats.org/drawingml/2006/main">
            <a:r>
              <a:t>Neste cenário fictício da demonstração, a conta recebeu cinco mil reais quando a fonte estava indisponível. Depois, o mock passou a marcá-la. Ao pagar cento e oitenta reais para uma concessionária com conta antiga, o motor aprova como gasto típico, dentro da exceção. Quando tenta enviar quatro mil reais para pessoa física, identifica uma saída relevante do dinheiro recém-recebido e rejeita. A diferença depende também do valor, do histórico recente e do destinatário. Essa escolha preserva um pagamento cotidiano limitado e restringe o repasse. Ela tem risco residual e não promete liberar toda despesa legítima de uma conta marcada.</a:t>
            </a:r>
          </a:p>
          <a:p xmlns:a="http://schemas.openxmlformats.org/drawingml/2006/main">
            <a:r>
              <a:t/>
            </a:r>
          </a:p>
          <a:p xmlns:a="http://schemas.openxmlformats.org/drawingml/2006/main">
            <a:r>
              <a:t>PONTO DE ATENÇÃO</a:t>
            </a:r>
          </a:p>
          <a:p xmlns:a="http://schemas.openxmlformats.org/drawingml/2006/main">
            <a:r>
              <a:t>Não diga que a API sabe a finalidade real do pagamento. “Luz” é o rótulo da demo. A regra enxerga valor, titular e idade da conta.</a:t>
            </a:r>
          </a:p>
          <a:p xmlns:a="http://schemas.openxmlformats.org/drawingml/2006/main">
            <a:r>
              <a:t/>
            </a:r>
          </a:p>
          <a:p xmlns:a="http://schemas.openxmlformats.org/drawingml/2006/main">
            <a:r>
              <a:t>FONTES</a:t>
            </a:r>
          </a:p>
          <a:p xmlns:a="http://schemas.openxmlformats.org/drawingml/2006/main">
            <a:r>
              <a:t>scripts/seed_demo.py, cenário 2</a:t>
            </a:r>
          </a:p>
          <a:p xmlns:a="http://schemas.openxmlformats.org/drawingml/2006/main">
            <a:r>
              <a:t>README.md, regras L2 e tipo de pagamento</a:t>
            </a:r>
          </a:p>
          <a:p xmlns:a="http://schemas.openxmlformats.org/drawingml/2006/main">
            <a:r>
              <a:t>src/rules/laranja.py</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55s.</a:t>
            </a:r>
          </a:p>
          <a:p xmlns:a="http://schemas.openxmlformats.org/drawingml/2006/main">
            <a:r>
              <a:t/>
            </a:r>
          </a:p>
          <a:p xmlns:a="http://schemas.openxmlformats.org/drawingml/2006/main">
            <a:r>
              <a:t>FALA SUGERIDA</a:t>
            </a:r>
          </a:p>
          <a:p xmlns:a="http://schemas.openxmlformats.org/drawingml/2006/main">
            <a:r>
              <a:t>Mantivemos a organização do Base Service com FastAPI. O resource valida, o controller reúne contexto e os repositories concentram o acesso ao PostgreSQL. As regras decidem sem consultar banco ou rede. Temos quatro tabelas. Uma identifica o pagador e permite a trava por conta. A análise guarda pedido, resultado, versão e evidências usadas. Os vínculos registram fluxos e aparelhos a partir de aprovações. A quarta registra consultas ao mock e sustenta o cache. Isso permite explicar a decisão com o contexto daquele momento. O GET devolve o registro original, sem reaplicar regras novas. Esse histórico registra decisões observadas, não a liquidação bancária.</a:t>
            </a:r>
          </a:p>
          <a:p xmlns:a="http://schemas.openxmlformats.org/drawingml/2006/main">
            <a:r>
              <a:t/>
            </a:r>
          </a:p>
          <a:p xmlns:a="http://schemas.openxmlformats.org/drawingml/2006/main">
            <a:r>
              <a:t>PONTO DE ATENÇÃO</a:t>
            </a:r>
          </a:p>
          <a:p xmlns:a="http://schemas.openxmlformats.org/drawingml/2006/main">
            <a:r>
              <a:t>O grafo é representado em tabelas SQL. Não há necessidade de apresentar Neo4j, IA ou um serviço adicional.</a:t>
            </a:r>
          </a:p>
          <a:p xmlns:a="http://schemas.openxmlformats.org/drawingml/2006/main">
            <a:r>
              <a:t/>
            </a:r>
          </a:p>
          <a:p xmlns:a="http://schemas.openxmlformats.org/drawingml/2006/main">
            <a:r>
              <a:t>FONTES</a:t>
            </a:r>
          </a:p>
          <a:p xmlns:a="http://schemas.openxmlformats.org/drawingml/2006/main">
            <a:r>
              <a:t>README.md, Como o motor de decisão funciona</a:t>
            </a:r>
          </a:p>
          <a:p xmlns:a="http://schemas.openxmlformats.org/drawingml/2006/main">
            <a:r>
              <a:t>database/database.sql</a:t>
            </a:r>
          </a:p>
          <a:p xmlns:a="http://schemas.openxmlformats.org/drawingml/2006/main">
            <a:r>
              <a:t>src/models</a:t>
            </a:r>
          </a:p>
          <a:p xmlns:a="http://schemas.openxmlformats.org/drawingml/2006/main">
            <a:r>
              <a:t>src/controllers/pix_transaction_controller.py</a:t>
            </a:r>
          </a:p>
          <a:p xmlns:a="http://schemas.openxmlformats.org/drawingml/2006/main">
            <a:r>
              <a:t>src/rules/policy.py</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45s.</a:t>
            </a:r>
          </a:p>
          <a:p xmlns:a="http://schemas.openxmlformats.org/drawingml/2006/main">
            <a:r>
              <a:t/>
            </a:r>
          </a:p>
          <a:p xmlns:a="http://schemas.openxmlformats.org/drawingml/2006/main">
            <a:r>
              <a:t>FALA SUGERIDA</a:t>
            </a:r>
          </a:p>
          <a:p xmlns:a="http://schemas.openxmlformats.org/drawingml/2006/main">
            <a:r>
              <a:t>Temos duzentos e setenta e um testes aprovados, cobrindo contrato, fronteiras das regras, média, laranjas e persistência. A demonstração confere sete decisões esperadas. Também testamos situações que mudam o resultado: duas solicitações simultâneas não podem usar o mesmo limite disponível. O reenvio equivalente mantém a análise. Reutilizar o ID com outro conteúdo gera conflito. Se a gravação falha, a transação faz rollback. Os testes verificam que a implementação cumpre a política. Eles não medem a taxa de fraude detectada nem os bloqueios de clientes reais.</a:t>
            </a:r>
          </a:p>
          <a:p xmlns:a="http://schemas.openxmlformats.org/drawingml/2006/main">
            <a:r>
              <a:t/>
            </a:r>
          </a:p>
          <a:p xmlns:a="http://schemas.openxmlformats.org/drawingml/2006/main">
            <a:r>
              <a:t>PONTO DE ATENÇÃO</a:t>
            </a:r>
          </a:p>
          <a:p xmlns:a="http://schemas.openxmlformats.org/drawingml/2006/main">
            <a:r>
              <a:t>Não confunda quantidade de testes com eficácia antifraude. Não afirme que todo o desenvolvimento seguiu TDD.</a:t>
            </a:r>
          </a:p>
          <a:p xmlns:a="http://schemas.openxmlformats.org/drawingml/2006/main">
            <a:r>
              <a:t/>
            </a:r>
          </a:p>
          <a:p xmlns:a="http://schemas.openxmlformats.org/drawingml/2006/main">
            <a:r>
              <a:t>FONTES</a:t>
            </a:r>
          </a:p>
          <a:p xmlns:a="http://schemas.openxmlformats.org/drawingml/2006/main">
            <a:r>
              <a:t>README.md, Como rodar e testar</a:t>
            </a:r>
          </a:p>
          <a:p xmlns:a="http://schemas.openxmlformats.org/drawingml/2006/main">
            <a:r>
              <a:t>docs/revisao-e-justificativas-v1.3.md, Atualização e validação</a:t>
            </a:r>
          </a:p>
          <a:p xmlns:a="http://schemas.openxmlformats.org/drawingml/2006/main">
            <a:r>
              <a:t>tests/</a:t>
            </a:r>
          </a:p>
          <a:p xmlns:a="http://schemas.openxmlformats.org/drawingml/2006/main">
            <a:r>
              <a:t>scripts/seed_demo.py</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25s.</a:t>
            </a:r>
          </a:p>
          <a:p xmlns:a="http://schemas.openxmlformats.org/drawingml/2006/main">
            <a:r>
              <a:t/>
            </a:r>
          </a:p>
          <a:p xmlns:a="http://schemas.openxmlformats.org/drawingml/2006/main">
            <a:r>
              <a:t>FALA SUGERIDA</a:t>
            </a:r>
          </a:p>
          <a:p xmlns:a="http://schemas.openxmlformats.org/drawingml/2006/main">
            <a:r>
              <a:t>Entregamos uma API funcional com decisões explicáveis e histórico consultável. Os parâmetros são hipóteses, a fonte é simulada e o cache pode atrasar sinais. O próximo passo seria medir fraude, falso positivo e latência para calibrar as escolhas. O código está na branch v3.</a:t>
            </a:r>
          </a:p>
          <a:p xmlns:a="http://schemas.openxmlformats.org/drawingml/2006/main">
            <a:r>
              <a:t/>
            </a:r>
          </a:p>
          <a:p xmlns:a="http://schemas.openxmlformats.org/drawingml/2006/main">
            <a:r>
              <a:t>PONTO DE ATENÇÃO</a:t>
            </a:r>
          </a:p>
          <a:p xmlns:a="http://schemas.openxmlformats.org/drawingml/2006/main">
            <a:r>
              <a:t>Finalize até 6min40. Os 20 segundos restantes são margem para pausas e troca de apresentador.</a:t>
            </a:r>
          </a:p>
          <a:p xmlns:a="http://schemas.openxmlformats.org/drawingml/2006/main">
            <a:r>
              <a:t/>
            </a:r>
          </a:p>
          <a:p xmlns:a="http://schemas.openxmlformats.org/drawingml/2006/main">
            <a:r>
              <a:t>FONTES</a:t>
            </a:r>
          </a:p>
          <a:p xmlns:a="http://schemas.openxmlformats.org/drawingml/2006/main">
            <a:r>
              <a:t>README.md</a:t>
            </a:r>
          </a:p>
          <a:p xmlns:a="http://schemas.openxmlformats.org/drawingml/2006/main">
            <a:r>
              <a:t>docs/revisao-e-justificativas-v1.3.md</a:t>
            </a:r>
          </a:p>
          <a:p xmlns:a="http://schemas.openxmlformats.org/drawingml/2006/main">
            <a:r>
              <a:t/>
            </a:r>
          </a:p>
          <a:p xmlns:a="http://schemas.openxmlformats.org/drawingml/2006/main">
            <a:r>
              <a:t>Referência da implementação: branch v3, política pix-v1.3, commit b50f5ff. Arquivos do projeto em https://github.com/LuigiNakata10/antifraude-pix-teste/tree/v3. Os PDFs do desafio são materiais fornecidos pela QI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APOIO PARA PERGUNTAS. Não integra os sete minutos.</a:t>
            </a:r>
          </a:p>
          <a:p xmlns:a="http://schemas.openxmlformats.org/drawingml/2006/main">
            <a:r>
              <a:t>Fonte: README.md e src/rules/policy.py, política pix-v1.3. Duas rejeições possíveis não geram dois motivos na resposta. O primeiro na ordem prevalece. Detalhes de auditoria permanecem internos. R1/R2 somam apenas aprovações e o Pix atual. R3 conta tentativas válidas distintas, inclusive rejeições e 2FA, sem reenvios. 2FA não aprova nem cria familiaridade.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APOIO PARA PERGUNTAS. Não integra os sete minutos.</a:t>
            </a:r>
          </a:p>
          <a:p xmlns:a="http://schemas.openxmlformats.org/drawingml/2006/main">
            <a:r>
              <a:t>Fonte: README.md, seção Classificação de possível laranja, e src/rules/laranja.py. E2 depende dos usos aprovados e de E1 observado na ocasião histórica do fluxo. Os valores de evidência e o DICT são simulados. Relatos podem se referir ao mesmo evento, por isso não somamos um score indiscriminadamente. Idade da conta não comprova a legitimidade do titular ou do pagamento.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APOIO PARA PERGUNTAS. Não integra os sete minutos.</a:t>
            </a:r>
          </a:p>
          <a:p xmlns:a="http://schemas.openxmlformats.org/drawingml/2006/main">
            <a:r>
              <a:t>Fonte: README.md, Como as regras viram decisão, e docs/revisao-e-justificativas-v1.3.md, Cache. O relógio do cache é o do servidor. A data de negócio vem de transaction_date. Consultas ocorrem antes da trava por pagador. Duzentos milissegundos não são um SLA total. A indisponibilidade não se converte em uma evidência positiva nem em prova de conta limpa. Trata-se de um mock e não de integração com base pública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868bc9fe3e41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1d65f1ecd040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97413d95c04e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42c4d7af804b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6ffe45fbce44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5832dd654b4f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501FA4-9834-4075-8315-EC470A0665E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763F75-1828-4F34-9166-3CE818E933B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35E24B-F496-423D-9A6A-EDEBD42281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1582DF-6540-43C1-A2AC-7BCF464EBF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314249-A026-4390-8BF2-7CC31FAA3E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7055C7-88A1-4739-9C94-C0E5805CD9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7415BB-8B8F-4173-B5A2-D9CB559E58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81BE26-E541-4F7F-B275-3C61549830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528012-39A1-49F1-9860-EEB15C0D20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BEC467-430F-4B25-9498-3098069365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8c92b4a3b74601" /><Relationship Type="http://schemas.openxmlformats.org/officeDocument/2006/relationships/slideLayout" Target="/ppt/slideLayouts/slideLayout1.xml" Id="R867ce0cf93fd44f4" /><Relationship Type="http://schemas.openxmlformats.org/officeDocument/2006/relationships/slideLayout" Target="/ppt/slideLayouts/slideLayout2.xml" Id="R462eff405a8b4f2f" /><Relationship Type="http://schemas.openxmlformats.org/officeDocument/2006/relationships/slideLayout" Target="/ppt/slideLayouts/slideLayout3.xml" Id="R3f47f7b819ee4d73" /><Relationship Type="http://schemas.openxmlformats.org/officeDocument/2006/relationships/slideLayout" Target="/ppt/slideLayouts/slideLayout4.xml" Id="Rfb436d4ccdbf439c" /><Relationship Type="http://schemas.openxmlformats.org/officeDocument/2006/relationships/slideLayout" Target="/ppt/slideLayouts/slideLayout5.xml" Id="Rb6351b04aaf841a1" /><Relationship Type="http://schemas.openxmlformats.org/officeDocument/2006/relationships/slideLayout" Target="/ppt/slideLayouts/slideLayout6.xml" Id="Rd5eecbe7647c4c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7ce0cf93fd44f4"/>
    <p:sldLayoutId xmlns:r="http://schemas.openxmlformats.org/officeDocument/2006/relationships" id="2147483650" r:id="R462eff405a8b4f2f"/>
    <p:sldLayoutId xmlns:r="http://schemas.openxmlformats.org/officeDocument/2006/relationships" id="2147483651" r:id="R3f47f7b819ee4d73"/>
    <p:sldLayoutId xmlns:r="http://schemas.openxmlformats.org/officeDocument/2006/relationships" id="2147483652" r:id="Rfb436d4ccdbf439c"/>
    <p:sldLayoutId xmlns:r="http://schemas.openxmlformats.org/officeDocument/2006/relationships" id="2147483653" r:id="Rb6351b04aaf841a1"/>
    <p:sldLayoutId xmlns:r="http://schemas.openxmlformats.org/officeDocument/2006/relationships" id="2147483654" r:id="Rd5eecbe7647c4c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549baaa79a4764" /><Relationship Type="http://schemas.openxmlformats.org/officeDocument/2006/relationships/image" Target="/ppt/media/image.png" Id="R7196f10428244586" /><Relationship Type="http://schemas.openxmlformats.org/officeDocument/2006/relationships/notesSlide" Target="/ppt/notesSlides/notesSlide1.xml" Id="R0087259d90954b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a23520097c43c2" /><Relationship Type="http://schemas.openxmlformats.org/officeDocument/2006/relationships/notesSlide" Target="/ppt/notesSlides/notesSlide2.xml" Id="Rcf4b7e62518e42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462032a26a4d8a" /><Relationship Type="http://schemas.openxmlformats.org/officeDocument/2006/relationships/notesSlide" Target="/ppt/notesSlides/notesSlide3.xml" Id="R0a78850a03d949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60085e54244514" /><Relationship Type="http://schemas.openxmlformats.org/officeDocument/2006/relationships/notesSlide" Target="/ppt/notesSlides/notesSlide4.xml" Id="R0520bb30a1eb40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4d4a1e4dfd4fda" /><Relationship Type="http://schemas.openxmlformats.org/officeDocument/2006/relationships/notesSlide" Target="/ppt/notesSlides/notesSlide5.xml" Id="R9741d6558db245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a80a69450d4972" /><Relationship Type="http://schemas.openxmlformats.org/officeDocument/2006/relationships/notesSlide" Target="/ppt/notesSlides/notesSlide6.xml" Id="R0fb0b29e0c5847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cdd729bcaa41e5" /><Relationship Type="http://schemas.openxmlformats.org/officeDocument/2006/relationships/notesSlide" Target="/ppt/notesSlides/notesSlide7.xml" Id="Rf82efcd0c3fd41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9ee5872f02f46a4" /><Relationship Type="http://schemas.openxmlformats.org/officeDocument/2006/relationships/notesSlide" Target="/ppt/notesSlides/notesSlide8.xml" Id="R23f4e4cdd8ba41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fd3acaf5a74ee9" /><Relationship Type="http://schemas.openxmlformats.org/officeDocument/2006/relationships/hyperlink" Target="https://github.com/LuigiNakata10/antifraude-pix-teste/tree/v3" TargetMode="External" Id="R36f7daf504bc43a8" /><Relationship Type="http://schemas.openxmlformats.org/officeDocument/2006/relationships/notesSlide" Target="/ppt/notesSlides/notesSlide9.xml" Id="R9f3348574ddd4e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39ace9d3fa4c8f" /><Relationship Type="http://schemas.openxmlformats.org/officeDocument/2006/relationships/notesSlide" Target="/ppt/notesSlides/notesSlide10.xml" Id="Rcf07b7319a6841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8256aedd054858" /><Relationship Type="http://schemas.openxmlformats.org/officeDocument/2006/relationships/notesSlide" Target="/ppt/notesSlides/notesSlide11.xml" Id="Rfd6e2ce89cbc42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24e4be67f2432a" /><Relationship Type="http://schemas.openxmlformats.org/officeDocument/2006/relationships/notesSlide" Target="/ppt/notesSlides/notesSlide12.xml" Id="Ra1b6dd1a2a804eaf" /></Relationships>
</file>

<file path=ppt/slides/slide1.xml><?xml version="1.0" encoding="utf-8"?>
<p:sld xmlns:p="http://schemas.openxmlformats.org/presentationml/2006/main">
  <p:cSld>
    <p:bg>
      <p:bgPr>
        <a:solidFill xmlns:a="http://schemas.openxmlformats.org/drawingml/2006/main">
          <a:srgbClr val="101323"/>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50369AB-8793-4F8B-969F-1ECFC2526403}"/>
              </a:ext>
            </a:extLst>
          </p:cNvPr>
          <p:cNvPicPr>
            <a:picLocks xmlns:a="http://schemas.openxmlformats.org/drawingml/2006/main" noChangeAspect="1"/>
          </p:cNvPicPr>
          <p:nvPr/>
        </p:nvPicPr>
        <p:blipFill>
          <a:blip xmlns:r="http://schemas.openxmlformats.org/officeDocument/2006/relationships" xmlns:a="http://schemas.openxmlformats.org/drawingml/2006/main" r:embed="R7196f1042824458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AB2929B5-CCA4-4C39-B44C-99BDA916E609}"/>
              </a:ext>
            </a:extLst>
          </p:cNvPr>
          <p:cNvSpPr>
            <a:spLocks xmlns:a="http://schemas.openxmlformats.org/drawingml/2006/main" noGrp="1"/>
          </p:cNvSpPr>
          <p:nvPr/>
        </p:nvSpPr>
        <p:spPr>
          <a:xfrm xmlns:a="http://schemas.openxmlformats.org/drawingml/2006/main">
            <a:off x="685800" y="1943100"/>
            <a:ext cx="666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Motor</a:t>
            </a:r>
          </a:p>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Antifraude Pix</a:t>
            </a:r>
          </a:p>
        </p:txBody>
      </p:sp>
      <p:sp>
        <p:nvSpPr>
          <p:cNvPr id="3" name="subtitle">
            <a:extLst xmlns:a="http://schemas.openxmlformats.org/drawingml/2006/main">
              <a:ext uri="{FF2B5EF4-FFF2-40B4-BE49-F238E27FC236}">
                <a16:creationId xmlns:a16="http://schemas.microsoft.com/office/drawing/2014/main" id="{AC40C12E-1DCC-404E-879A-9394F1CFD1B6}"/>
              </a:ext>
            </a:extLst>
          </p:cNvPr>
          <p:cNvSpPr>
            <a:spLocks xmlns:a="http://schemas.openxmlformats.org/drawingml/2006/main" noGrp="1"/>
          </p:cNvSpPr>
          <p:nvPr/>
        </p:nvSpPr>
        <p:spPr>
          <a:xfrm xmlns:a="http://schemas.openxmlformats.org/drawingml/2006/main">
            <a:off x="723900" y="4095750"/>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E0D9F4"/>
                </a:solidFill>
                <a:latin typeface="Arial"/>
                <a:ea typeface="Arial"/>
                <a:cs typeface="Arial"/>
              </a:defRPr>
            </a:defPPr>
            <a:lvl1pPr>
              <a:defRPr sz="2250">
                <a:solidFill>
                  <a:srgbClr val="E0D9F4"/>
                </a:solidFill>
                <a:latin typeface="Arial"/>
                <a:ea typeface="Arial"/>
                <a:cs typeface="Arial"/>
              </a:defRPr>
            </a:lvl1pPr>
            <a:lvl2pPr>
              <a:defRPr sz="2250">
                <a:solidFill>
                  <a:srgbClr val="E0D9F4"/>
                </a:solidFill>
                <a:latin typeface="Arial"/>
                <a:ea typeface="Arial"/>
                <a:cs typeface="Arial"/>
              </a:defRPr>
            </a:lvl2pPr>
            <a:lvl3pPr>
              <a:defRPr sz="2250">
                <a:solidFill>
                  <a:srgbClr val="E0D9F4"/>
                </a:solidFill>
                <a:latin typeface="Arial"/>
                <a:ea typeface="Arial"/>
                <a:cs typeface="Arial"/>
              </a:defRPr>
            </a:lvl3pPr>
            <a:lvl4pPr>
              <a:defRPr sz="2250">
                <a:solidFill>
                  <a:srgbClr val="E0D9F4"/>
                </a:solidFill>
                <a:latin typeface="Arial"/>
                <a:ea typeface="Arial"/>
                <a:cs typeface="Arial"/>
              </a:defRPr>
            </a:lvl4pPr>
            <a:lvl5pPr>
              <a:defRPr sz="2250">
                <a:solidFill>
                  <a:srgbClr val="E0D9F4"/>
                </a:solidFill>
                <a:latin typeface="Arial"/>
                <a:ea typeface="Arial"/>
                <a:cs typeface="Arial"/>
              </a:defRPr>
            </a:lvl5pPr>
            <a:lvl6pPr>
              <a:defRPr sz="2250">
                <a:solidFill>
                  <a:srgbClr val="E0D9F4"/>
                </a:solidFill>
                <a:latin typeface="Arial"/>
                <a:ea typeface="Arial"/>
                <a:cs typeface="Arial"/>
              </a:defRPr>
            </a:lvl6pPr>
            <a:lvl7pPr>
              <a:defRPr sz="2250">
                <a:solidFill>
                  <a:srgbClr val="E0D9F4"/>
                </a:solidFill>
                <a:latin typeface="Arial"/>
                <a:ea typeface="Arial"/>
                <a:cs typeface="Arial"/>
              </a:defRPr>
            </a:lvl7pPr>
            <a:lvl8pPr>
              <a:defRPr sz="2250">
                <a:solidFill>
                  <a:srgbClr val="E0D9F4"/>
                </a:solidFill>
                <a:latin typeface="Arial"/>
                <a:ea typeface="Arial"/>
                <a:cs typeface="Arial"/>
              </a:defRPr>
            </a:lvl8pPr>
            <a:lvl9pPr>
              <a:defRPr sz="2250">
                <a:solidFill>
                  <a:srgbClr val="E0D9F4"/>
                </a:solidFill>
                <a:latin typeface="Arial"/>
                <a:ea typeface="Arial"/>
                <a:cs typeface="Arial"/>
              </a:defRPr>
            </a:lvl9pPr>
          </a:lstStyle>
          <a:p xmlns:a="http://schemas.openxmlformats.org/drawingml/2006/main">
            <a:pPr>
              <a:defRPr sz="2250">
                <a:solidFill>
                  <a:srgbClr val="E0D9F4"/>
                </a:solidFill>
                <a:latin typeface="Arial"/>
                <a:ea typeface="Arial"/>
                <a:cs typeface="Arial"/>
              </a:defRPr>
            </a:pPr>
            <a:r>
              <a:rPr sz="2250">
                <a:solidFill>
                  <a:srgbClr val="E0D9F4"/>
                </a:solidFill>
                <a:latin typeface="Arial"/>
                <a:ea typeface="Arial"/>
                <a:cs typeface="Arial"/>
              </a:rPr>
              <a:t>Decisão por regras e histórico</a:t>
            </a:r>
          </a:p>
        </p:txBody>
      </p:sp>
      <p:sp>
        <p:nvSpPr>
          <p:cNvPr id="4" name="authors">
            <a:extLst xmlns:a="http://schemas.openxmlformats.org/drawingml/2006/main">
              <a:ext uri="{FF2B5EF4-FFF2-40B4-BE49-F238E27FC236}">
                <a16:creationId xmlns:a16="http://schemas.microsoft.com/office/drawing/2014/main" id="{422A4207-C5DD-4E6F-A907-AA74D88762AA}"/>
              </a:ext>
            </a:extLst>
          </p:cNvPr>
          <p:cNvSpPr>
            <a:spLocks xmlns:a="http://schemas.openxmlformats.org/drawingml/2006/main" noGrp="1"/>
          </p:cNvSpPr>
          <p:nvPr/>
        </p:nvSpPr>
        <p:spPr>
          <a:xfrm xmlns:a="http://schemas.openxmlformats.org/drawingml/2006/main">
            <a:off x="723900" y="56578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FFFFFF"/>
                </a:solidFill>
                <a:latin typeface="Arial"/>
                <a:ea typeface="Arial"/>
                <a:cs typeface="Arial"/>
              </a:defRPr>
            </a:defPPr>
            <a:lvl1pPr>
              <a:defRPr sz="2025">
                <a:solidFill>
                  <a:srgbClr val="FFFFFF"/>
                </a:solidFill>
                <a:latin typeface="Arial"/>
                <a:ea typeface="Arial"/>
                <a:cs typeface="Arial"/>
              </a:defRPr>
            </a:lvl1pPr>
            <a:lvl2pPr>
              <a:defRPr sz="2025">
                <a:solidFill>
                  <a:srgbClr val="FFFFFF"/>
                </a:solidFill>
                <a:latin typeface="Arial"/>
                <a:ea typeface="Arial"/>
                <a:cs typeface="Arial"/>
              </a:defRPr>
            </a:lvl2pPr>
            <a:lvl3pPr>
              <a:defRPr sz="2025">
                <a:solidFill>
                  <a:srgbClr val="FFFFFF"/>
                </a:solidFill>
                <a:latin typeface="Arial"/>
                <a:ea typeface="Arial"/>
                <a:cs typeface="Arial"/>
              </a:defRPr>
            </a:lvl3pPr>
            <a:lvl4pPr>
              <a:defRPr sz="2025">
                <a:solidFill>
                  <a:srgbClr val="FFFFFF"/>
                </a:solidFill>
                <a:latin typeface="Arial"/>
                <a:ea typeface="Arial"/>
                <a:cs typeface="Arial"/>
              </a:defRPr>
            </a:lvl4pPr>
            <a:lvl5pPr>
              <a:defRPr sz="2025">
                <a:solidFill>
                  <a:srgbClr val="FFFFFF"/>
                </a:solidFill>
                <a:latin typeface="Arial"/>
                <a:ea typeface="Arial"/>
                <a:cs typeface="Arial"/>
              </a:defRPr>
            </a:lvl5pPr>
            <a:lvl6pPr>
              <a:defRPr sz="2025">
                <a:solidFill>
                  <a:srgbClr val="FFFFFF"/>
                </a:solidFill>
                <a:latin typeface="Arial"/>
                <a:ea typeface="Arial"/>
                <a:cs typeface="Arial"/>
              </a:defRPr>
            </a:lvl6pPr>
            <a:lvl7pPr>
              <a:defRPr sz="2025">
                <a:solidFill>
                  <a:srgbClr val="FFFFFF"/>
                </a:solidFill>
                <a:latin typeface="Arial"/>
                <a:ea typeface="Arial"/>
                <a:cs typeface="Arial"/>
              </a:defRPr>
            </a:lvl7pPr>
            <a:lvl8pPr>
              <a:defRPr sz="2025">
                <a:solidFill>
                  <a:srgbClr val="FFFFFF"/>
                </a:solidFill>
                <a:latin typeface="Arial"/>
                <a:ea typeface="Arial"/>
                <a:cs typeface="Arial"/>
              </a:defRPr>
            </a:lvl8pPr>
            <a:lvl9pPr>
              <a:defRPr sz="2025">
                <a:solidFill>
                  <a:srgbClr val="FFFFFF"/>
                </a:solidFill>
                <a:latin typeface="Arial"/>
                <a:ea typeface="Arial"/>
                <a:cs typeface="Arial"/>
              </a:defRPr>
            </a:lvl9pPr>
          </a:lstStyle>
          <a:p xmlns:a="http://schemas.openxmlformats.org/drawingml/2006/main">
            <a:pPr>
              <a:defRPr sz="2025">
                <a:solidFill>
                  <a:srgbClr val="FFFFFF"/>
                </a:solidFill>
                <a:latin typeface="Arial"/>
                <a:ea typeface="Arial"/>
                <a:cs typeface="Arial"/>
              </a:defRPr>
            </a:pPr>
            <a:r>
              <a:rPr sz="2025">
                <a:solidFill>
                  <a:srgbClr val="FFFFFF"/>
                </a:solidFill>
                <a:latin typeface="Arial"/>
                <a:ea typeface="Arial"/>
                <a:cs typeface="Arial"/>
              </a:rPr>
              <a:t>Renan Correia e Luigi Nakata</a:t>
            </a:r>
          </a:p>
        </p:txBody>
      </p:sp>
      <p:sp>
        <p:nvSpPr>
          <p:cNvPr id="5" name="context">
            <a:extLst xmlns:a="http://schemas.openxmlformats.org/drawingml/2006/main">
              <a:ext uri="{FF2B5EF4-FFF2-40B4-BE49-F238E27FC236}">
                <a16:creationId xmlns:a16="http://schemas.microsoft.com/office/drawing/2014/main" id="{5635706B-B5CA-418E-909F-4050EF24CFCC}"/>
              </a:ext>
            </a:extLst>
          </p:cNvPr>
          <p:cNvSpPr>
            <a:spLocks xmlns:a="http://schemas.openxmlformats.org/drawingml/2006/main" noGrp="1"/>
          </p:cNvSpPr>
          <p:nvPr/>
        </p:nvSpPr>
        <p:spPr>
          <a:xfrm xmlns:a="http://schemas.openxmlformats.org/drawingml/2006/main">
            <a:off x="723900" y="61912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C7BEDD"/>
                </a:solidFill>
                <a:latin typeface="Arial"/>
                <a:ea typeface="Arial"/>
                <a:cs typeface="Arial"/>
              </a:defRPr>
            </a:defPPr>
            <a:lvl1pPr>
              <a:defRPr sz="1575">
                <a:solidFill>
                  <a:srgbClr val="C7BEDD"/>
                </a:solidFill>
                <a:latin typeface="Arial"/>
                <a:ea typeface="Arial"/>
                <a:cs typeface="Arial"/>
              </a:defRPr>
            </a:lvl1pPr>
            <a:lvl2pPr>
              <a:defRPr sz="1575">
                <a:solidFill>
                  <a:srgbClr val="C7BEDD"/>
                </a:solidFill>
                <a:latin typeface="Arial"/>
                <a:ea typeface="Arial"/>
                <a:cs typeface="Arial"/>
              </a:defRPr>
            </a:lvl2pPr>
            <a:lvl3pPr>
              <a:defRPr sz="1575">
                <a:solidFill>
                  <a:srgbClr val="C7BEDD"/>
                </a:solidFill>
                <a:latin typeface="Arial"/>
                <a:ea typeface="Arial"/>
                <a:cs typeface="Arial"/>
              </a:defRPr>
            </a:lvl3pPr>
            <a:lvl4pPr>
              <a:defRPr sz="1575">
                <a:solidFill>
                  <a:srgbClr val="C7BEDD"/>
                </a:solidFill>
                <a:latin typeface="Arial"/>
                <a:ea typeface="Arial"/>
                <a:cs typeface="Arial"/>
              </a:defRPr>
            </a:lvl4pPr>
            <a:lvl5pPr>
              <a:defRPr sz="1575">
                <a:solidFill>
                  <a:srgbClr val="C7BEDD"/>
                </a:solidFill>
                <a:latin typeface="Arial"/>
                <a:ea typeface="Arial"/>
                <a:cs typeface="Arial"/>
              </a:defRPr>
            </a:lvl5pPr>
            <a:lvl6pPr>
              <a:defRPr sz="1575">
                <a:solidFill>
                  <a:srgbClr val="C7BEDD"/>
                </a:solidFill>
                <a:latin typeface="Arial"/>
                <a:ea typeface="Arial"/>
                <a:cs typeface="Arial"/>
              </a:defRPr>
            </a:lvl6pPr>
            <a:lvl7pPr>
              <a:defRPr sz="1575">
                <a:solidFill>
                  <a:srgbClr val="C7BEDD"/>
                </a:solidFill>
                <a:latin typeface="Arial"/>
                <a:ea typeface="Arial"/>
                <a:cs typeface="Arial"/>
              </a:defRPr>
            </a:lvl7pPr>
            <a:lvl8pPr>
              <a:defRPr sz="1575">
                <a:solidFill>
                  <a:srgbClr val="C7BEDD"/>
                </a:solidFill>
                <a:latin typeface="Arial"/>
                <a:ea typeface="Arial"/>
                <a:cs typeface="Arial"/>
              </a:defRPr>
            </a:lvl8pPr>
            <a:lvl9pPr>
              <a:defRPr sz="1575">
                <a:solidFill>
                  <a:srgbClr val="C7BEDD"/>
                </a:solidFill>
                <a:latin typeface="Arial"/>
                <a:ea typeface="Arial"/>
                <a:cs typeface="Arial"/>
              </a:defRPr>
            </a:lvl9pPr>
          </a:lstStyle>
          <a:p xmlns:a="http://schemas.openxmlformats.org/drawingml/2006/main">
            <a:pPr>
              <a:defRPr sz="1575">
                <a:solidFill>
                  <a:srgbClr val="C7BEDD"/>
                </a:solidFill>
                <a:latin typeface="Arial"/>
                <a:ea typeface="Arial"/>
                <a:cs typeface="Arial"/>
              </a:defRPr>
            </a:pPr>
            <a:r>
              <a:rPr sz="1575">
                <a:solidFill>
                  <a:srgbClr val="C7BEDD"/>
                </a:solidFill>
                <a:latin typeface="Arial"/>
                <a:ea typeface="Arial"/>
                <a:cs typeface="Arial"/>
              </a:rPr>
              <a:t>Bootcamp QI Tech</a:t>
            </a:r>
          </a:p>
        </p:txBody>
      </p:sp>
    </p:spTree>
    <p:extLst>
      <p:ext uri="{BB962C8B-B14F-4D97-AF65-F5344CB8AC3E}">
        <p14:creationId xmlns:p14="http://schemas.microsoft.com/office/powerpoint/2010/main" val="1702129288"/>
      </p:ext>
    </p:extLst>
  </p:cSld>
</p:sld>
</file>

<file path=ppt/slides/slide2.xml><?xml version="1.0" encoding="utf-8"?>
<p:sld xmlns:p="http://schemas.openxmlformats.org/presentationml/2006/main">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A2249FE-79B4-4116-BF3E-B50489C1FB1E}"/>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Uma decisão antes do Pix sair</a:t>
            </a:r>
          </a:p>
        </p:txBody>
      </p:sp>
      <p:sp>
        <p:nvSpPr>
          <p:cNvPr id="2" name="page-number">
            <a:extLst xmlns:a="http://schemas.openxmlformats.org/drawingml/2006/main">
              <a:ext uri="{FF2B5EF4-FFF2-40B4-BE49-F238E27FC236}">
                <a16:creationId xmlns:a16="http://schemas.microsoft.com/office/drawing/2014/main" id="{F2523EE4-84CA-4B6B-BFA0-FE17B79CBC37}"/>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02</a:t>
            </a:r>
          </a:p>
        </p:txBody>
      </p:sp>
      <p:sp>
        <p:nvSpPr>
          <p:cNvPr id="3" name="post">
            <a:extLst xmlns:a="http://schemas.openxmlformats.org/drawingml/2006/main">
              <a:ext uri="{FF2B5EF4-FFF2-40B4-BE49-F238E27FC236}">
                <a16:creationId xmlns:a16="http://schemas.microsoft.com/office/drawing/2014/main" id="{F64F91D8-E2EA-43BD-81CE-B8E01D3FA6E8}"/>
              </a:ext>
            </a:extLst>
          </p:cNvPr>
          <p:cNvSpPr>
            <a:spLocks xmlns:a="http://schemas.openxmlformats.org/drawingml/2006/main" noGrp="1"/>
          </p:cNvSpPr>
          <p:nvPr/>
        </p:nvSpPr>
        <p:spPr>
          <a:xfrm xmlns:a="http://schemas.openxmlformats.org/drawingml/2006/main">
            <a:off x="685800" y="17907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6745C4"/>
                </a:solidFill>
                <a:latin typeface="Arial"/>
                <a:ea typeface="Arial"/>
                <a:cs typeface="Arial"/>
              </a:defRPr>
            </a:defPPr>
            <a:lvl1pPr>
              <a:defRPr sz="2625" b="1">
                <a:solidFill>
                  <a:srgbClr val="6745C4"/>
                </a:solidFill>
                <a:latin typeface="Arial"/>
                <a:ea typeface="Arial"/>
                <a:cs typeface="Arial"/>
              </a:defRPr>
            </a:lvl1pPr>
            <a:lvl2pPr>
              <a:defRPr sz="2625" b="1">
                <a:solidFill>
                  <a:srgbClr val="6745C4"/>
                </a:solidFill>
                <a:latin typeface="Arial"/>
                <a:ea typeface="Arial"/>
                <a:cs typeface="Arial"/>
              </a:defRPr>
            </a:lvl2pPr>
            <a:lvl3pPr>
              <a:defRPr sz="2625" b="1">
                <a:solidFill>
                  <a:srgbClr val="6745C4"/>
                </a:solidFill>
                <a:latin typeface="Arial"/>
                <a:ea typeface="Arial"/>
                <a:cs typeface="Arial"/>
              </a:defRPr>
            </a:lvl3pPr>
            <a:lvl4pPr>
              <a:defRPr sz="2625" b="1">
                <a:solidFill>
                  <a:srgbClr val="6745C4"/>
                </a:solidFill>
                <a:latin typeface="Arial"/>
                <a:ea typeface="Arial"/>
                <a:cs typeface="Arial"/>
              </a:defRPr>
            </a:lvl4pPr>
            <a:lvl5pPr>
              <a:defRPr sz="2625" b="1">
                <a:solidFill>
                  <a:srgbClr val="6745C4"/>
                </a:solidFill>
                <a:latin typeface="Arial"/>
                <a:ea typeface="Arial"/>
                <a:cs typeface="Arial"/>
              </a:defRPr>
            </a:lvl5pPr>
            <a:lvl6pPr>
              <a:defRPr sz="2625" b="1">
                <a:solidFill>
                  <a:srgbClr val="6745C4"/>
                </a:solidFill>
                <a:latin typeface="Arial"/>
                <a:ea typeface="Arial"/>
                <a:cs typeface="Arial"/>
              </a:defRPr>
            </a:lvl6pPr>
            <a:lvl7pPr>
              <a:defRPr sz="2625" b="1">
                <a:solidFill>
                  <a:srgbClr val="6745C4"/>
                </a:solidFill>
                <a:latin typeface="Arial"/>
                <a:ea typeface="Arial"/>
                <a:cs typeface="Arial"/>
              </a:defRPr>
            </a:lvl7pPr>
            <a:lvl8pPr>
              <a:defRPr sz="2625" b="1">
                <a:solidFill>
                  <a:srgbClr val="6745C4"/>
                </a:solidFill>
                <a:latin typeface="Arial"/>
                <a:ea typeface="Arial"/>
                <a:cs typeface="Arial"/>
              </a:defRPr>
            </a:lvl8pPr>
            <a:lvl9pPr>
              <a:defRPr sz="2625" b="1">
                <a:solidFill>
                  <a:srgbClr val="6745C4"/>
                </a:solidFill>
                <a:latin typeface="Arial"/>
                <a:ea typeface="Arial"/>
                <a:cs typeface="Arial"/>
              </a:defRPr>
            </a:lvl9pPr>
          </a:lstStyle>
          <a:p xmlns:a="http://schemas.openxmlformats.org/drawingml/2006/main">
            <a:pPr>
              <a:defRPr sz="2625" b="1">
                <a:solidFill>
                  <a:srgbClr val="6745C4"/>
                </a:solidFill>
                <a:latin typeface="Arial"/>
                <a:ea typeface="Arial"/>
                <a:cs typeface="Arial"/>
              </a:defRPr>
            </a:pPr>
            <a:r>
              <a:rPr sz="2625" b="1">
                <a:solidFill>
                  <a:srgbClr val="6745C4"/>
                </a:solidFill>
                <a:latin typeface="Arial"/>
                <a:ea typeface="Arial"/>
                <a:cs typeface="Arial"/>
              </a:rPr>
              <a:t>POST /pix/transaction</a:t>
            </a:r>
          </a:p>
        </p:txBody>
      </p:sp>
      <p:sp>
        <p:nvSpPr>
          <p:cNvPr id="4" name="post-description">
            <a:extLst xmlns:a="http://schemas.openxmlformats.org/drawingml/2006/main">
              <a:ext uri="{FF2B5EF4-FFF2-40B4-BE49-F238E27FC236}">
                <a16:creationId xmlns:a16="http://schemas.microsoft.com/office/drawing/2014/main" id="{9024D1F9-CA6C-42E9-B340-2D189B4B3796}"/>
              </a:ext>
            </a:extLst>
          </p:cNvPr>
          <p:cNvSpPr>
            <a:spLocks xmlns:a="http://schemas.openxmlformats.org/drawingml/2006/main" noGrp="1"/>
          </p:cNvSpPr>
          <p:nvPr/>
        </p:nvSpPr>
        <p:spPr>
          <a:xfrm xmlns:a="http://schemas.openxmlformats.org/drawingml/2006/main">
            <a:off x="685800" y="2390775"/>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1A30"/>
                </a:solidFill>
                <a:latin typeface="Arial"/>
                <a:ea typeface="Arial"/>
                <a:cs typeface="Arial"/>
              </a:defRPr>
            </a:defPPr>
            <a:lvl1pPr>
              <a:defRPr sz="2250">
                <a:solidFill>
                  <a:srgbClr val="171A30"/>
                </a:solidFill>
                <a:latin typeface="Arial"/>
                <a:ea typeface="Arial"/>
                <a:cs typeface="Arial"/>
              </a:defRPr>
            </a:lvl1pPr>
            <a:lvl2pPr>
              <a:defRPr sz="2250">
                <a:solidFill>
                  <a:srgbClr val="171A30"/>
                </a:solidFill>
                <a:latin typeface="Arial"/>
                <a:ea typeface="Arial"/>
                <a:cs typeface="Arial"/>
              </a:defRPr>
            </a:lvl2pPr>
            <a:lvl3pPr>
              <a:defRPr sz="2250">
                <a:solidFill>
                  <a:srgbClr val="171A30"/>
                </a:solidFill>
                <a:latin typeface="Arial"/>
                <a:ea typeface="Arial"/>
                <a:cs typeface="Arial"/>
              </a:defRPr>
            </a:lvl3pPr>
            <a:lvl4pPr>
              <a:defRPr sz="2250">
                <a:solidFill>
                  <a:srgbClr val="171A30"/>
                </a:solidFill>
                <a:latin typeface="Arial"/>
                <a:ea typeface="Arial"/>
                <a:cs typeface="Arial"/>
              </a:defRPr>
            </a:lvl4pPr>
            <a:lvl5pPr>
              <a:defRPr sz="2250">
                <a:solidFill>
                  <a:srgbClr val="171A30"/>
                </a:solidFill>
                <a:latin typeface="Arial"/>
                <a:ea typeface="Arial"/>
                <a:cs typeface="Arial"/>
              </a:defRPr>
            </a:lvl5pPr>
            <a:lvl6pPr>
              <a:defRPr sz="2250">
                <a:solidFill>
                  <a:srgbClr val="171A30"/>
                </a:solidFill>
                <a:latin typeface="Arial"/>
                <a:ea typeface="Arial"/>
                <a:cs typeface="Arial"/>
              </a:defRPr>
            </a:lvl6pPr>
            <a:lvl7pPr>
              <a:defRPr sz="2250">
                <a:solidFill>
                  <a:srgbClr val="171A30"/>
                </a:solidFill>
                <a:latin typeface="Arial"/>
                <a:ea typeface="Arial"/>
                <a:cs typeface="Arial"/>
              </a:defRPr>
            </a:lvl7pPr>
            <a:lvl8pPr>
              <a:defRPr sz="2250">
                <a:solidFill>
                  <a:srgbClr val="171A30"/>
                </a:solidFill>
                <a:latin typeface="Arial"/>
                <a:ea typeface="Arial"/>
                <a:cs typeface="Arial"/>
              </a:defRPr>
            </a:lvl8pPr>
            <a:lvl9pPr>
              <a:defRPr sz="2250">
                <a:solidFill>
                  <a:srgbClr val="171A30"/>
                </a:solidFill>
                <a:latin typeface="Arial"/>
                <a:ea typeface="Arial"/>
                <a:cs typeface="Arial"/>
              </a:defRPr>
            </a:lvl9pPr>
          </a:lstStyle>
          <a:p xmlns:a="http://schemas.openxmlformats.org/drawingml/2006/main">
            <a:pPr>
              <a:defRPr sz="2250">
                <a:solidFill>
                  <a:srgbClr val="171A30"/>
                </a:solidFill>
                <a:latin typeface="Arial"/>
                <a:ea typeface="Arial"/>
                <a:cs typeface="Arial"/>
              </a:defRPr>
            </a:pPr>
            <a:r>
              <a:rPr sz="2250">
                <a:solidFill>
                  <a:srgbClr val="171A30"/>
                </a:solidFill>
                <a:latin typeface="Arial"/>
                <a:ea typeface="Arial"/>
                <a:cs typeface="Arial"/>
              </a:rPr>
              <a:t>Recebe o Pix, consulta o contexto</a:t>
            </a:r>
          </a:p>
          <a:p xmlns:a="http://schemas.openxmlformats.org/drawingml/2006/main">
            <a:pPr>
              <a:defRPr sz="2250">
                <a:solidFill>
                  <a:srgbClr val="171A30"/>
                </a:solidFill>
                <a:latin typeface="Arial"/>
                <a:ea typeface="Arial"/>
                <a:cs typeface="Arial"/>
              </a:defRPr>
            </a:pPr>
            <a:r>
              <a:rPr sz="2250">
                <a:solidFill>
                  <a:srgbClr val="171A30"/>
                </a:solidFill>
                <a:latin typeface="Arial"/>
                <a:ea typeface="Arial"/>
                <a:cs typeface="Arial"/>
              </a:rPr>
              <a:t>e grava a decisão.</a:t>
            </a:r>
          </a:p>
        </p:txBody>
      </p:sp>
      <p:sp>
        <p:nvSpPr>
          <p:cNvPr id="5" name="get">
            <a:extLst xmlns:a="http://schemas.openxmlformats.org/drawingml/2006/main">
              <a:ext uri="{FF2B5EF4-FFF2-40B4-BE49-F238E27FC236}">
                <a16:creationId xmlns:a16="http://schemas.microsoft.com/office/drawing/2014/main" id="{7B892C90-6AE8-4B8A-B4DA-8A0E648DDE4B}"/>
              </a:ext>
            </a:extLst>
          </p:cNvPr>
          <p:cNvSpPr>
            <a:spLocks xmlns:a="http://schemas.openxmlformats.org/drawingml/2006/main" noGrp="1"/>
          </p:cNvSpPr>
          <p:nvPr/>
        </p:nvSpPr>
        <p:spPr>
          <a:xfrm xmlns:a="http://schemas.openxmlformats.org/drawingml/2006/main">
            <a:off x="685800" y="3829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6745C4"/>
                </a:solidFill>
                <a:latin typeface="Arial"/>
                <a:ea typeface="Arial"/>
                <a:cs typeface="Arial"/>
              </a:defRPr>
            </a:defPPr>
            <a:lvl1pPr>
              <a:defRPr sz="2325" b="1">
                <a:solidFill>
                  <a:srgbClr val="6745C4"/>
                </a:solidFill>
                <a:latin typeface="Arial"/>
                <a:ea typeface="Arial"/>
                <a:cs typeface="Arial"/>
              </a:defRPr>
            </a:lvl1pPr>
            <a:lvl2pPr>
              <a:defRPr sz="2325" b="1">
                <a:solidFill>
                  <a:srgbClr val="6745C4"/>
                </a:solidFill>
                <a:latin typeface="Arial"/>
                <a:ea typeface="Arial"/>
                <a:cs typeface="Arial"/>
              </a:defRPr>
            </a:lvl2pPr>
            <a:lvl3pPr>
              <a:defRPr sz="2325" b="1">
                <a:solidFill>
                  <a:srgbClr val="6745C4"/>
                </a:solidFill>
                <a:latin typeface="Arial"/>
                <a:ea typeface="Arial"/>
                <a:cs typeface="Arial"/>
              </a:defRPr>
            </a:lvl3pPr>
            <a:lvl4pPr>
              <a:defRPr sz="2325" b="1">
                <a:solidFill>
                  <a:srgbClr val="6745C4"/>
                </a:solidFill>
                <a:latin typeface="Arial"/>
                <a:ea typeface="Arial"/>
                <a:cs typeface="Arial"/>
              </a:defRPr>
            </a:lvl4pPr>
            <a:lvl5pPr>
              <a:defRPr sz="2325" b="1">
                <a:solidFill>
                  <a:srgbClr val="6745C4"/>
                </a:solidFill>
                <a:latin typeface="Arial"/>
                <a:ea typeface="Arial"/>
                <a:cs typeface="Arial"/>
              </a:defRPr>
            </a:lvl5pPr>
            <a:lvl6pPr>
              <a:defRPr sz="2325" b="1">
                <a:solidFill>
                  <a:srgbClr val="6745C4"/>
                </a:solidFill>
                <a:latin typeface="Arial"/>
                <a:ea typeface="Arial"/>
                <a:cs typeface="Arial"/>
              </a:defRPr>
            </a:lvl6pPr>
            <a:lvl7pPr>
              <a:defRPr sz="2325" b="1">
                <a:solidFill>
                  <a:srgbClr val="6745C4"/>
                </a:solidFill>
                <a:latin typeface="Arial"/>
                <a:ea typeface="Arial"/>
                <a:cs typeface="Arial"/>
              </a:defRPr>
            </a:lvl7pPr>
            <a:lvl8pPr>
              <a:defRPr sz="2325" b="1">
                <a:solidFill>
                  <a:srgbClr val="6745C4"/>
                </a:solidFill>
                <a:latin typeface="Arial"/>
                <a:ea typeface="Arial"/>
                <a:cs typeface="Arial"/>
              </a:defRPr>
            </a:lvl8pPr>
            <a:lvl9pPr>
              <a:defRPr sz="2325" b="1">
                <a:solidFill>
                  <a:srgbClr val="6745C4"/>
                </a:solidFill>
                <a:latin typeface="Arial"/>
                <a:ea typeface="Arial"/>
                <a:cs typeface="Arial"/>
              </a:defRPr>
            </a:lvl9pPr>
          </a:lstStyle>
          <a:p xmlns:a="http://schemas.openxmlformats.org/drawingml/2006/main">
            <a:pPr>
              <a:defRPr sz="2325" b="1">
                <a:solidFill>
                  <a:srgbClr val="6745C4"/>
                </a:solidFill>
                <a:latin typeface="Arial"/>
                <a:ea typeface="Arial"/>
                <a:cs typeface="Arial"/>
              </a:defRPr>
            </a:pPr>
            <a:r>
              <a:rPr sz="2325" b="1">
                <a:solidFill>
                  <a:srgbClr val="6745C4"/>
                </a:solidFill>
                <a:latin typeface="Arial"/>
                <a:ea typeface="Arial"/>
                <a:cs typeface="Arial"/>
              </a:rPr>
              <a:t>GET /pix/transaction/{id}</a:t>
            </a:r>
          </a:p>
        </p:txBody>
      </p:sp>
      <p:sp>
        <p:nvSpPr>
          <p:cNvPr id="6" name="get-description">
            <a:extLst xmlns:a="http://schemas.openxmlformats.org/drawingml/2006/main">
              <a:ext uri="{FF2B5EF4-FFF2-40B4-BE49-F238E27FC236}">
                <a16:creationId xmlns:a16="http://schemas.microsoft.com/office/drawing/2014/main" id="{A948E03E-9456-4761-8D47-1075AE62730B}"/>
              </a:ext>
            </a:extLst>
          </p:cNvPr>
          <p:cNvSpPr>
            <a:spLocks xmlns:a="http://schemas.openxmlformats.org/drawingml/2006/main" noGrp="1"/>
          </p:cNvSpPr>
          <p:nvPr/>
        </p:nvSpPr>
        <p:spPr>
          <a:xfrm xmlns:a="http://schemas.openxmlformats.org/drawingml/2006/main">
            <a:off x="685800" y="4391025"/>
            <a:ext cx="561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1A30"/>
                </a:solidFill>
                <a:latin typeface="Arial"/>
                <a:ea typeface="Arial"/>
                <a:cs typeface="Arial"/>
              </a:defRPr>
            </a:defPPr>
            <a:lvl1pPr>
              <a:defRPr sz="2250">
                <a:solidFill>
                  <a:srgbClr val="171A30"/>
                </a:solidFill>
                <a:latin typeface="Arial"/>
                <a:ea typeface="Arial"/>
                <a:cs typeface="Arial"/>
              </a:defRPr>
            </a:lvl1pPr>
            <a:lvl2pPr>
              <a:defRPr sz="2250">
                <a:solidFill>
                  <a:srgbClr val="171A30"/>
                </a:solidFill>
                <a:latin typeface="Arial"/>
                <a:ea typeface="Arial"/>
                <a:cs typeface="Arial"/>
              </a:defRPr>
            </a:lvl2pPr>
            <a:lvl3pPr>
              <a:defRPr sz="2250">
                <a:solidFill>
                  <a:srgbClr val="171A30"/>
                </a:solidFill>
                <a:latin typeface="Arial"/>
                <a:ea typeface="Arial"/>
                <a:cs typeface="Arial"/>
              </a:defRPr>
            </a:lvl3pPr>
            <a:lvl4pPr>
              <a:defRPr sz="2250">
                <a:solidFill>
                  <a:srgbClr val="171A30"/>
                </a:solidFill>
                <a:latin typeface="Arial"/>
                <a:ea typeface="Arial"/>
                <a:cs typeface="Arial"/>
              </a:defRPr>
            </a:lvl4pPr>
            <a:lvl5pPr>
              <a:defRPr sz="2250">
                <a:solidFill>
                  <a:srgbClr val="171A30"/>
                </a:solidFill>
                <a:latin typeface="Arial"/>
                <a:ea typeface="Arial"/>
                <a:cs typeface="Arial"/>
              </a:defRPr>
            </a:lvl5pPr>
            <a:lvl6pPr>
              <a:defRPr sz="2250">
                <a:solidFill>
                  <a:srgbClr val="171A30"/>
                </a:solidFill>
                <a:latin typeface="Arial"/>
                <a:ea typeface="Arial"/>
                <a:cs typeface="Arial"/>
              </a:defRPr>
            </a:lvl6pPr>
            <a:lvl7pPr>
              <a:defRPr sz="2250">
                <a:solidFill>
                  <a:srgbClr val="171A30"/>
                </a:solidFill>
                <a:latin typeface="Arial"/>
                <a:ea typeface="Arial"/>
                <a:cs typeface="Arial"/>
              </a:defRPr>
            </a:lvl7pPr>
            <a:lvl8pPr>
              <a:defRPr sz="2250">
                <a:solidFill>
                  <a:srgbClr val="171A30"/>
                </a:solidFill>
                <a:latin typeface="Arial"/>
                <a:ea typeface="Arial"/>
                <a:cs typeface="Arial"/>
              </a:defRPr>
            </a:lvl8pPr>
            <a:lvl9pPr>
              <a:defRPr sz="2250">
                <a:solidFill>
                  <a:srgbClr val="171A30"/>
                </a:solidFill>
                <a:latin typeface="Arial"/>
                <a:ea typeface="Arial"/>
                <a:cs typeface="Arial"/>
              </a:defRPr>
            </a:lvl9pPr>
          </a:lstStyle>
          <a:p xmlns:a="http://schemas.openxmlformats.org/drawingml/2006/main">
            <a:pPr>
              <a:defRPr sz="2250">
                <a:solidFill>
                  <a:srgbClr val="171A30"/>
                </a:solidFill>
                <a:latin typeface="Arial"/>
                <a:ea typeface="Arial"/>
                <a:cs typeface="Arial"/>
              </a:defRPr>
            </a:pPr>
            <a:r>
              <a:rPr sz="2250">
                <a:solidFill>
                  <a:srgbClr val="171A30"/>
                </a:solidFill>
                <a:latin typeface="Arial"/>
                <a:ea typeface="Arial"/>
                <a:cs typeface="Arial"/>
              </a:rPr>
              <a:t>Devolve a análise original.</a:t>
            </a:r>
          </a:p>
        </p:txBody>
      </p:sp>
      <p:sp>
        <p:nvSpPr>
          <p:cNvPr id="7" name="status-approved">
            <a:extLst xmlns:a="http://schemas.openxmlformats.org/drawingml/2006/main">
              <a:ext uri="{FF2B5EF4-FFF2-40B4-BE49-F238E27FC236}">
                <a16:creationId xmlns:a16="http://schemas.microsoft.com/office/drawing/2014/main" id="{64C30C1E-C33B-43D0-A97D-ABBE12A84D44}"/>
              </a:ext>
            </a:extLst>
          </p:cNvPr>
          <p:cNvSpPr>
            <a:spLocks xmlns:a="http://schemas.openxmlformats.org/drawingml/2006/main" noGrp="1"/>
          </p:cNvSpPr>
          <p:nvPr/>
        </p:nvSpPr>
        <p:spPr>
          <a:xfrm xmlns:a="http://schemas.openxmlformats.org/drawingml/2006/main">
            <a:off x="7191375" y="17430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07567"/>
                </a:solidFill>
                <a:latin typeface="Arial"/>
                <a:ea typeface="Arial"/>
                <a:cs typeface="Arial"/>
              </a:defRPr>
            </a:defPPr>
            <a:lvl1pPr>
              <a:defRPr sz="2550" b="1">
                <a:solidFill>
                  <a:srgbClr val="107567"/>
                </a:solidFill>
                <a:latin typeface="Arial"/>
                <a:ea typeface="Arial"/>
                <a:cs typeface="Arial"/>
              </a:defRPr>
            </a:lvl1pPr>
            <a:lvl2pPr>
              <a:defRPr sz="2550" b="1">
                <a:solidFill>
                  <a:srgbClr val="107567"/>
                </a:solidFill>
                <a:latin typeface="Arial"/>
                <a:ea typeface="Arial"/>
                <a:cs typeface="Arial"/>
              </a:defRPr>
            </a:lvl2pPr>
            <a:lvl3pPr>
              <a:defRPr sz="2550" b="1">
                <a:solidFill>
                  <a:srgbClr val="107567"/>
                </a:solidFill>
                <a:latin typeface="Arial"/>
                <a:ea typeface="Arial"/>
                <a:cs typeface="Arial"/>
              </a:defRPr>
            </a:lvl3pPr>
            <a:lvl4pPr>
              <a:defRPr sz="2550" b="1">
                <a:solidFill>
                  <a:srgbClr val="107567"/>
                </a:solidFill>
                <a:latin typeface="Arial"/>
                <a:ea typeface="Arial"/>
                <a:cs typeface="Arial"/>
              </a:defRPr>
            </a:lvl4pPr>
            <a:lvl5pPr>
              <a:defRPr sz="2550" b="1">
                <a:solidFill>
                  <a:srgbClr val="107567"/>
                </a:solidFill>
                <a:latin typeface="Arial"/>
                <a:ea typeface="Arial"/>
                <a:cs typeface="Arial"/>
              </a:defRPr>
            </a:lvl5pPr>
            <a:lvl6pPr>
              <a:defRPr sz="2550" b="1">
                <a:solidFill>
                  <a:srgbClr val="107567"/>
                </a:solidFill>
                <a:latin typeface="Arial"/>
                <a:ea typeface="Arial"/>
                <a:cs typeface="Arial"/>
              </a:defRPr>
            </a:lvl6pPr>
            <a:lvl7pPr>
              <a:defRPr sz="2550" b="1">
                <a:solidFill>
                  <a:srgbClr val="107567"/>
                </a:solidFill>
                <a:latin typeface="Arial"/>
                <a:ea typeface="Arial"/>
                <a:cs typeface="Arial"/>
              </a:defRPr>
            </a:lvl7pPr>
            <a:lvl8pPr>
              <a:defRPr sz="2550" b="1">
                <a:solidFill>
                  <a:srgbClr val="107567"/>
                </a:solidFill>
                <a:latin typeface="Arial"/>
                <a:ea typeface="Arial"/>
                <a:cs typeface="Arial"/>
              </a:defRPr>
            </a:lvl8pPr>
            <a:lvl9pPr>
              <a:defRPr sz="2550" b="1">
                <a:solidFill>
                  <a:srgbClr val="107567"/>
                </a:solidFill>
                <a:latin typeface="Arial"/>
                <a:ea typeface="Arial"/>
                <a:cs typeface="Arial"/>
              </a:defRPr>
            </a:lvl9pPr>
          </a:lstStyle>
          <a:p xmlns:a="http://schemas.openxmlformats.org/drawingml/2006/main">
            <a:pPr>
              <a:defRPr sz="2550" b="1">
                <a:solidFill>
                  <a:srgbClr val="107567"/>
                </a:solidFill>
                <a:latin typeface="Arial"/>
                <a:ea typeface="Arial"/>
                <a:cs typeface="Arial"/>
              </a:defRPr>
            </a:pPr>
            <a:r>
              <a:rPr sz="2550" b="1">
                <a:solidFill>
                  <a:srgbClr val="107567"/>
                </a:solidFill>
                <a:latin typeface="Arial"/>
                <a:ea typeface="Arial"/>
                <a:cs typeface="Arial"/>
              </a:rPr>
              <a:t>approved</a:t>
            </a:r>
          </a:p>
        </p:txBody>
      </p:sp>
      <p:sp>
        <p:nvSpPr>
          <p:cNvPr id="8" name="approved-description">
            <a:extLst xmlns:a="http://schemas.openxmlformats.org/drawingml/2006/main">
              <a:ext uri="{FF2B5EF4-FFF2-40B4-BE49-F238E27FC236}">
                <a16:creationId xmlns:a16="http://schemas.microsoft.com/office/drawing/2014/main" id="{AD4E8354-2E21-421F-A724-F4172227F296}"/>
              </a:ext>
            </a:extLst>
          </p:cNvPr>
          <p:cNvSpPr>
            <a:spLocks xmlns:a="http://schemas.openxmlformats.org/drawingml/2006/main" noGrp="1"/>
          </p:cNvSpPr>
          <p:nvPr/>
        </p:nvSpPr>
        <p:spPr>
          <a:xfrm xmlns:a="http://schemas.openxmlformats.org/drawingml/2006/main">
            <a:off x="7191375" y="22098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1A30"/>
                </a:solidFill>
                <a:latin typeface="Arial"/>
                <a:ea typeface="Arial"/>
                <a:cs typeface="Arial"/>
              </a:defRPr>
            </a:defPPr>
            <a:lvl1pPr>
              <a:defRPr sz="1800">
                <a:solidFill>
                  <a:srgbClr val="171A30"/>
                </a:solidFill>
                <a:latin typeface="Arial"/>
                <a:ea typeface="Arial"/>
                <a:cs typeface="Arial"/>
              </a:defRPr>
            </a:lvl1pPr>
            <a:lvl2pPr>
              <a:defRPr sz="1800">
                <a:solidFill>
                  <a:srgbClr val="171A30"/>
                </a:solidFill>
                <a:latin typeface="Arial"/>
                <a:ea typeface="Arial"/>
                <a:cs typeface="Arial"/>
              </a:defRPr>
            </a:lvl2pPr>
            <a:lvl3pPr>
              <a:defRPr sz="1800">
                <a:solidFill>
                  <a:srgbClr val="171A30"/>
                </a:solidFill>
                <a:latin typeface="Arial"/>
                <a:ea typeface="Arial"/>
                <a:cs typeface="Arial"/>
              </a:defRPr>
            </a:lvl3pPr>
            <a:lvl4pPr>
              <a:defRPr sz="1800">
                <a:solidFill>
                  <a:srgbClr val="171A30"/>
                </a:solidFill>
                <a:latin typeface="Arial"/>
                <a:ea typeface="Arial"/>
                <a:cs typeface="Arial"/>
              </a:defRPr>
            </a:lvl4pPr>
            <a:lvl5pPr>
              <a:defRPr sz="1800">
                <a:solidFill>
                  <a:srgbClr val="171A30"/>
                </a:solidFill>
                <a:latin typeface="Arial"/>
                <a:ea typeface="Arial"/>
                <a:cs typeface="Arial"/>
              </a:defRPr>
            </a:lvl5pPr>
            <a:lvl6pPr>
              <a:defRPr sz="1800">
                <a:solidFill>
                  <a:srgbClr val="171A30"/>
                </a:solidFill>
                <a:latin typeface="Arial"/>
                <a:ea typeface="Arial"/>
                <a:cs typeface="Arial"/>
              </a:defRPr>
            </a:lvl6pPr>
            <a:lvl7pPr>
              <a:defRPr sz="1800">
                <a:solidFill>
                  <a:srgbClr val="171A30"/>
                </a:solidFill>
                <a:latin typeface="Arial"/>
                <a:ea typeface="Arial"/>
                <a:cs typeface="Arial"/>
              </a:defRPr>
            </a:lvl7pPr>
            <a:lvl8pPr>
              <a:defRPr sz="1800">
                <a:solidFill>
                  <a:srgbClr val="171A30"/>
                </a:solidFill>
                <a:latin typeface="Arial"/>
                <a:ea typeface="Arial"/>
                <a:cs typeface="Arial"/>
              </a:defRPr>
            </a:lvl8pPr>
            <a:lvl9pPr>
              <a:defRPr sz="1800">
                <a:solidFill>
                  <a:srgbClr val="171A30"/>
                </a:solidFill>
                <a:latin typeface="Arial"/>
                <a:ea typeface="Arial"/>
                <a:cs typeface="Arial"/>
              </a:defRPr>
            </a:lvl9pPr>
          </a:lstStyle>
          <a:p xmlns:a="http://schemas.openxmlformats.org/drawingml/2006/main">
            <a:pPr>
              <a:defRPr sz="1800">
                <a:solidFill>
                  <a:srgbClr val="171A30"/>
                </a:solidFill>
                <a:latin typeface="Arial"/>
                <a:ea typeface="Arial"/>
                <a:cs typeface="Arial"/>
              </a:defRPr>
            </a:pPr>
            <a:r>
              <a:rPr sz="1800">
                <a:solidFill>
                  <a:srgbClr val="171A30"/>
                </a:solidFill>
                <a:latin typeface="Arial"/>
                <a:ea typeface="Arial"/>
                <a:cs typeface="Arial"/>
              </a:rPr>
              <a:t>Segue sem confirmação adicional</a:t>
            </a:r>
          </a:p>
        </p:txBody>
      </p:sp>
      <p:sp>
        <p:nvSpPr>
          <p:cNvPr id="9" name="status-two-factor">
            <a:extLst xmlns:a="http://schemas.openxmlformats.org/drawingml/2006/main">
              <a:ext uri="{FF2B5EF4-FFF2-40B4-BE49-F238E27FC236}">
                <a16:creationId xmlns:a16="http://schemas.microsoft.com/office/drawing/2014/main" id="{66281573-E091-4287-AD00-DC70D0990665}"/>
              </a:ext>
            </a:extLst>
          </p:cNvPr>
          <p:cNvSpPr>
            <a:spLocks xmlns:a="http://schemas.openxmlformats.org/drawingml/2006/main" noGrp="1"/>
          </p:cNvSpPr>
          <p:nvPr/>
        </p:nvSpPr>
        <p:spPr>
          <a:xfrm xmlns:a="http://schemas.openxmlformats.org/drawingml/2006/main">
            <a:off x="7191375" y="3057525"/>
            <a:ext cx="442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6745C4"/>
                </a:solidFill>
                <a:latin typeface="Arial"/>
                <a:ea typeface="Arial"/>
                <a:cs typeface="Arial"/>
              </a:defRPr>
            </a:defPPr>
            <a:lvl1pPr>
              <a:defRPr sz="2400" b="1">
                <a:solidFill>
                  <a:srgbClr val="6745C4"/>
                </a:solidFill>
                <a:latin typeface="Arial"/>
                <a:ea typeface="Arial"/>
                <a:cs typeface="Arial"/>
              </a:defRPr>
            </a:lvl1pPr>
            <a:lvl2pPr>
              <a:defRPr sz="2400" b="1">
                <a:solidFill>
                  <a:srgbClr val="6745C4"/>
                </a:solidFill>
                <a:latin typeface="Arial"/>
                <a:ea typeface="Arial"/>
                <a:cs typeface="Arial"/>
              </a:defRPr>
            </a:lvl2pPr>
            <a:lvl3pPr>
              <a:defRPr sz="2400" b="1">
                <a:solidFill>
                  <a:srgbClr val="6745C4"/>
                </a:solidFill>
                <a:latin typeface="Arial"/>
                <a:ea typeface="Arial"/>
                <a:cs typeface="Arial"/>
              </a:defRPr>
            </a:lvl3pPr>
            <a:lvl4pPr>
              <a:defRPr sz="2400" b="1">
                <a:solidFill>
                  <a:srgbClr val="6745C4"/>
                </a:solidFill>
                <a:latin typeface="Arial"/>
                <a:ea typeface="Arial"/>
                <a:cs typeface="Arial"/>
              </a:defRPr>
            </a:lvl4pPr>
            <a:lvl5pPr>
              <a:defRPr sz="2400" b="1">
                <a:solidFill>
                  <a:srgbClr val="6745C4"/>
                </a:solidFill>
                <a:latin typeface="Arial"/>
                <a:ea typeface="Arial"/>
                <a:cs typeface="Arial"/>
              </a:defRPr>
            </a:lvl5pPr>
            <a:lvl6pPr>
              <a:defRPr sz="2400" b="1">
                <a:solidFill>
                  <a:srgbClr val="6745C4"/>
                </a:solidFill>
                <a:latin typeface="Arial"/>
                <a:ea typeface="Arial"/>
                <a:cs typeface="Arial"/>
              </a:defRPr>
            </a:lvl6pPr>
            <a:lvl7pPr>
              <a:defRPr sz="2400" b="1">
                <a:solidFill>
                  <a:srgbClr val="6745C4"/>
                </a:solidFill>
                <a:latin typeface="Arial"/>
                <a:ea typeface="Arial"/>
                <a:cs typeface="Arial"/>
              </a:defRPr>
            </a:lvl7pPr>
            <a:lvl8pPr>
              <a:defRPr sz="2400" b="1">
                <a:solidFill>
                  <a:srgbClr val="6745C4"/>
                </a:solidFill>
                <a:latin typeface="Arial"/>
                <a:ea typeface="Arial"/>
                <a:cs typeface="Arial"/>
              </a:defRPr>
            </a:lvl8pPr>
            <a:lvl9pPr>
              <a:defRPr sz="2400" b="1">
                <a:solidFill>
                  <a:srgbClr val="6745C4"/>
                </a:solidFill>
                <a:latin typeface="Arial"/>
                <a:ea typeface="Arial"/>
                <a:cs typeface="Arial"/>
              </a:defRPr>
            </a:lvl9pPr>
          </a:lstStyle>
          <a:p xmlns:a="http://schemas.openxmlformats.org/drawingml/2006/main">
            <a:pPr>
              <a:defRPr sz="2400" b="1">
                <a:solidFill>
                  <a:srgbClr val="6745C4"/>
                </a:solidFill>
                <a:latin typeface="Arial"/>
                <a:ea typeface="Arial"/>
                <a:cs typeface="Arial"/>
              </a:defRPr>
            </a:pPr>
            <a:r>
              <a:rPr sz="2400" b="1">
                <a:solidFill>
                  <a:srgbClr val="6745C4"/>
                </a:solidFill>
                <a:latin typeface="Arial"/>
                <a:ea typeface="Arial"/>
                <a:cs typeface="Arial"/>
              </a:rPr>
              <a:t>two_factor_required</a:t>
            </a:r>
          </a:p>
        </p:txBody>
      </p:sp>
      <p:sp>
        <p:nvSpPr>
          <p:cNvPr id="10" name="two-factor-description">
            <a:extLst xmlns:a="http://schemas.openxmlformats.org/drawingml/2006/main">
              <a:ext uri="{FF2B5EF4-FFF2-40B4-BE49-F238E27FC236}">
                <a16:creationId xmlns:a16="http://schemas.microsoft.com/office/drawing/2014/main" id="{EF21FEFC-BA00-4368-AFCC-07D2F0F5307A}"/>
              </a:ext>
            </a:extLst>
          </p:cNvPr>
          <p:cNvSpPr>
            <a:spLocks xmlns:a="http://schemas.openxmlformats.org/drawingml/2006/main" noGrp="1"/>
          </p:cNvSpPr>
          <p:nvPr/>
        </p:nvSpPr>
        <p:spPr>
          <a:xfrm xmlns:a="http://schemas.openxmlformats.org/drawingml/2006/main">
            <a:off x="7191375" y="35242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1A30"/>
                </a:solidFill>
                <a:latin typeface="Arial"/>
                <a:ea typeface="Arial"/>
                <a:cs typeface="Arial"/>
              </a:defRPr>
            </a:defPPr>
            <a:lvl1pPr>
              <a:defRPr sz="1800">
                <a:solidFill>
                  <a:srgbClr val="171A30"/>
                </a:solidFill>
                <a:latin typeface="Arial"/>
                <a:ea typeface="Arial"/>
                <a:cs typeface="Arial"/>
              </a:defRPr>
            </a:lvl1pPr>
            <a:lvl2pPr>
              <a:defRPr sz="1800">
                <a:solidFill>
                  <a:srgbClr val="171A30"/>
                </a:solidFill>
                <a:latin typeface="Arial"/>
                <a:ea typeface="Arial"/>
                <a:cs typeface="Arial"/>
              </a:defRPr>
            </a:lvl2pPr>
            <a:lvl3pPr>
              <a:defRPr sz="1800">
                <a:solidFill>
                  <a:srgbClr val="171A30"/>
                </a:solidFill>
                <a:latin typeface="Arial"/>
                <a:ea typeface="Arial"/>
                <a:cs typeface="Arial"/>
              </a:defRPr>
            </a:lvl3pPr>
            <a:lvl4pPr>
              <a:defRPr sz="1800">
                <a:solidFill>
                  <a:srgbClr val="171A30"/>
                </a:solidFill>
                <a:latin typeface="Arial"/>
                <a:ea typeface="Arial"/>
                <a:cs typeface="Arial"/>
              </a:defRPr>
            </a:lvl4pPr>
            <a:lvl5pPr>
              <a:defRPr sz="1800">
                <a:solidFill>
                  <a:srgbClr val="171A30"/>
                </a:solidFill>
                <a:latin typeface="Arial"/>
                <a:ea typeface="Arial"/>
                <a:cs typeface="Arial"/>
              </a:defRPr>
            </a:lvl5pPr>
            <a:lvl6pPr>
              <a:defRPr sz="1800">
                <a:solidFill>
                  <a:srgbClr val="171A30"/>
                </a:solidFill>
                <a:latin typeface="Arial"/>
                <a:ea typeface="Arial"/>
                <a:cs typeface="Arial"/>
              </a:defRPr>
            </a:lvl6pPr>
            <a:lvl7pPr>
              <a:defRPr sz="1800">
                <a:solidFill>
                  <a:srgbClr val="171A30"/>
                </a:solidFill>
                <a:latin typeface="Arial"/>
                <a:ea typeface="Arial"/>
                <a:cs typeface="Arial"/>
              </a:defRPr>
            </a:lvl7pPr>
            <a:lvl8pPr>
              <a:defRPr sz="1800">
                <a:solidFill>
                  <a:srgbClr val="171A30"/>
                </a:solidFill>
                <a:latin typeface="Arial"/>
                <a:ea typeface="Arial"/>
                <a:cs typeface="Arial"/>
              </a:defRPr>
            </a:lvl8pPr>
            <a:lvl9pPr>
              <a:defRPr sz="1800">
                <a:solidFill>
                  <a:srgbClr val="171A30"/>
                </a:solidFill>
                <a:latin typeface="Arial"/>
                <a:ea typeface="Arial"/>
                <a:cs typeface="Arial"/>
              </a:defRPr>
            </a:lvl9pPr>
          </a:lstStyle>
          <a:p xmlns:a="http://schemas.openxmlformats.org/drawingml/2006/main">
            <a:pPr>
              <a:defRPr sz="1800">
                <a:solidFill>
                  <a:srgbClr val="171A30"/>
                </a:solidFill>
                <a:latin typeface="Arial"/>
                <a:ea typeface="Arial"/>
                <a:cs typeface="Arial"/>
              </a:defRPr>
            </a:pPr>
            <a:r>
              <a:rPr sz="1800">
                <a:solidFill>
                  <a:srgbClr val="171A30"/>
                </a:solidFill>
                <a:latin typeface="Arial"/>
                <a:ea typeface="Arial"/>
                <a:cs typeface="Arial"/>
              </a:rPr>
              <a:t>Solicita segundo fator</a:t>
            </a:r>
          </a:p>
        </p:txBody>
      </p:sp>
      <p:sp>
        <p:nvSpPr>
          <p:cNvPr id="11" name="status-rejected">
            <a:extLst xmlns:a="http://schemas.openxmlformats.org/drawingml/2006/main">
              <a:ext uri="{FF2B5EF4-FFF2-40B4-BE49-F238E27FC236}">
                <a16:creationId xmlns:a16="http://schemas.microsoft.com/office/drawing/2014/main" id="{32DB5B36-8EEE-4221-B929-3F7DA5C64BD9}"/>
              </a:ext>
            </a:extLst>
          </p:cNvPr>
          <p:cNvSpPr>
            <a:spLocks xmlns:a="http://schemas.openxmlformats.org/drawingml/2006/main" noGrp="1"/>
          </p:cNvSpPr>
          <p:nvPr/>
        </p:nvSpPr>
        <p:spPr>
          <a:xfrm xmlns:a="http://schemas.openxmlformats.org/drawingml/2006/main">
            <a:off x="7191375" y="43719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B53951"/>
                </a:solidFill>
                <a:latin typeface="Arial"/>
                <a:ea typeface="Arial"/>
                <a:cs typeface="Arial"/>
              </a:defRPr>
            </a:defPPr>
            <a:lvl1pPr>
              <a:defRPr sz="2550" b="1">
                <a:solidFill>
                  <a:srgbClr val="B53951"/>
                </a:solidFill>
                <a:latin typeface="Arial"/>
                <a:ea typeface="Arial"/>
                <a:cs typeface="Arial"/>
              </a:defRPr>
            </a:lvl1pPr>
            <a:lvl2pPr>
              <a:defRPr sz="2550" b="1">
                <a:solidFill>
                  <a:srgbClr val="B53951"/>
                </a:solidFill>
                <a:latin typeface="Arial"/>
                <a:ea typeface="Arial"/>
                <a:cs typeface="Arial"/>
              </a:defRPr>
            </a:lvl2pPr>
            <a:lvl3pPr>
              <a:defRPr sz="2550" b="1">
                <a:solidFill>
                  <a:srgbClr val="B53951"/>
                </a:solidFill>
                <a:latin typeface="Arial"/>
                <a:ea typeface="Arial"/>
                <a:cs typeface="Arial"/>
              </a:defRPr>
            </a:lvl3pPr>
            <a:lvl4pPr>
              <a:defRPr sz="2550" b="1">
                <a:solidFill>
                  <a:srgbClr val="B53951"/>
                </a:solidFill>
                <a:latin typeface="Arial"/>
                <a:ea typeface="Arial"/>
                <a:cs typeface="Arial"/>
              </a:defRPr>
            </a:lvl4pPr>
            <a:lvl5pPr>
              <a:defRPr sz="2550" b="1">
                <a:solidFill>
                  <a:srgbClr val="B53951"/>
                </a:solidFill>
                <a:latin typeface="Arial"/>
                <a:ea typeface="Arial"/>
                <a:cs typeface="Arial"/>
              </a:defRPr>
            </a:lvl5pPr>
            <a:lvl6pPr>
              <a:defRPr sz="2550" b="1">
                <a:solidFill>
                  <a:srgbClr val="B53951"/>
                </a:solidFill>
                <a:latin typeface="Arial"/>
                <a:ea typeface="Arial"/>
                <a:cs typeface="Arial"/>
              </a:defRPr>
            </a:lvl6pPr>
            <a:lvl7pPr>
              <a:defRPr sz="2550" b="1">
                <a:solidFill>
                  <a:srgbClr val="B53951"/>
                </a:solidFill>
                <a:latin typeface="Arial"/>
                <a:ea typeface="Arial"/>
                <a:cs typeface="Arial"/>
              </a:defRPr>
            </a:lvl7pPr>
            <a:lvl8pPr>
              <a:defRPr sz="2550" b="1">
                <a:solidFill>
                  <a:srgbClr val="B53951"/>
                </a:solidFill>
                <a:latin typeface="Arial"/>
                <a:ea typeface="Arial"/>
                <a:cs typeface="Arial"/>
              </a:defRPr>
            </a:lvl8pPr>
            <a:lvl9pPr>
              <a:defRPr sz="2550" b="1">
                <a:solidFill>
                  <a:srgbClr val="B53951"/>
                </a:solidFill>
                <a:latin typeface="Arial"/>
                <a:ea typeface="Arial"/>
                <a:cs typeface="Arial"/>
              </a:defRPr>
            </a:lvl9pPr>
          </a:lstStyle>
          <a:p xmlns:a="http://schemas.openxmlformats.org/drawingml/2006/main">
            <a:pPr>
              <a:defRPr sz="2550" b="1">
                <a:solidFill>
                  <a:srgbClr val="B53951"/>
                </a:solidFill>
                <a:latin typeface="Arial"/>
                <a:ea typeface="Arial"/>
                <a:cs typeface="Arial"/>
              </a:defRPr>
            </a:pPr>
            <a:r>
              <a:rPr sz="2550" b="1">
                <a:solidFill>
                  <a:srgbClr val="B53951"/>
                </a:solidFill>
                <a:latin typeface="Arial"/>
                <a:ea typeface="Arial"/>
                <a:cs typeface="Arial"/>
              </a:rPr>
              <a:t>rejected</a:t>
            </a:r>
          </a:p>
        </p:txBody>
      </p:sp>
      <p:sp>
        <p:nvSpPr>
          <p:cNvPr id="12" name="rejected-description">
            <a:extLst xmlns:a="http://schemas.openxmlformats.org/drawingml/2006/main">
              <a:ext uri="{FF2B5EF4-FFF2-40B4-BE49-F238E27FC236}">
                <a16:creationId xmlns:a16="http://schemas.microsoft.com/office/drawing/2014/main" id="{A4F42786-57F0-4E35-A91B-8675D046BE47}"/>
              </a:ext>
            </a:extLst>
          </p:cNvPr>
          <p:cNvSpPr>
            <a:spLocks xmlns:a="http://schemas.openxmlformats.org/drawingml/2006/main" noGrp="1"/>
          </p:cNvSpPr>
          <p:nvPr/>
        </p:nvSpPr>
        <p:spPr>
          <a:xfrm xmlns:a="http://schemas.openxmlformats.org/drawingml/2006/main">
            <a:off x="7191375" y="4838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1A30"/>
                </a:solidFill>
                <a:latin typeface="Arial"/>
                <a:ea typeface="Arial"/>
                <a:cs typeface="Arial"/>
              </a:defRPr>
            </a:defPPr>
            <a:lvl1pPr>
              <a:defRPr sz="1800">
                <a:solidFill>
                  <a:srgbClr val="171A30"/>
                </a:solidFill>
                <a:latin typeface="Arial"/>
                <a:ea typeface="Arial"/>
                <a:cs typeface="Arial"/>
              </a:defRPr>
            </a:lvl1pPr>
            <a:lvl2pPr>
              <a:defRPr sz="1800">
                <a:solidFill>
                  <a:srgbClr val="171A30"/>
                </a:solidFill>
                <a:latin typeface="Arial"/>
                <a:ea typeface="Arial"/>
                <a:cs typeface="Arial"/>
              </a:defRPr>
            </a:lvl2pPr>
            <a:lvl3pPr>
              <a:defRPr sz="1800">
                <a:solidFill>
                  <a:srgbClr val="171A30"/>
                </a:solidFill>
                <a:latin typeface="Arial"/>
                <a:ea typeface="Arial"/>
                <a:cs typeface="Arial"/>
              </a:defRPr>
            </a:lvl3pPr>
            <a:lvl4pPr>
              <a:defRPr sz="1800">
                <a:solidFill>
                  <a:srgbClr val="171A30"/>
                </a:solidFill>
                <a:latin typeface="Arial"/>
                <a:ea typeface="Arial"/>
                <a:cs typeface="Arial"/>
              </a:defRPr>
            </a:lvl4pPr>
            <a:lvl5pPr>
              <a:defRPr sz="1800">
                <a:solidFill>
                  <a:srgbClr val="171A30"/>
                </a:solidFill>
                <a:latin typeface="Arial"/>
                <a:ea typeface="Arial"/>
                <a:cs typeface="Arial"/>
              </a:defRPr>
            </a:lvl5pPr>
            <a:lvl6pPr>
              <a:defRPr sz="1800">
                <a:solidFill>
                  <a:srgbClr val="171A30"/>
                </a:solidFill>
                <a:latin typeface="Arial"/>
                <a:ea typeface="Arial"/>
                <a:cs typeface="Arial"/>
              </a:defRPr>
            </a:lvl6pPr>
            <a:lvl7pPr>
              <a:defRPr sz="1800">
                <a:solidFill>
                  <a:srgbClr val="171A30"/>
                </a:solidFill>
                <a:latin typeface="Arial"/>
                <a:ea typeface="Arial"/>
                <a:cs typeface="Arial"/>
              </a:defRPr>
            </a:lvl7pPr>
            <a:lvl8pPr>
              <a:defRPr sz="1800">
                <a:solidFill>
                  <a:srgbClr val="171A30"/>
                </a:solidFill>
                <a:latin typeface="Arial"/>
                <a:ea typeface="Arial"/>
                <a:cs typeface="Arial"/>
              </a:defRPr>
            </a:lvl8pPr>
            <a:lvl9pPr>
              <a:defRPr sz="1800">
                <a:solidFill>
                  <a:srgbClr val="171A30"/>
                </a:solidFill>
                <a:latin typeface="Arial"/>
                <a:ea typeface="Arial"/>
                <a:cs typeface="Arial"/>
              </a:defRPr>
            </a:lvl9pPr>
          </a:lstStyle>
          <a:p xmlns:a="http://schemas.openxmlformats.org/drawingml/2006/main">
            <a:pPr>
              <a:defRPr sz="1800">
                <a:solidFill>
                  <a:srgbClr val="171A30"/>
                </a:solidFill>
                <a:latin typeface="Arial"/>
                <a:ea typeface="Arial"/>
                <a:cs typeface="Arial"/>
              </a:defRPr>
            </a:pPr>
            <a:r>
              <a:rPr sz="1800">
                <a:solidFill>
                  <a:srgbClr val="171A30"/>
                </a:solidFill>
                <a:latin typeface="Arial"/>
                <a:ea typeface="Arial"/>
                <a:cs typeface="Arial"/>
              </a:rPr>
              <a:t>Impede a saída pela política</a:t>
            </a:r>
          </a:p>
        </p:txBody>
      </p:sp>
      <p:sp>
        <p:nvSpPr>
          <p:cNvPr id="13" name="explanation">
            <a:extLst xmlns:a="http://schemas.openxmlformats.org/drawingml/2006/main">
              <a:ext uri="{FF2B5EF4-FFF2-40B4-BE49-F238E27FC236}">
                <a16:creationId xmlns:a16="http://schemas.microsoft.com/office/drawing/2014/main" id="{AE22FC5F-4712-439E-950D-B92D2BE157C5}"/>
              </a:ext>
            </a:extLst>
          </p:cNvPr>
          <p:cNvSpPr>
            <a:spLocks xmlns:a="http://schemas.openxmlformats.org/drawingml/2006/main" noGrp="1"/>
          </p:cNvSpPr>
          <p:nvPr/>
        </p:nvSpPr>
        <p:spPr>
          <a:xfrm xmlns:a="http://schemas.openxmlformats.org/drawingml/2006/main">
            <a:off x="685800" y="57340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1A30"/>
                </a:solidFill>
                <a:latin typeface="Arial"/>
                <a:ea typeface="Arial"/>
                <a:cs typeface="Arial"/>
              </a:defRPr>
            </a:defPPr>
            <a:lvl1pPr>
              <a:defRPr sz="2025" b="1">
                <a:solidFill>
                  <a:srgbClr val="171A30"/>
                </a:solidFill>
                <a:latin typeface="Arial"/>
                <a:ea typeface="Arial"/>
                <a:cs typeface="Arial"/>
              </a:defRPr>
            </a:lvl1pPr>
            <a:lvl2pPr>
              <a:defRPr sz="2025" b="1">
                <a:solidFill>
                  <a:srgbClr val="171A30"/>
                </a:solidFill>
                <a:latin typeface="Arial"/>
                <a:ea typeface="Arial"/>
                <a:cs typeface="Arial"/>
              </a:defRPr>
            </a:lvl2pPr>
            <a:lvl3pPr>
              <a:defRPr sz="2025" b="1">
                <a:solidFill>
                  <a:srgbClr val="171A30"/>
                </a:solidFill>
                <a:latin typeface="Arial"/>
                <a:ea typeface="Arial"/>
                <a:cs typeface="Arial"/>
              </a:defRPr>
            </a:lvl3pPr>
            <a:lvl4pPr>
              <a:defRPr sz="2025" b="1">
                <a:solidFill>
                  <a:srgbClr val="171A30"/>
                </a:solidFill>
                <a:latin typeface="Arial"/>
                <a:ea typeface="Arial"/>
                <a:cs typeface="Arial"/>
              </a:defRPr>
            </a:lvl4pPr>
            <a:lvl5pPr>
              <a:defRPr sz="2025" b="1">
                <a:solidFill>
                  <a:srgbClr val="171A30"/>
                </a:solidFill>
                <a:latin typeface="Arial"/>
                <a:ea typeface="Arial"/>
                <a:cs typeface="Arial"/>
              </a:defRPr>
            </a:lvl5pPr>
            <a:lvl6pPr>
              <a:defRPr sz="2025" b="1">
                <a:solidFill>
                  <a:srgbClr val="171A30"/>
                </a:solidFill>
                <a:latin typeface="Arial"/>
                <a:ea typeface="Arial"/>
                <a:cs typeface="Arial"/>
              </a:defRPr>
            </a:lvl6pPr>
            <a:lvl7pPr>
              <a:defRPr sz="2025" b="1">
                <a:solidFill>
                  <a:srgbClr val="171A30"/>
                </a:solidFill>
                <a:latin typeface="Arial"/>
                <a:ea typeface="Arial"/>
                <a:cs typeface="Arial"/>
              </a:defRPr>
            </a:lvl7pPr>
            <a:lvl8pPr>
              <a:defRPr sz="2025" b="1">
                <a:solidFill>
                  <a:srgbClr val="171A30"/>
                </a:solidFill>
                <a:latin typeface="Arial"/>
                <a:ea typeface="Arial"/>
                <a:cs typeface="Arial"/>
              </a:defRPr>
            </a:lvl8pPr>
            <a:lvl9pPr>
              <a:defRPr sz="2025" b="1">
                <a:solidFill>
                  <a:srgbClr val="171A30"/>
                </a:solidFill>
                <a:latin typeface="Arial"/>
                <a:ea typeface="Arial"/>
                <a:cs typeface="Arial"/>
              </a:defRPr>
            </a:lvl9pPr>
          </a:lstStyle>
          <a:p xmlns:a="http://schemas.openxmlformats.org/drawingml/2006/main">
            <a:pPr>
              <a:defRPr sz="2025" b="1">
                <a:solidFill>
                  <a:srgbClr val="171A30"/>
                </a:solidFill>
                <a:latin typeface="Arial"/>
                <a:ea typeface="Arial"/>
                <a:cs typeface="Arial"/>
              </a:defRPr>
            </a:pPr>
            <a:r>
              <a:rPr sz="2025" b="1">
                <a:solidFill>
                  <a:srgbClr val="171A30"/>
                </a:solidFill>
                <a:latin typeface="Arial"/>
                <a:ea typeface="Arial"/>
                <a:cs typeface="Arial"/>
              </a:rPr>
              <a:t>Uma resposta com versão da política e motivo determinante</a:t>
            </a:r>
          </a:p>
        </p:txBody>
      </p:sp>
    </p:spTree>
    <p:extLst>
      <p:ext uri="{BB962C8B-B14F-4D97-AF65-F5344CB8AC3E}">
        <p14:creationId xmlns:p14="http://schemas.microsoft.com/office/powerpoint/2010/main" val="522560049"/>
      </p:ext>
    </p:extLst>
  </p:cSld>
</p:sld>
</file>

<file path=ppt/slides/slide3.xml><?xml version="1.0" encoding="utf-8"?>
<p:sld xmlns:p="http://schemas.openxmlformats.org/presentationml/2006/main">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4852945-3978-4E49-9EAF-0ECD09224FD5}"/>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Regras base e custo de fricção</a:t>
            </a:r>
          </a:p>
        </p:txBody>
      </p:sp>
      <p:sp>
        <p:nvSpPr>
          <p:cNvPr id="2" name="page-number">
            <a:extLst xmlns:a="http://schemas.openxmlformats.org/drawingml/2006/main">
              <a:ext uri="{FF2B5EF4-FFF2-40B4-BE49-F238E27FC236}">
                <a16:creationId xmlns:a16="http://schemas.microsoft.com/office/drawing/2014/main" id="{FDA7B877-2947-4C10-AD45-04D60DFBE4BA}"/>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03</a:t>
            </a:r>
          </a:p>
        </p:txBody>
      </p:sp>
      <p:graphicFrame>
        <p:nvGraphicFramePr>
          <p:cNvPr id="3" name="base-rules">
            <a:extLst xmlns:a="http://schemas.openxmlformats.org/drawingml/2006/main">
              <a:ext uri="{FF2B5EF4-FFF2-40B4-BE49-F238E27FC236}">
                <a16:creationId xmlns:a16="http://schemas.microsoft.com/office/drawing/2014/main" id="{C89933D5-5398-4F46-BEBE-AED06F50C485}"/>
              </a:ext>
            </a:extLst>
          </p:cNvPr>
          <p:cNvGraphicFramePr/>
          <p:nvPr/>
        </p:nvGraphicFramePr>
        <p:xfrm>
          <a:off xmlns:a="http://schemas.openxmlformats.org/drawingml/2006/main" x="685800" y="1676400"/>
          <a:ext xmlns:a="http://schemas.openxmlformats.org/drawingml/2006/main" cx="10820400" cy="3562350"/>
        </p:xfrm>
        <a:graphic xmlns:a="http://schemas.openxmlformats.org/drawingml/2006/main">
          <a:graphicData uri="http://schemas.openxmlformats.org/drawingml/2006/table">
            <a:tbl>
              <a:tblPr firstRow="0" bandRow="0"/>
              <a:tblGrid>
                <a:gridCol w="1809750"/>
                <a:gridCol w="4248150"/>
                <a:gridCol w="1524000"/>
                <a:gridCol w="3238500"/>
              </a:tblGrid>
              <a:tr h="552450">
                <a:tc>
                  <a:txBody>
                    <a:bodyPr wrap="square" lIns="133350" tIns="133350" rIns="133350" bIns="133350">
                      <a:noAutofit/>
                    </a:bodyPr>
                    <a:lstStyle/>
                    <a:p>
                      <a:r>
                        <a:rPr sz="1800" b="1">
                          <a:solidFill>
                            <a:srgbClr val="6745C4"/>
                          </a:solidFill>
                          <a:latin typeface="Arial"/>
                          <a:ea typeface="Arial"/>
                          <a:cs typeface="Arial"/>
                        </a:rPr>
                        <a:t>Sinal</a:t>
                      </a:r>
                    </a:p>
                  </a:txBody>
                  <a:tcPr marL="91440" marR="91440" marT="45720" marB="45720" anchor="ctr">
                    <a:lnL w="5715">
                      <a:solidFill>
                        <a:srgbClr val="CFCADC"/>
                      </a:solidFill>
                      <a:prstDash val="solid"/>
                    </a:lnL>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00" b="1">
                          <a:solidFill>
                            <a:srgbClr val="6745C4"/>
                          </a:solidFill>
                          <a:latin typeface="Arial"/>
                          <a:ea typeface="Arial"/>
                          <a:cs typeface="Arial"/>
                        </a:rPr>
                        <a:t>Condição</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00" b="1">
                          <a:solidFill>
                            <a:srgbClr val="6745C4"/>
                          </a:solidFill>
                          <a:latin typeface="Arial"/>
                          <a:ea typeface="Arial"/>
                          <a:cs typeface="Arial"/>
                        </a:rPr>
                        <a:t>Decisão</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00" b="1">
                          <a:solidFill>
                            <a:srgbClr val="6745C4"/>
                          </a:solidFill>
                          <a:latin typeface="Arial"/>
                          <a:ea typeface="Arial"/>
                          <a:cs typeface="Arial"/>
                        </a:rPr>
                        <a:t>Justificativa</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r>
              <a:tr h="819150">
                <a:tc>
                  <a:txBody>
                    <a:bodyPr wrap="square" lIns="133350" tIns="133350" rIns="133350" bIns="133350">
                      <a:noAutofit/>
                    </a:bodyPr>
                    <a:lstStyle/>
                    <a:p>
                      <a:r>
                        <a:rPr sz="1800" b="0">
                          <a:solidFill>
                            <a:srgbClr val="171A30"/>
                          </a:solidFill>
                          <a:latin typeface="Arial"/>
                          <a:ea typeface="Arial"/>
                          <a:cs typeface="Arial"/>
                        </a:rPr>
                        <a:t>Conta nova</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Menos de 7 dias</a:t>
                      </a:r>
                    </a:p>
                    <a:p>
                      <a:r>
                        <a:rPr sz="1800" b="0">
                          <a:solidFill>
                            <a:srgbClr val="171A30"/>
                          </a:solidFill>
                          <a:latin typeface="Arial"/>
                          <a:ea typeface="Arial"/>
                          <a:cs typeface="Arial"/>
                        </a:rPr>
                        <a:t>Acumulado &gt; R$ 1.000 em 24h</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Rejeição</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Conter a exposição inicial</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685800">
                <a:tc>
                  <a:txBody>
                    <a:bodyPr wrap="square" lIns="133350" tIns="133350" rIns="133350" bIns="133350">
                      <a:noAutofit/>
                    </a:bodyPr>
                    <a:lstStyle/>
                    <a:p>
                      <a:r>
                        <a:rPr sz="1800" b="0">
                          <a:solidFill>
                            <a:srgbClr val="171A30"/>
                          </a:solidFill>
                          <a:latin typeface="Arial"/>
                          <a:ea typeface="Arial"/>
                          <a:cs typeface="Arial"/>
                        </a:rPr>
                        <a:t>Teto geral</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Acumulado &gt; R$ 20.000 em 24h</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Rejeição</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Limitar exposição e fracionamento</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819150">
                <a:tc>
                  <a:txBody>
                    <a:bodyPr wrap="square" lIns="133350" tIns="133350" rIns="133350" bIns="133350">
                      <a:noAutofit/>
                    </a:bodyPr>
                    <a:lstStyle/>
                    <a:p>
                      <a:r>
                        <a:rPr sz="1800" b="0">
                          <a:solidFill>
                            <a:srgbClr val="171A30"/>
                          </a:solidFill>
                          <a:latin typeface="Arial"/>
                          <a:ea typeface="Arial"/>
                          <a:cs typeface="Arial"/>
                        </a:rPr>
                        <a:t>Aparelho</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Pix ≥ R$ 5.000</a:t>
                      </a:r>
                    </a:p>
                    <a:p>
                      <a:r>
                        <a:rPr sz="1800" b="0">
                          <a:solidFill>
                            <a:srgbClr val="171A30"/>
                          </a:solidFill>
                          <a:latin typeface="Arial"/>
                          <a:ea typeface="Arial"/>
                          <a:cs typeface="Arial"/>
                        </a:rPr>
                        <a:t>Aparelho sem familiaridade</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2FA</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Combinar valor e falta de histórico</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685800">
                <a:tc>
                  <a:txBody>
                    <a:bodyPr wrap="square" lIns="133350" tIns="133350" rIns="133350" bIns="133350">
                      <a:noAutofit/>
                    </a:bodyPr>
                    <a:lstStyle/>
                    <a:p>
                      <a:r>
                        <a:rPr sz="1800" b="0">
                          <a:solidFill>
                            <a:srgbClr val="171A30"/>
                          </a:solidFill>
                          <a:latin typeface="Arial"/>
                          <a:ea typeface="Arial"/>
                          <a:cs typeface="Arial"/>
                        </a:rPr>
                        <a:t>Frequência</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3ª tentativa distinta em 2 minutos</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2FA</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Confirmar uma rajada de pedidos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bl>
          </a:graphicData>
        </a:graphic>
      </p:graphicFrame>
      <p:sp>
        <p:nvSpPr>
          <p:cNvPr id="4" name="approved-window">
            <a:extLst xmlns:a="http://schemas.openxmlformats.org/drawingml/2006/main">
              <a:ext uri="{FF2B5EF4-FFF2-40B4-BE49-F238E27FC236}">
                <a16:creationId xmlns:a16="http://schemas.microsoft.com/office/drawing/2014/main" id="{0B411D4A-6299-4D39-ACCA-DA0ABD2A1B83}"/>
              </a:ext>
            </a:extLst>
          </p:cNvPr>
          <p:cNvSpPr>
            <a:spLocks xmlns:a="http://schemas.openxmlformats.org/drawingml/2006/main" noGrp="1"/>
          </p:cNvSpPr>
          <p:nvPr/>
        </p:nvSpPr>
        <p:spPr>
          <a:xfrm xmlns:a="http://schemas.openxmlformats.org/drawingml/2006/main">
            <a:off x="685800" y="54959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1A30"/>
                </a:solidFill>
                <a:latin typeface="Arial"/>
                <a:ea typeface="Arial"/>
                <a:cs typeface="Arial"/>
              </a:defRPr>
            </a:defPPr>
            <a:lvl1pPr>
              <a:defRPr sz="1875" b="1">
                <a:solidFill>
                  <a:srgbClr val="171A30"/>
                </a:solidFill>
                <a:latin typeface="Arial"/>
                <a:ea typeface="Arial"/>
                <a:cs typeface="Arial"/>
              </a:defRPr>
            </a:lvl1pPr>
            <a:lvl2pPr>
              <a:defRPr sz="1875" b="1">
                <a:solidFill>
                  <a:srgbClr val="171A30"/>
                </a:solidFill>
                <a:latin typeface="Arial"/>
                <a:ea typeface="Arial"/>
                <a:cs typeface="Arial"/>
              </a:defRPr>
            </a:lvl2pPr>
            <a:lvl3pPr>
              <a:defRPr sz="1875" b="1">
                <a:solidFill>
                  <a:srgbClr val="171A30"/>
                </a:solidFill>
                <a:latin typeface="Arial"/>
                <a:ea typeface="Arial"/>
                <a:cs typeface="Arial"/>
              </a:defRPr>
            </a:lvl3pPr>
            <a:lvl4pPr>
              <a:defRPr sz="1875" b="1">
                <a:solidFill>
                  <a:srgbClr val="171A30"/>
                </a:solidFill>
                <a:latin typeface="Arial"/>
                <a:ea typeface="Arial"/>
                <a:cs typeface="Arial"/>
              </a:defRPr>
            </a:lvl4pPr>
            <a:lvl5pPr>
              <a:defRPr sz="1875" b="1">
                <a:solidFill>
                  <a:srgbClr val="171A30"/>
                </a:solidFill>
                <a:latin typeface="Arial"/>
                <a:ea typeface="Arial"/>
                <a:cs typeface="Arial"/>
              </a:defRPr>
            </a:lvl5pPr>
            <a:lvl6pPr>
              <a:defRPr sz="1875" b="1">
                <a:solidFill>
                  <a:srgbClr val="171A30"/>
                </a:solidFill>
                <a:latin typeface="Arial"/>
                <a:ea typeface="Arial"/>
                <a:cs typeface="Arial"/>
              </a:defRPr>
            </a:lvl6pPr>
            <a:lvl7pPr>
              <a:defRPr sz="1875" b="1">
                <a:solidFill>
                  <a:srgbClr val="171A30"/>
                </a:solidFill>
                <a:latin typeface="Arial"/>
                <a:ea typeface="Arial"/>
                <a:cs typeface="Arial"/>
              </a:defRPr>
            </a:lvl7pPr>
            <a:lvl8pPr>
              <a:defRPr sz="1875" b="1">
                <a:solidFill>
                  <a:srgbClr val="171A30"/>
                </a:solidFill>
                <a:latin typeface="Arial"/>
                <a:ea typeface="Arial"/>
                <a:cs typeface="Arial"/>
              </a:defRPr>
            </a:lvl8pPr>
            <a:lvl9pPr>
              <a:defRPr sz="1875" b="1">
                <a:solidFill>
                  <a:srgbClr val="171A30"/>
                </a:solidFill>
                <a:latin typeface="Arial"/>
                <a:ea typeface="Arial"/>
                <a:cs typeface="Arial"/>
              </a:defRPr>
            </a:lvl9pPr>
          </a:lstStyle>
          <a:p xmlns:a="http://schemas.openxmlformats.org/drawingml/2006/main">
            <a:pPr>
              <a:defRPr sz="1875" b="1">
                <a:solidFill>
                  <a:srgbClr val="171A30"/>
                </a:solidFill>
                <a:latin typeface="Arial"/>
                <a:ea typeface="Arial"/>
                <a:cs typeface="Arial"/>
              </a:defRPr>
            </a:pPr>
            <a:r>
              <a:rPr sz="1875" b="1">
                <a:solidFill>
                  <a:srgbClr val="171A30"/>
                </a:solidFill>
                <a:latin typeface="Arial"/>
                <a:ea typeface="Arial"/>
                <a:cs typeface="Arial"/>
              </a:rPr>
              <a:t>Tetos: aprovações nas últimas 24h + Pix atual, por conta pagadora.</a:t>
            </a:r>
          </a:p>
        </p:txBody>
      </p:sp>
      <p:sp>
        <p:nvSpPr>
          <p:cNvPr id="5" name="device-wait">
            <a:extLst xmlns:a="http://schemas.openxmlformats.org/drawingml/2006/main">
              <a:ext uri="{FF2B5EF4-FFF2-40B4-BE49-F238E27FC236}">
                <a16:creationId xmlns:a16="http://schemas.microsoft.com/office/drawing/2014/main" id="{F3423091-7558-4795-B5BF-9DC5C4F85C96}"/>
              </a:ext>
            </a:extLst>
          </p:cNvPr>
          <p:cNvSpPr>
            <a:spLocks xmlns:a="http://schemas.openxmlformats.org/drawingml/2006/main" noGrp="1"/>
          </p:cNvSpPr>
          <p:nvPr/>
        </p:nvSpPr>
        <p:spPr>
          <a:xfrm xmlns:a="http://schemas.openxmlformats.org/drawingml/2006/main">
            <a:off x="685800" y="59912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565A70"/>
                </a:solidFill>
                <a:latin typeface="Arial"/>
                <a:ea typeface="Arial"/>
                <a:cs typeface="Arial"/>
              </a:defRPr>
            </a:defPPr>
            <a:lvl1pPr>
              <a:defRPr sz="1575">
                <a:solidFill>
                  <a:srgbClr val="565A70"/>
                </a:solidFill>
                <a:latin typeface="Arial"/>
                <a:ea typeface="Arial"/>
                <a:cs typeface="Arial"/>
              </a:defRPr>
            </a:lvl1pPr>
            <a:lvl2pPr>
              <a:defRPr sz="1575">
                <a:solidFill>
                  <a:srgbClr val="565A70"/>
                </a:solidFill>
                <a:latin typeface="Arial"/>
                <a:ea typeface="Arial"/>
                <a:cs typeface="Arial"/>
              </a:defRPr>
            </a:lvl2pPr>
            <a:lvl3pPr>
              <a:defRPr sz="1575">
                <a:solidFill>
                  <a:srgbClr val="565A70"/>
                </a:solidFill>
                <a:latin typeface="Arial"/>
                <a:ea typeface="Arial"/>
                <a:cs typeface="Arial"/>
              </a:defRPr>
            </a:lvl3pPr>
            <a:lvl4pPr>
              <a:defRPr sz="1575">
                <a:solidFill>
                  <a:srgbClr val="565A70"/>
                </a:solidFill>
                <a:latin typeface="Arial"/>
                <a:ea typeface="Arial"/>
                <a:cs typeface="Arial"/>
              </a:defRPr>
            </a:lvl4pPr>
            <a:lvl5pPr>
              <a:defRPr sz="1575">
                <a:solidFill>
                  <a:srgbClr val="565A70"/>
                </a:solidFill>
                <a:latin typeface="Arial"/>
                <a:ea typeface="Arial"/>
                <a:cs typeface="Arial"/>
              </a:defRPr>
            </a:lvl5pPr>
            <a:lvl6pPr>
              <a:defRPr sz="1575">
                <a:solidFill>
                  <a:srgbClr val="565A70"/>
                </a:solidFill>
                <a:latin typeface="Arial"/>
                <a:ea typeface="Arial"/>
                <a:cs typeface="Arial"/>
              </a:defRPr>
            </a:lvl6pPr>
            <a:lvl7pPr>
              <a:defRPr sz="1575">
                <a:solidFill>
                  <a:srgbClr val="565A70"/>
                </a:solidFill>
                <a:latin typeface="Arial"/>
                <a:ea typeface="Arial"/>
                <a:cs typeface="Arial"/>
              </a:defRPr>
            </a:lvl7pPr>
            <a:lvl8pPr>
              <a:defRPr sz="1575">
                <a:solidFill>
                  <a:srgbClr val="565A70"/>
                </a:solidFill>
                <a:latin typeface="Arial"/>
                <a:ea typeface="Arial"/>
                <a:cs typeface="Arial"/>
              </a:defRPr>
            </a:lvl8pPr>
            <a:lvl9pPr>
              <a:defRPr sz="1575">
                <a:solidFill>
                  <a:srgbClr val="565A70"/>
                </a:solidFill>
                <a:latin typeface="Arial"/>
                <a:ea typeface="Arial"/>
                <a:cs typeface="Arial"/>
              </a:defRPr>
            </a:lvl9pPr>
          </a:lstStyle>
          <a:p xmlns:a="http://schemas.openxmlformats.org/drawingml/2006/main">
            <a:pPr>
              <a:defRPr sz="1575">
                <a:solidFill>
                  <a:srgbClr val="565A70"/>
                </a:solidFill>
                <a:latin typeface="Arial"/>
                <a:ea typeface="Arial"/>
                <a:cs typeface="Arial"/>
              </a:defRPr>
            </a:pPr>
            <a:r>
              <a:rPr sz="1575">
                <a:solidFill>
                  <a:srgbClr val="565A70"/>
                </a:solidFill>
                <a:latin typeface="Arial"/>
                <a:ea typeface="Arial"/>
                <a:cs typeface="Arial"/>
              </a:rPr>
              <a:t>Aparelho familiar após 24h da primeira aprovação. Parâmetros ainda sem calibração real.</a:t>
            </a:r>
          </a:p>
        </p:txBody>
      </p:sp>
    </p:spTree>
    <p:extLst>
      <p:ext uri="{BB962C8B-B14F-4D97-AF65-F5344CB8AC3E}">
        <p14:creationId xmlns:p14="http://schemas.microsoft.com/office/powerpoint/2010/main" val="1234292582"/>
      </p:ext>
    </p:extLst>
  </p:cSld>
</p:sld>
</file>

<file path=ppt/slides/slide4.xml><?xml version="1.0" encoding="utf-8"?>
<p:sld xmlns:p="http://schemas.openxmlformats.org/presentationml/2006/main">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61A1255-3E11-42E9-8E04-B289B5B4EF7C}"/>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Desvio do padrão da conta</a:t>
            </a:r>
          </a:p>
        </p:txBody>
      </p:sp>
      <p:sp>
        <p:nvSpPr>
          <p:cNvPr id="2" name="page-number">
            <a:extLst xmlns:a="http://schemas.openxmlformats.org/drawingml/2006/main">
              <a:ext uri="{FF2B5EF4-FFF2-40B4-BE49-F238E27FC236}">
                <a16:creationId xmlns:a16="http://schemas.microsoft.com/office/drawing/2014/main" id="{2BFF6E7B-9310-4EB5-B022-1B9A86E10908}"/>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04</a:t>
            </a:r>
          </a:p>
        </p:txBody>
      </p:sp>
      <p:sp>
        <p:nvSpPr>
          <p:cNvPr id="3" name="formula-label">
            <a:extLst xmlns:a="http://schemas.openxmlformats.org/drawingml/2006/main">
              <a:ext uri="{FF2B5EF4-FFF2-40B4-BE49-F238E27FC236}">
                <a16:creationId xmlns:a16="http://schemas.microsoft.com/office/drawing/2014/main" id="{630E2DBD-DA3B-4BDC-9B52-D406355CF310}"/>
              </a:ext>
            </a:extLst>
          </p:cNvPr>
          <p:cNvSpPr>
            <a:spLocks xmlns:a="http://schemas.openxmlformats.org/drawingml/2006/main" noGrp="1"/>
          </p:cNvSpPr>
          <p:nvPr/>
        </p:nvSpPr>
        <p:spPr>
          <a:xfrm xmlns:a="http://schemas.openxmlformats.org/drawingml/2006/main">
            <a:off x="685800" y="16859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1A30"/>
                </a:solidFill>
                <a:latin typeface="Arial"/>
                <a:ea typeface="Arial"/>
                <a:cs typeface="Arial"/>
              </a:defRPr>
            </a:defPPr>
            <a:lvl1pPr>
              <a:defRPr sz="2325">
                <a:solidFill>
                  <a:srgbClr val="171A30"/>
                </a:solidFill>
                <a:latin typeface="Arial"/>
                <a:ea typeface="Arial"/>
                <a:cs typeface="Arial"/>
              </a:defRPr>
            </a:lvl1pPr>
            <a:lvl2pPr>
              <a:defRPr sz="2325">
                <a:solidFill>
                  <a:srgbClr val="171A30"/>
                </a:solidFill>
                <a:latin typeface="Arial"/>
                <a:ea typeface="Arial"/>
                <a:cs typeface="Arial"/>
              </a:defRPr>
            </a:lvl2pPr>
            <a:lvl3pPr>
              <a:defRPr sz="2325">
                <a:solidFill>
                  <a:srgbClr val="171A30"/>
                </a:solidFill>
                <a:latin typeface="Arial"/>
                <a:ea typeface="Arial"/>
                <a:cs typeface="Arial"/>
              </a:defRPr>
            </a:lvl3pPr>
            <a:lvl4pPr>
              <a:defRPr sz="2325">
                <a:solidFill>
                  <a:srgbClr val="171A30"/>
                </a:solidFill>
                <a:latin typeface="Arial"/>
                <a:ea typeface="Arial"/>
                <a:cs typeface="Arial"/>
              </a:defRPr>
            </a:lvl4pPr>
            <a:lvl5pPr>
              <a:defRPr sz="2325">
                <a:solidFill>
                  <a:srgbClr val="171A30"/>
                </a:solidFill>
                <a:latin typeface="Arial"/>
                <a:ea typeface="Arial"/>
                <a:cs typeface="Arial"/>
              </a:defRPr>
            </a:lvl5pPr>
            <a:lvl6pPr>
              <a:defRPr sz="2325">
                <a:solidFill>
                  <a:srgbClr val="171A30"/>
                </a:solidFill>
                <a:latin typeface="Arial"/>
                <a:ea typeface="Arial"/>
                <a:cs typeface="Arial"/>
              </a:defRPr>
            </a:lvl6pPr>
            <a:lvl7pPr>
              <a:defRPr sz="2325">
                <a:solidFill>
                  <a:srgbClr val="171A30"/>
                </a:solidFill>
                <a:latin typeface="Arial"/>
                <a:ea typeface="Arial"/>
                <a:cs typeface="Arial"/>
              </a:defRPr>
            </a:lvl7pPr>
            <a:lvl8pPr>
              <a:defRPr sz="2325">
                <a:solidFill>
                  <a:srgbClr val="171A30"/>
                </a:solidFill>
                <a:latin typeface="Arial"/>
                <a:ea typeface="Arial"/>
                <a:cs typeface="Arial"/>
              </a:defRPr>
            </a:lvl8pPr>
            <a:lvl9pPr>
              <a:defRPr sz="2325">
                <a:solidFill>
                  <a:srgbClr val="171A30"/>
                </a:solidFill>
                <a:latin typeface="Arial"/>
                <a:ea typeface="Arial"/>
                <a:cs typeface="Arial"/>
              </a:defRPr>
            </a:lvl9pPr>
          </a:lstStyle>
          <a:p xmlns:a="http://schemas.openxmlformats.org/drawingml/2006/main">
            <a:pPr>
              <a:defRPr sz="2325">
                <a:solidFill>
                  <a:srgbClr val="171A30"/>
                </a:solidFill>
                <a:latin typeface="Arial"/>
                <a:ea typeface="Arial"/>
                <a:cs typeface="Arial"/>
              </a:defRPr>
            </a:pPr>
            <a:r>
              <a:rPr sz="2325">
                <a:solidFill>
                  <a:srgbClr val="171A30"/>
                </a:solidFill>
                <a:latin typeface="Arial"/>
                <a:ea typeface="Arial"/>
                <a:cs typeface="Arial"/>
              </a:rPr>
              <a:t>2FA quando o valor supera</a:t>
            </a:r>
          </a:p>
        </p:txBody>
      </p:sp>
      <p:sp>
        <p:nvSpPr>
          <p:cNvPr id="4" name="formula">
            <a:extLst xmlns:a="http://schemas.openxmlformats.org/drawingml/2006/main">
              <a:ext uri="{FF2B5EF4-FFF2-40B4-BE49-F238E27FC236}">
                <a16:creationId xmlns:a16="http://schemas.microsoft.com/office/drawing/2014/main" id="{9B7ECFCE-364F-4A18-82E8-D1CD6ECEFD4A}"/>
              </a:ext>
            </a:extLst>
          </p:cNvPr>
          <p:cNvSpPr>
            <a:spLocks xmlns:a="http://schemas.openxmlformats.org/drawingml/2006/main" noGrp="1"/>
          </p:cNvSpPr>
          <p:nvPr/>
        </p:nvSpPr>
        <p:spPr>
          <a:xfrm xmlns:a="http://schemas.openxmlformats.org/drawingml/2006/main">
            <a:off x="685800" y="22574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6745C4"/>
                </a:solidFill>
                <a:latin typeface="Arial"/>
                <a:ea typeface="Arial"/>
                <a:cs typeface="Arial"/>
              </a:defRPr>
            </a:defPPr>
            <a:lvl1pPr>
              <a:defRPr sz="3450" b="1">
                <a:solidFill>
                  <a:srgbClr val="6745C4"/>
                </a:solidFill>
                <a:latin typeface="Arial"/>
                <a:ea typeface="Arial"/>
                <a:cs typeface="Arial"/>
              </a:defRPr>
            </a:lvl1pPr>
            <a:lvl2pPr>
              <a:defRPr sz="3450" b="1">
                <a:solidFill>
                  <a:srgbClr val="6745C4"/>
                </a:solidFill>
                <a:latin typeface="Arial"/>
                <a:ea typeface="Arial"/>
                <a:cs typeface="Arial"/>
              </a:defRPr>
            </a:lvl2pPr>
            <a:lvl3pPr>
              <a:defRPr sz="3450" b="1">
                <a:solidFill>
                  <a:srgbClr val="6745C4"/>
                </a:solidFill>
                <a:latin typeface="Arial"/>
                <a:ea typeface="Arial"/>
                <a:cs typeface="Arial"/>
              </a:defRPr>
            </a:lvl3pPr>
            <a:lvl4pPr>
              <a:defRPr sz="3450" b="1">
                <a:solidFill>
                  <a:srgbClr val="6745C4"/>
                </a:solidFill>
                <a:latin typeface="Arial"/>
                <a:ea typeface="Arial"/>
                <a:cs typeface="Arial"/>
              </a:defRPr>
            </a:lvl4pPr>
            <a:lvl5pPr>
              <a:defRPr sz="3450" b="1">
                <a:solidFill>
                  <a:srgbClr val="6745C4"/>
                </a:solidFill>
                <a:latin typeface="Arial"/>
                <a:ea typeface="Arial"/>
                <a:cs typeface="Arial"/>
              </a:defRPr>
            </a:lvl5pPr>
            <a:lvl6pPr>
              <a:defRPr sz="3450" b="1">
                <a:solidFill>
                  <a:srgbClr val="6745C4"/>
                </a:solidFill>
                <a:latin typeface="Arial"/>
                <a:ea typeface="Arial"/>
                <a:cs typeface="Arial"/>
              </a:defRPr>
            </a:lvl6pPr>
            <a:lvl7pPr>
              <a:defRPr sz="3450" b="1">
                <a:solidFill>
                  <a:srgbClr val="6745C4"/>
                </a:solidFill>
                <a:latin typeface="Arial"/>
                <a:ea typeface="Arial"/>
                <a:cs typeface="Arial"/>
              </a:defRPr>
            </a:lvl7pPr>
            <a:lvl8pPr>
              <a:defRPr sz="3450" b="1">
                <a:solidFill>
                  <a:srgbClr val="6745C4"/>
                </a:solidFill>
                <a:latin typeface="Arial"/>
                <a:ea typeface="Arial"/>
                <a:cs typeface="Arial"/>
              </a:defRPr>
            </a:lvl8pPr>
            <a:lvl9pPr>
              <a:defRPr sz="3450" b="1">
                <a:solidFill>
                  <a:srgbClr val="6745C4"/>
                </a:solidFill>
                <a:latin typeface="Arial"/>
                <a:ea typeface="Arial"/>
                <a:cs typeface="Arial"/>
              </a:defRPr>
            </a:lvl9pPr>
          </a:lstStyle>
          <a:p xmlns:a="http://schemas.openxmlformats.org/drawingml/2006/main">
            <a:pPr>
              <a:defRPr sz="3450" b="1">
                <a:solidFill>
                  <a:srgbClr val="6745C4"/>
                </a:solidFill>
                <a:latin typeface="Arial"/>
                <a:ea typeface="Arial"/>
                <a:cs typeface="Arial"/>
              </a:defRPr>
            </a:pPr>
            <a:r>
              <a:rPr sz="3450" b="1">
                <a:solidFill>
                  <a:srgbClr val="6745C4"/>
                </a:solidFill>
                <a:latin typeface="Arial"/>
                <a:ea typeface="Arial"/>
                <a:cs typeface="Arial"/>
              </a:rPr>
              <a:t>10 × maior(média aprovada, R$ 500)</a:t>
            </a:r>
          </a:p>
        </p:txBody>
      </p:sp>
      <p:graphicFrame>
        <p:nvGraphicFramePr>
          <p:cNvPr id="5" name="average-examples">
            <a:extLst xmlns:a="http://schemas.openxmlformats.org/drawingml/2006/main">
              <a:ext uri="{FF2B5EF4-FFF2-40B4-BE49-F238E27FC236}">
                <a16:creationId xmlns:a16="http://schemas.microsoft.com/office/drawing/2014/main" id="{A6909037-F758-45AB-92B5-013A7DD18721}"/>
              </a:ext>
            </a:extLst>
          </p:cNvPr>
          <p:cNvGraphicFramePr/>
          <p:nvPr/>
        </p:nvGraphicFramePr>
        <p:xfrm>
          <a:off xmlns:a="http://schemas.openxmlformats.org/drawingml/2006/main" x="685800" y="3267075"/>
          <a:ext xmlns:a="http://schemas.openxmlformats.org/drawingml/2006/main" cx="10820400" cy="1819275"/>
        </p:xfrm>
        <a:graphic xmlns:a="http://schemas.openxmlformats.org/drawingml/2006/main">
          <a:graphicData uri="http://schemas.openxmlformats.org/drawingml/2006/table">
            <a:tbl>
              <a:tblPr firstRow="0" bandRow="0"/>
              <a:tblGrid>
                <a:gridCol w="3619500"/>
                <a:gridCol w="3619500"/>
                <a:gridCol w="3581400"/>
              </a:tblGrid>
              <a:tr h="581025">
                <a:tc>
                  <a:txBody>
                    <a:bodyPr wrap="square" lIns="133350" tIns="133350" rIns="133350" bIns="133350">
                      <a:noAutofit/>
                    </a:bodyPr>
                    <a:lstStyle/>
                    <a:p>
                      <a:r>
                        <a:rPr sz="2100" b="1">
                          <a:solidFill>
                            <a:srgbClr val="6745C4"/>
                          </a:solidFill>
                          <a:latin typeface="Arial"/>
                          <a:ea typeface="Arial"/>
                          <a:cs typeface="Arial"/>
                        </a:rPr>
                        <a:t>Média histórica</a:t>
                      </a:r>
                    </a:p>
                  </a:txBody>
                  <a:tcPr marL="91440" marR="91440" marT="45720" marB="45720" anchor="ctr">
                    <a:lnL w="5715">
                      <a:solidFill>
                        <a:srgbClr val="CFCADC"/>
                      </a:solidFill>
                      <a:prstDash val="solid"/>
                    </a:lnL>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2100" b="1">
                          <a:solidFill>
                            <a:srgbClr val="6745C4"/>
                          </a:solidFill>
                          <a:latin typeface="Arial"/>
                          <a:ea typeface="Arial"/>
                          <a:cs typeface="Arial"/>
                        </a:rPr>
                        <a:t>Referência</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2100" b="1">
                          <a:solidFill>
                            <a:srgbClr val="6745C4"/>
                          </a:solidFill>
                          <a:latin typeface="Arial"/>
                          <a:ea typeface="Arial"/>
                          <a:cs typeface="Arial"/>
                        </a:rPr>
                        <a:t>2FA acima de</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r>
              <a:tr h="619125">
                <a:tc>
                  <a:txBody>
                    <a:bodyPr wrap="square" lIns="133350" tIns="133350" rIns="133350" bIns="133350">
                      <a:noAutofit/>
                    </a:bodyPr>
                    <a:lstStyle/>
                    <a:p>
                      <a:r>
                        <a:rPr sz="2100" b="0">
                          <a:solidFill>
                            <a:srgbClr val="171A30"/>
                          </a:solidFill>
                          <a:latin typeface="Arial"/>
                          <a:ea typeface="Arial"/>
                          <a:cs typeface="Arial"/>
                        </a:rPr>
                        <a:t>R$ 600</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2100" b="0">
                          <a:solidFill>
                            <a:srgbClr val="171A30"/>
                          </a:solidFill>
                          <a:latin typeface="Arial"/>
                          <a:ea typeface="Arial"/>
                          <a:cs typeface="Arial"/>
                        </a:rPr>
                        <a:t>R$ 600</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2100" b="0">
                          <a:solidFill>
                            <a:srgbClr val="171A30"/>
                          </a:solidFill>
                          <a:latin typeface="Arial"/>
                          <a:ea typeface="Arial"/>
                          <a:cs typeface="Arial"/>
                        </a:rPr>
                        <a:t>R$ 6.000</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619125">
                <a:tc>
                  <a:txBody>
                    <a:bodyPr wrap="square" lIns="133350" tIns="133350" rIns="133350" bIns="133350">
                      <a:noAutofit/>
                    </a:bodyPr>
                    <a:lstStyle/>
                    <a:p>
                      <a:r>
                        <a:rPr sz="2100" b="0">
                          <a:solidFill>
                            <a:srgbClr val="171A30"/>
                          </a:solidFill>
                          <a:latin typeface="Arial"/>
                          <a:ea typeface="Arial"/>
                          <a:cs typeface="Arial"/>
                        </a:rPr>
                        <a:t>R$ 300,50</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2100" b="0">
                          <a:solidFill>
                            <a:srgbClr val="171A30"/>
                          </a:solidFill>
                          <a:latin typeface="Arial"/>
                          <a:ea typeface="Arial"/>
                          <a:cs typeface="Arial"/>
                        </a:rPr>
                        <a:t>R$ 500</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2100" b="0">
                          <a:solidFill>
                            <a:srgbClr val="171A30"/>
                          </a:solidFill>
                          <a:latin typeface="Arial"/>
                          <a:ea typeface="Arial"/>
                          <a:cs typeface="Arial"/>
                        </a:rPr>
                        <a:t>R$ 5.000</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bl>
          </a:graphicData>
        </a:graphic>
      </p:graphicFrame>
      <p:sp>
        <p:nvSpPr>
          <p:cNvPr id="6" name="history-definition">
            <a:extLst xmlns:a="http://schemas.openxmlformats.org/drawingml/2006/main">
              <a:ext uri="{FF2B5EF4-FFF2-40B4-BE49-F238E27FC236}">
                <a16:creationId xmlns:a16="http://schemas.microsoft.com/office/drawing/2014/main" id="{45A5E1E4-FDCE-4024-9932-2CF10947CA16}"/>
              </a:ext>
            </a:extLst>
          </p:cNvPr>
          <p:cNvSpPr>
            <a:spLocks xmlns:a="http://schemas.openxmlformats.org/drawingml/2006/main" noGrp="1"/>
          </p:cNvSpPr>
          <p:nvPr/>
        </p:nvSpPr>
        <p:spPr>
          <a:xfrm xmlns:a="http://schemas.openxmlformats.org/drawingml/2006/main">
            <a:off x="685800" y="53816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1A30"/>
                </a:solidFill>
                <a:latin typeface="Arial"/>
                <a:ea typeface="Arial"/>
                <a:cs typeface="Arial"/>
              </a:defRPr>
            </a:defPPr>
            <a:lvl1pPr>
              <a:defRPr sz="1950">
                <a:solidFill>
                  <a:srgbClr val="171A30"/>
                </a:solidFill>
                <a:latin typeface="Arial"/>
                <a:ea typeface="Arial"/>
                <a:cs typeface="Arial"/>
              </a:defRPr>
            </a:lvl1pPr>
            <a:lvl2pPr>
              <a:defRPr sz="1950">
                <a:solidFill>
                  <a:srgbClr val="171A30"/>
                </a:solidFill>
                <a:latin typeface="Arial"/>
                <a:ea typeface="Arial"/>
                <a:cs typeface="Arial"/>
              </a:defRPr>
            </a:lvl2pPr>
            <a:lvl3pPr>
              <a:defRPr sz="1950">
                <a:solidFill>
                  <a:srgbClr val="171A30"/>
                </a:solidFill>
                <a:latin typeface="Arial"/>
                <a:ea typeface="Arial"/>
                <a:cs typeface="Arial"/>
              </a:defRPr>
            </a:lvl3pPr>
            <a:lvl4pPr>
              <a:defRPr sz="1950">
                <a:solidFill>
                  <a:srgbClr val="171A30"/>
                </a:solidFill>
                <a:latin typeface="Arial"/>
                <a:ea typeface="Arial"/>
                <a:cs typeface="Arial"/>
              </a:defRPr>
            </a:lvl4pPr>
            <a:lvl5pPr>
              <a:defRPr sz="1950">
                <a:solidFill>
                  <a:srgbClr val="171A30"/>
                </a:solidFill>
                <a:latin typeface="Arial"/>
                <a:ea typeface="Arial"/>
                <a:cs typeface="Arial"/>
              </a:defRPr>
            </a:lvl5pPr>
            <a:lvl6pPr>
              <a:defRPr sz="1950">
                <a:solidFill>
                  <a:srgbClr val="171A30"/>
                </a:solidFill>
                <a:latin typeface="Arial"/>
                <a:ea typeface="Arial"/>
                <a:cs typeface="Arial"/>
              </a:defRPr>
            </a:lvl6pPr>
            <a:lvl7pPr>
              <a:defRPr sz="1950">
                <a:solidFill>
                  <a:srgbClr val="171A30"/>
                </a:solidFill>
                <a:latin typeface="Arial"/>
                <a:ea typeface="Arial"/>
                <a:cs typeface="Arial"/>
              </a:defRPr>
            </a:lvl7pPr>
            <a:lvl8pPr>
              <a:defRPr sz="1950">
                <a:solidFill>
                  <a:srgbClr val="171A30"/>
                </a:solidFill>
                <a:latin typeface="Arial"/>
                <a:ea typeface="Arial"/>
                <a:cs typeface="Arial"/>
              </a:defRPr>
            </a:lvl8pPr>
            <a:lvl9pPr>
              <a:defRPr sz="1950">
                <a:solidFill>
                  <a:srgbClr val="171A30"/>
                </a:solidFill>
                <a:latin typeface="Arial"/>
                <a:ea typeface="Arial"/>
                <a:cs typeface="Arial"/>
              </a:defRPr>
            </a:lvl9pPr>
          </a:lstStyle>
          <a:p xmlns:a="http://schemas.openxmlformats.org/drawingml/2006/main">
            <a:pPr>
              <a:defRPr sz="1950">
                <a:solidFill>
                  <a:srgbClr val="171A30"/>
                </a:solidFill>
                <a:latin typeface="Arial"/>
                <a:ea typeface="Arial"/>
                <a:cs typeface="Arial"/>
              </a:defRPr>
            </a:pPr>
            <a:r>
              <a:rPr sz="1950">
                <a:solidFill>
                  <a:srgbClr val="171A30"/>
                </a:solidFill>
                <a:latin typeface="Arial"/>
                <a:ea typeface="Arial"/>
                <a:cs typeface="Arial"/>
              </a:rPr>
              <a:t>Média dos Pix enviados e aprovados observados. Exige aprovação anterior.</a:t>
            </a:r>
          </a:p>
        </p:txBody>
      </p:sp>
      <p:sp>
        <p:nvSpPr>
          <p:cNvPr id="7" name="threshold-not-cap">
            <a:extLst xmlns:a="http://schemas.openxmlformats.org/drawingml/2006/main">
              <a:ext uri="{FF2B5EF4-FFF2-40B4-BE49-F238E27FC236}">
                <a16:creationId xmlns:a16="http://schemas.microsoft.com/office/drawing/2014/main" id="{C3F36D3D-1DB5-4F86-AA0A-872994B175C8}"/>
              </a:ext>
            </a:extLst>
          </p:cNvPr>
          <p:cNvSpPr>
            <a:spLocks xmlns:a="http://schemas.openxmlformats.org/drawingml/2006/main" noGrp="1"/>
          </p:cNvSpPr>
          <p:nvPr/>
        </p:nvSpPr>
        <p:spPr>
          <a:xfrm xmlns:a="http://schemas.openxmlformats.org/drawingml/2006/main">
            <a:off x="685800" y="60388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565A70"/>
                </a:solidFill>
                <a:latin typeface="Arial"/>
                <a:ea typeface="Arial"/>
                <a:cs typeface="Arial"/>
              </a:defRPr>
            </a:defPPr>
            <a:lvl1pPr>
              <a:defRPr sz="1575">
                <a:solidFill>
                  <a:srgbClr val="565A70"/>
                </a:solidFill>
                <a:latin typeface="Arial"/>
                <a:ea typeface="Arial"/>
                <a:cs typeface="Arial"/>
              </a:defRPr>
            </a:lvl1pPr>
            <a:lvl2pPr>
              <a:defRPr sz="1575">
                <a:solidFill>
                  <a:srgbClr val="565A70"/>
                </a:solidFill>
                <a:latin typeface="Arial"/>
                <a:ea typeface="Arial"/>
                <a:cs typeface="Arial"/>
              </a:defRPr>
            </a:lvl2pPr>
            <a:lvl3pPr>
              <a:defRPr sz="1575">
                <a:solidFill>
                  <a:srgbClr val="565A70"/>
                </a:solidFill>
                <a:latin typeface="Arial"/>
                <a:ea typeface="Arial"/>
                <a:cs typeface="Arial"/>
              </a:defRPr>
            </a:lvl3pPr>
            <a:lvl4pPr>
              <a:defRPr sz="1575">
                <a:solidFill>
                  <a:srgbClr val="565A70"/>
                </a:solidFill>
                <a:latin typeface="Arial"/>
                <a:ea typeface="Arial"/>
                <a:cs typeface="Arial"/>
              </a:defRPr>
            </a:lvl4pPr>
            <a:lvl5pPr>
              <a:defRPr sz="1575">
                <a:solidFill>
                  <a:srgbClr val="565A70"/>
                </a:solidFill>
                <a:latin typeface="Arial"/>
                <a:ea typeface="Arial"/>
                <a:cs typeface="Arial"/>
              </a:defRPr>
            </a:lvl5pPr>
            <a:lvl6pPr>
              <a:defRPr sz="1575">
                <a:solidFill>
                  <a:srgbClr val="565A70"/>
                </a:solidFill>
                <a:latin typeface="Arial"/>
                <a:ea typeface="Arial"/>
                <a:cs typeface="Arial"/>
              </a:defRPr>
            </a:lvl6pPr>
            <a:lvl7pPr>
              <a:defRPr sz="1575">
                <a:solidFill>
                  <a:srgbClr val="565A70"/>
                </a:solidFill>
                <a:latin typeface="Arial"/>
                <a:ea typeface="Arial"/>
                <a:cs typeface="Arial"/>
              </a:defRPr>
            </a:lvl7pPr>
            <a:lvl8pPr>
              <a:defRPr sz="1575">
                <a:solidFill>
                  <a:srgbClr val="565A70"/>
                </a:solidFill>
                <a:latin typeface="Arial"/>
                <a:ea typeface="Arial"/>
                <a:cs typeface="Arial"/>
              </a:defRPr>
            </a:lvl8pPr>
            <a:lvl9pPr>
              <a:defRPr sz="1575">
                <a:solidFill>
                  <a:srgbClr val="565A70"/>
                </a:solidFill>
                <a:latin typeface="Arial"/>
                <a:ea typeface="Arial"/>
                <a:cs typeface="Arial"/>
              </a:defRPr>
            </a:lvl9pPr>
          </a:lstStyle>
          <a:p xmlns:a="http://schemas.openxmlformats.org/drawingml/2006/main">
            <a:pPr>
              <a:defRPr sz="1575">
                <a:solidFill>
                  <a:srgbClr val="565A70"/>
                </a:solidFill>
                <a:latin typeface="Arial"/>
                <a:ea typeface="Arial"/>
                <a:cs typeface="Arial"/>
              </a:defRPr>
            </a:pPr>
            <a:r>
              <a:rPr sz="1575">
                <a:solidFill>
                  <a:srgbClr val="565A70"/>
                </a:solidFill>
                <a:latin typeface="Arial"/>
                <a:ea typeface="Arial"/>
                <a:cs typeface="Arial"/>
              </a:rPr>
              <a:t>Limiar de confirmação. O teto de rejeição segue em R$ 20.000 acumulados em 24h.</a:t>
            </a:r>
          </a:p>
        </p:txBody>
      </p:sp>
    </p:spTree>
    <p:extLst>
      <p:ext uri="{BB962C8B-B14F-4D97-AF65-F5344CB8AC3E}">
        <p14:creationId xmlns:p14="http://schemas.microsoft.com/office/powerpoint/2010/main" val="322187402"/>
      </p:ext>
    </p:extLst>
  </p:cSld>
</p:sld>
</file>

<file path=ppt/slides/slide5.xml><?xml version="1.0" encoding="utf-8"?>
<p:sld xmlns:p="http://schemas.openxmlformats.org/presentationml/2006/main">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7547B6A-EA46-4052-94C0-7B54037F729E}"/>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Possíveis laranjas: conta e pagamento</a:t>
            </a:r>
          </a:p>
        </p:txBody>
      </p:sp>
      <p:sp>
        <p:nvSpPr>
          <p:cNvPr id="2" name="page-number">
            <a:extLst xmlns:a="http://schemas.openxmlformats.org/drawingml/2006/main">
              <a:ext uri="{FF2B5EF4-FFF2-40B4-BE49-F238E27FC236}">
                <a16:creationId xmlns:a16="http://schemas.microsoft.com/office/drawing/2014/main" id="{1D2B969D-CF48-4E8B-AA29-944F80DF0A03}"/>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05</a:t>
            </a:r>
          </a:p>
        </p:txBody>
      </p:sp>
      <p:sp>
        <p:nvSpPr>
          <p:cNvPr id="3" name="sources">
            <a:extLst xmlns:a="http://schemas.openxmlformats.org/drawingml/2006/main">
              <a:ext uri="{FF2B5EF4-FFF2-40B4-BE49-F238E27FC236}">
                <a16:creationId xmlns:a16="http://schemas.microsoft.com/office/drawing/2014/main" id="{77138B40-8012-4079-9790-B984F574DDBE}"/>
              </a:ext>
            </a:extLst>
          </p:cNvPr>
          <p:cNvSpPr>
            <a:spLocks xmlns:a="http://schemas.openxmlformats.org/drawingml/2006/main" noGrp="1"/>
          </p:cNvSpPr>
          <p:nvPr/>
        </p:nvSpPr>
        <p:spPr>
          <a:xfrm xmlns:a="http://schemas.openxmlformats.org/drawingml/2006/main">
            <a:off x="685800" y="16097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45C4"/>
                </a:solidFill>
                <a:latin typeface="Arial"/>
                <a:ea typeface="Arial"/>
                <a:cs typeface="Arial"/>
              </a:defRPr>
            </a:defPPr>
            <a:lvl1pPr>
              <a:defRPr sz="2175" b="1">
                <a:solidFill>
                  <a:srgbClr val="6745C4"/>
                </a:solidFill>
                <a:latin typeface="Arial"/>
                <a:ea typeface="Arial"/>
                <a:cs typeface="Arial"/>
              </a:defRPr>
            </a:lvl1pPr>
            <a:lvl2pPr>
              <a:defRPr sz="2175" b="1">
                <a:solidFill>
                  <a:srgbClr val="6745C4"/>
                </a:solidFill>
                <a:latin typeface="Arial"/>
                <a:ea typeface="Arial"/>
                <a:cs typeface="Arial"/>
              </a:defRPr>
            </a:lvl2pPr>
            <a:lvl3pPr>
              <a:defRPr sz="2175" b="1">
                <a:solidFill>
                  <a:srgbClr val="6745C4"/>
                </a:solidFill>
                <a:latin typeface="Arial"/>
                <a:ea typeface="Arial"/>
                <a:cs typeface="Arial"/>
              </a:defRPr>
            </a:lvl3pPr>
            <a:lvl4pPr>
              <a:defRPr sz="2175" b="1">
                <a:solidFill>
                  <a:srgbClr val="6745C4"/>
                </a:solidFill>
                <a:latin typeface="Arial"/>
                <a:ea typeface="Arial"/>
                <a:cs typeface="Arial"/>
              </a:defRPr>
            </a:lvl4pPr>
            <a:lvl5pPr>
              <a:defRPr sz="2175" b="1">
                <a:solidFill>
                  <a:srgbClr val="6745C4"/>
                </a:solidFill>
                <a:latin typeface="Arial"/>
                <a:ea typeface="Arial"/>
                <a:cs typeface="Arial"/>
              </a:defRPr>
            </a:lvl5pPr>
            <a:lvl6pPr>
              <a:defRPr sz="2175" b="1">
                <a:solidFill>
                  <a:srgbClr val="6745C4"/>
                </a:solidFill>
                <a:latin typeface="Arial"/>
                <a:ea typeface="Arial"/>
                <a:cs typeface="Arial"/>
              </a:defRPr>
            </a:lvl6pPr>
            <a:lvl7pPr>
              <a:defRPr sz="2175" b="1">
                <a:solidFill>
                  <a:srgbClr val="6745C4"/>
                </a:solidFill>
                <a:latin typeface="Arial"/>
                <a:ea typeface="Arial"/>
                <a:cs typeface="Arial"/>
              </a:defRPr>
            </a:lvl7pPr>
            <a:lvl8pPr>
              <a:defRPr sz="2175" b="1">
                <a:solidFill>
                  <a:srgbClr val="6745C4"/>
                </a:solidFill>
                <a:latin typeface="Arial"/>
                <a:ea typeface="Arial"/>
                <a:cs typeface="Arial"/>
              </a:defRPr>
            </a:lvl8pPr>
            <a:lvl9pPr>
              <a:defRPr sz="2175" b="1">
                <a:solidFill>
                  <a:srgbClr val="6745C4"/>
                </a:solidFill>
                <a:latin typeface="Arial"/>
                <a:ea typeface="Arial"/>
                <a:cs typeface="Arial"/>
              </a:defRPr>
            </a:lvl9pPr>
          </a:lstStyle>
          <a:p xmlns:a="http://schemas.openxmlformats.org/drawingml/2006/main">
            <a:pPr>
              <a:defRPr sz="2175" b="1">
                <a:solidFill>
                  <a:srgbClr val="6745C4"/>
                </a:solidFill>
                <a:latin typeface="Arial"/>
                <a:ea typeface="Arial"/>
                <a:cs typeface="Arial"/>
              </a:defRPr>
            </a:pPr>
            <a:r>
              <a:rPr sz="2175" b="1">
                <a:solidFill>
                  <a:srgbClr val="6745C4"/>
                </a:solidFill>
                <a:latin typeface="Arial"/>
                <a:ea typeface="Arial"/>
                <a:cs typeface="Arial"/>
              </a:rPr>
              <a:t>Sinais externos simulados + vínculos e fluxos do histórico local</a:t>
            </a:r>
          </a:p>
        </p:txBody>
      </p:sp>
      <p:graphicFrame>
        <p:nvGraphicFramePr>
          <p:cNvPr id="4" name="risk-states">
            <a:extLst xmlns:a="http://schemas.openxmlformats.org/drawingml/2006/main">
              <a:ext uri="{FF2B5EF4-FFF2-40B4-BE49-F238E27FC236}">
                <a16:creationId xmlns:a16="http://schemas.microsoft.com/office/drawing/2014/main" id="{2ED574E4-BAAF-46D0-B952-F1E8E481F5CC}"/>
              </a:ext>
            </a:extLst>
          </p:cNvPr>
          <p:cNvGraphicFramePr/>
          <p:nvPr/>
        </p:nvGraphicFramePr>
        <p:xfrm>
          <a:off xmlns:a="http://schemas.openxmlformats.org/drawingml/2006/main" x="685800" y="2286000"/>
          <a:ext xmlns:a="http://schemas.openxmlformats.org/drawingml/2006/main" cx="10820400" cy="2057400"/>
        </p:xfrm>
        <a:graphic xmlns:a="http://schemas.openxmlformats.org/drawingml/2006/main">
          <a:graphicData uri="http://schemas.openxmlformats.org/drawingml/2006/table">
            <a:tbl>
              <a:tblPr firstRow="0" bandRow="0"/>
              <a:tblGrid>
                <a:gridCol w="2476500"/>
                <a:gridCol w="4381500"/>
                <a:gridCol w="3962400"/>
              </a:tblGrid>
              <a:tr h="533400">
                <a:tc>
                  <a:txBody>
                    <a:bodyPr wrap="square" lIns="133350" tIns="133350" rIns="133350" bIns="133350">
                      <a:noAutofit/>
                    </a:bodyPr>
                    <a:lstStyle/>
                    <a:p>
                      <a:r>
                        <a:rPr sz="1875" b="1">
                          <a:solidFill>
                            <a:srgbClr val="6745C4"/>
                          </a:solidFill>
                          <a:latin typeface="Arial"/>
                          <a:ea typeface="Arial"/>
                          <a:cs typeface="Arial"/>
                        </a:rPr>
                        <a:t>Classificação</a:t>
                      </a:r>
                    </a:p>
                  </a:txBody>
                  <a:tcPr marL="91440" marR="91440" marT="45720" marB="45720" anchor="ctr">
                    <a:lnL w="5715">
                      <a:solidFill>
                        <a:srgbClr val="CFCADC"/>
                      </a:solidFill>
                      <a:prstDash val="solid"/>
                    </a:lnL>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75" b="1">
                          <a:solidFill>
                            <a:srgbClr val="6745C4"/>
                          </a:solidFill>
                          <a:latin typeface="Arial"/>
                          <a:ea typeface="Arial"/>
                          <a:cs typeface="Arial"/>
                        </a:rPr>
                        <a:t>Base da classificação</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75" b="1">
                          <a:solidFill>
                            <a:srgbClr val="6745C4"/>
                          </a:solidFill>
                          <a:latin typeface="Arial"/>
                          <a:ea typeface="Arial"/>
                          <a:cs typeface="Arial"/>
                        </a:rPr>
                        <a:t>Efeito na decisão</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r>
              <a:tr h="762000">
                <a:tc>
                  <a:txBody>
                    <a:bodyPr wrap="square" lIns="133350" tIns="133350" rIns="133350" bIns="133350">
                      <a:noAutofit/>
                    </a:bodyPr>
                    <a:lstStyle/>
                    <a:p>
                      <a:r>
                        <a:rPr sz="1875" b="0">
                          <a:solidFill>
                            <a:srgbClr val="171A30"/>
                          </a:solidFill>
                          <a:latin typeface="Arial"/>
                          <a:ea typeface="Arial"/>
                          <a:cs typeface="Arial"/>
                        </a:rPr>
                        <a:t>Suspeita</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Outras evidências positivas,</a:t>
                      </a:r>
                    </a:p>
                    <a:p>
                      <a:r>
                        <a:rPr sz="1875" b="0">
                          <a:solidFill>
                            <a:srgbClr val="171A30"/>
                          </a:solidFill>
                          <a:latin typeface="Arial"/>
                          <a:ea typeface="Arial"/>
                          <a:cs typeface="Arial"/>
                        </a:rPr>
                        <a:t>como concentração recente</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L3 rejeita repasse</a:t>
                      </a:r>
                    </a:p>
                    <a:p>
                      <a:r>
                        <a:rPr sz="1875" b="0">
                          <a:solidFill>
                            <a:srgbClr val="171A30"/>
                          </a:solidFill>
                          <a:latin typeface="Arial"/>
                          <a:ea typeface="Arial"/>
                          <a:cs typeface="Arial"/>
                        </a:rPr>
                        <a:t>aparente do pagador</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762000">
                <a:tc>
                  <a:txBody>
                    <a:bodyPr wrap="square" lIns="133350" tIns="133350" rIns="133350" bIns="133350">
                      <a:noAutofit/>
                    </a:bodyPr>
                    <a:lstStyle/>
                    <a:p>
                      <a:r>
                        <a:rPr sz="1875" b="0">
                          <a:solidFill>
                            <a:srgbClr val="171A30"/>
                          </a:solidFill>
                          <a:latin typeface="Arial"/>
                          <a:ea typeface="Arial"/>
                          <a:cs typeface="Arial"/>
                        </a:rPr>
                        <a:t>Suspeita elevada</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Sinal externo forte ou vínculo</a:t>
                      </a:r>
                    </a:p>
                    <a:p>
                      <a:r>
                        <a:rPr sz="1875" b="0">
                          <a:solidFill>
                            <a:srgbClr val="171A30"/>
                          </a:solidFill>
                          <a:latin typeface="Arial"/>
                          <a:ea typeface="Arial"/>
                          <a:cs typeface="Arial"/>
                        </a:rPr>
                        <a:t>com relatos em aberto</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L1 e L2 consideram</a:t>
                      </a:r>
                    </a:p>
                    <a:p>
                      <a:r>
                        <a:rPr sz="1875" b="0">
                          <a:solidFill>
                            <a:srgbClr val="171A30"/>
                          </a:solidFill>
                          <a:latin typeface="Arial"/>
                          <a:ea typeface="Arial"/>
                          <a:cs typeface="Arial"/>
                        </a:rPr>
                        <a:t>relação anterior e ato</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bl>
          </a:graphicData>
        </a:graphic>
      </p:graphicFrame>
      <p:sp>
        <p:nvSpPr>
          <p:cNvPr id="5" name="forwarding">
            <a:extLst xmlns:a="http://schemas.openxmlformats.org/drawingml/2006/main">
              <a:ext uri="{FF2B5EF4-FFF2-40B4-BE49-F238E27FC236}">
                <a16:creationId xmlns:a16="http://schemas.microsoft.com/office/drawing/2014/main" id="{3F271ECC-9236-433D-80FF-F66F5DAA0173}"/>
              </a:ext>
            </a:extLst>
          </p:cNvPr>
          <p:cNvSpPr>
            <a:spLocks xmlns:a="http://schemas.openxmlformats.org/drawingml/2006/main" noGrp="1"/>
          </p:cNvSpPr>
          <p:nvPr/>
        </p:nvSpPr>
        <p:spPr>
          <a:xfrm xmlns:a="http://schemas.openxmlformats.org/drawingml/2006/main">
            <a:off x="685800" y="46577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1A30"/>
                </a:solidFill>
                <a:latin typeface="Arial"/>
                <a:ea typeface="Arial"/>
                <a:cs typeface="Arial"/>
              </a:defRPr>
            </a:defPPr>
            <a:lvl1pPr>
              <a:defRPr sz="1950">
                <a:solidFill>
                  <a:srgbClr val="171A30"/>
                </a:solidFill>
                <a:latin typeface="Arial"/>
                <a:ea typeface="Arial"/>
                <a:cs typeface="Arial"/>
              </a:defRPr>
            </a:lvl1pPr>
            <a:lvl2pPr>
              <a:defRPr sz="1950">
                <a:solidFill>
                  <a:srgbClr val="171A30"/>
                </a:solidFill>
                <a:latin typeface="Arial"/>
                <a:ea typeface="Arial"/>
                <a:cs typeface="Arial"/>
              </a:defRPr>
            </a:lvl2pPr>
            <a:lvl3pPr>
              <a:defRPr sz="1950">
                <a:solidFill>
                  <a:srgbClr val="171A30"/>
                </a:solidFill>
                <a:latin typeface="Arial"/>
                <a:ea typeface="Arial"/>
                <a:cs typeface="Arial"/>
              </a:defRPr>
            </a:lvl3pPr>
            <a:lvl4pPr>
              <a:defRPr sz="1950">
                <a:solidFill>
                  <a:srgbClr val="171A30"/>
                </a:solidFill>
                <a:latin typeface="Arial"/>
                <a:ea typeface="Arial"/>
                <a:cs typeface="Arial"/>
              </a:defRPr>
            </a:lvl4pPr>
            <a:lvl5pPr>
              <a:defRPr sz="1950">
                <a:solidFill>
                  <a:srgbClr val="171A30"/>
                </a:solidFill>
                <a:latin typeface="Arial"/>
                <a:ea typeface="Arial"/>
                <a:cs typeface="Arial"/>
              </a:defRPr>
            </a:lvl5pPr>
            <a:lvl6pPr>
              <a:defRPr sz="1950">
                <a:solidFill>
                  <a:srgbClr val="171A30"/>
                </a:solidFill>
                <a:latin typeface="Arial"/>
                <a:ea typeface="Arial"/>
                <a:cs typeface="Arial"/>
              </a:defRPr>
            </a:lvl6pPr>
            <a:lvl7pPr>
              <a:defRPr sz="1950">
                <a:solidFill>
                  <a:srgbClr val="171A30"/>
                </a:solidFill>
                <a:latin typeface="Arial"/>
                <a:ea typeface="Arial"/>
                <a:cs typeface="Arial"/>
              </a:defRPr>
            </a:lvl7pPr>
            <a:lvl8pPr>
              <a:defRPr sz="1950">
                <a:solidFill>
                  <a:srgbClr val="171A30"/>
                </a:solidFill>
                <a:latin typeface="Arial"/>
                <a:ea typeface="Arial"/>
                <a:cs typeface="Arial"/>
              </a:defRPr>
            </a:lvl8pPr>
            <a:lvl9pPr>
              <a:defRPr sz="1950">
                <a:solidFill>
                  <a:srgbClr val="171A30"/>
                </a:solidFill>
                <a:latin typeface="Arial"/>
                <a:ea typeface="Arial"/>
                <a:cs typeface="Arial"/>
              </a:defRPr>
            </a:lvl9pPr>
          </a:lstStyle>
          <a:p xmlns:a="http://schemas.openxmlformats.org/drawingml/2006/main">
            <a:pPr>
              <a:defRPr sz="1950">
                <a:solidFill>
                  <a:srgbClr val="171A30"/>
                </a:solidFill>
                <a:latin typeface="Arial"/>
                <a:ea typeface="Arial"/>
                <a:cs typeface="Arial"/>
              </a:defRPr>
            </a:pPr>
            <a:r>
              <a:rPr sz="1950">
                <a:solidFill>
                  <a:srgbClr val="171A30"/>
                </a:solidFill>
                <a:latin typeface="Arial"/>
                <a:ea typeface="Arial"/>
                <a:cs typeface="Arial"/>
              </a:rPr>
              <a:t>Repasse em 1h: entradas ≥ R$ 1.000 e saídas + Pix ≥ 50% das entradas. Destino PF ou CNPJ com conta &lt; 90 dias.</a:t>
            </a:r>
          </a:p>
        </p:txBody>
      </p:sp>
      <p:sp>
        <p:nvSpPr>
          <p:cNvPr id="6" name="typical">
            <a:extLst xmlns:a="http://schemas.openxmlformats.org/drawingml/2006/main">
              <a:ext uri="{FF2B5EF4-FFF2-40B4-BE49-F238E27FC236}">
                <a16:creationId xmlns:a16="http://schemas.microsoft.com/office/drawing/2014/main" id="{24593D84-823A-4E59-A8FA-06D6C187E5A8}"/>
              </a:ext>
            </a:extLst>
          </p:cNvPr>
          <p:cNvSpPr>
            <a:spLocks xmlns:a="http://schemas.openxmlformats.org/drawingml/2006/main" noGrp="1"/>
          </p:cNvSpPr>
          <p:nvPr/>
        </p:nvSpPr>
        <p:spPr>
          <a:xfrm xmlns:a="http://schemas.openxmlformats.org/drawingml/2006/main">
            <a:off x="685800" y="5543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1A30"/>
                </a:solidFill>
                <a:latin typeface="Arial"/>
                <a:ea typeface="Arial"/>
                <a:cs typeface="Arial"/>
              </a:defRPr>
            </a:defPPr>
            <a:lvl1pPr>
              <a:defRPr sz="1950">
                <a:solidFill>
                  <a:srgbClr val="171A30"/>
                </a:solidFill>
                <a:latin typeface="Arial"/>
                <a:ea typeface="Arial"/>
                <a:cs typeface="Arial"/>
              </a:defRPr>
            </a:lvl1pPr>
            <a:lvl2pPr>
              <a:defRPr sz="1950">
                <a:solidFill>
                  <a:srgbClr val="171A30"/>
                </a:solidFill>
                <a:latin typeface="Arial"/>
                <a:ea typeface="Arial"/>
                <a:cs typeface="Arial"/>
              </a:defRPr>
            </a:lvl2pPr>
            <a:lvl3pPr>
              <a:defRPr sz="1950">
                <a:solidFill>
                  <a:srgbClr val="171A30"/>
                </a:solidFill>
                <a:latin typeface="Arial"/>
                <a:ea typeface="Arial"/>
                <a:cs typeface="Arial"/>
              </a:defRPr>
            </a:lvl3pPr>
            <a:lvl4pPr>
              <a:defRPr sz="1950">
                <a:solidFill>
                  <a:srgbClr val="171A30"/>
                </a:solidFill>
                <a:latin typeface="Arial"/>
                <a:ea typeface="Arial"/>
                <a:cs typeface="Arial"/>
              </a:defRPr>
            </a:lvl4pPr>
            <a:lvl5pPr>
              <a:defRPr sz="1950">
                <a:solidFill>
                  <a:srgbClr val="171A30"/>
                </a:solidFill>
                <a:latin typeface="Arial"/>
                <a:ea typeface="Arial"/>
                <a:cs typeface="Arial"/>
              </a:defRPr>
            </a:lvl5pPr>
            <a:lvl6pPr>
              <a:defRPr sz="1950">
                <a:solidFill>
                  <a:srgbClr val="171A30"/>
                </a:solidFill>
                <a:latin typeface="Arial"/>
                <a:ea typeface="Arial"/>
                <a:cs typeface="Arial"/>
              </a:defRPr>
            </a:lvl6pPr>
            <a:lvl7pPr>
              <a:defRPr sz="1950">
                <a:solidFill>
                  <a:srgbClr val="171A30"/>
                </a:solidFill>
                <a:latin typeface="Arial"/>
                <a:ea typeface="Arial"/>
                <a:cs typeface="Arial"/>
              </a:defRPr>
            </a:lvl7pPr>
            <a:lvl8pPr>
              <a:defRPr sz="1950">
                <a:solidFill>
                  <a:srgbClr val="171A30"/>
                </a:solidFill>
                <a:latin typeface="Arial"/>
                <a:ea typeface="Arial"/>
                <a:cs typeface="Arial"/>
              </a:defRPr>
            </a:lvl8pPr>
            <a:lvl9pPr>
              <a:defRPr sz="1950">
                <a:solidFill>
                  <a:srgbClr val="171A30"/>
                </a:solidFill>
                <a:latin typeface="Arial"/>
                <a:ea typeface="Arial"/>
                <a:cs typeface="Arial"/>
              </a:defRPr>
            </a:lvl9pPr>
          </a:lstStyle>
          <a:p xmlns:a="http://schemas.openxmlformats.org/drawingml/2006/main">
            <a:pPr>
              <a:defRPr sz="1950">
                <a:solidFill>
                  <a:srgbClr val="171A30"/>
                </a:solidFill>
                <a:latin typeface="Arial"/>
                <a:ea typeface="Arial"/>
                <a:cs typeface="Arial"/>
              </a:defRPr>
            </a:pPr>
            <a:r>
              <a:rPr sz="1950">
                <a:solidFill>
                  <a:srgbClr val="171A30"/>
                </a:solidFill>
                <a:latin typeface="Arial"/>
                <a:ea typeface="Arial"/>
                <a:cs typeface="Arial"/>
              </a:rPr>
              <a:t>Gasto típico: até R$ 1.000, fora do repasse, para titular conhecido ou CNPJ com conta ≥ 90 dias.</a:t>
            </a:r>
          </a:p>
        </p:txBody>
      </p:sp>
    </p:spTree>
    <p:extLst>
      <p:ext uri="{BB962C8B-B14F-4D97-AF65-F5344CB8AC3E}">
        <p14:creationId xmlns:p14="http://schemas.microsoft.com/office/powerpoint/2010/main" val="1766232678"/>
      </p:ext>
    </p:extLst>
  </p:cSld>
</p:sld>
</file>

<file path=ppt/slides/slide6.xml><?xml version="1.0" encoding="utf-8"?>
<p:sld xmlns:p="http://schemas.openxmlformats.org/presentationml/2006/main">
  <p:cSld>
    <p:bg>
      <p:bgPr>
        <a:solidFill xmlns:a="http://schemas.openxmlformats.org/drawingml/2006/main">
          <a:srgbClr val="10132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ABE665A-4C02-4616-A5B6-A570CC69BB07}"/>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Uma conta marcada, dois pagamentos</a:t>
            </a:r>
          </a:p>
        </p:txBody>
      </p:sp>
      <p:sp>
        <p:nvSpPr>
          <p:cNvPr id="2" name="page-number">
            <a:extLst xmlns:a="http://schemas.openxmlformats.org/drawingml/2006/main">
              <a:ext uri="{FF2B5EF4-FFF2-40B4-BE49-F238E27FC236}">
                <a16:creationId xmlns:a16="http://schemas.microsoft.com/office/drawing/2014/main" id="{230581E4-4B8B-48AB-B98B-9CBA14CA961B}"/>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C7B8F5"/>
                </a:solidFill>
                <a:latin typeface="Arial"/>
                <a:ea typeface="Arial"/>
                <a:cs typeface="Arial"/>
              </a:defRPr>
            </a:defPPr>
            <a:lvl1pPr algn="r">
              <a:defRPr sz="1500">
                <a:solidFill>
                  <a:srgbClr val="C7B8F5"/>
                </a:solidFill>
                <a:latin typeface="Arial"/>
                <a:ea typeface="Arial"/>
                <a:cs typeface="Arial"/>
              </a:defRPr>
            </a:lvl1pPr>
            <a:lvl2pPr algn="r">
              <a:defRPr sz="1500">
                <a:solidFill>
                  <a:srgbClr val="C7B8F5"/>
                </a:solidFill>
                <a:latin typeface="Arial"/>
                <a:ea typeface="Arial"/>
                <a:cs typeface="Arial"/>
              </a:defRPr>
            </a:lvl2pPr>
            <a:lvl3pPr algn="r">
              <a:defRPr sz="1500">
                <a:solidFill>
                  <a:srgbClr val="C7B8F5"/>
                </a:solidFill>
                <a:latin typeface="Arial"/>
                <a:ea typeface="Arial"/>
                <a:cs typeface="Arial"/>
              </a:defRPr>
            </a:lvl3pPr>
            <a:lvl4pPr algn="r">
              <a:defRPr sz="1500">
                <a:solidFill>
                  <a:srgbClr val="C7B8F5"/>
                </a:solidFill>
                <a:latin typeface="Arial"/>
                <a:ea typeface="Arial"/>
                <a:cs typeface="Arial"/>
              </a:defRPr>
            </a:lvl4pPr>
            <a:lvl5pPr algn="r">
              <a:defRPr sz="1500">
                <a:solidFill>
                  <a:srgbClr val="C7B8F5"/>
                </a:solidFill>
                <a:latin typeface="Arial"/>
                <a:ea typeface="Arial"/>
                <a:cs typeface="Arial"/>
              </a:defRPr>
            </a:lvl5pPr>
            <a:lvl6pPr algn="r">
              <a:defRPr sz="1500">
                <a:solidFill>
                  <a:srgbClr val="C7B8F5"/>
                </a:solidFill>
                <a:latin typeface="Arial"/>
                <a:ea typeface="Arial"/>
                <a:cs typeface="Arial"/>
              </a:defRPr>
            </a:lvl6pPr>
            <a:lvl7pPr algn="r">
              <a:defRPr sz="1500">
                <a:solidFill>
                  <a:srgbClr val="C7B8F5"/>
                </a:solidFill>
                <a:latin typeface="Arial"/>
                <a:ea typeface="Arial"/>
                <a:cs typeface="Arial"/>
              </a:defRPr>
            </a:lvl7pPr>
            <a:lvl8pPr algn="r">
              <a:defRPr sz="1500">
                <a:solidFill>
                  <a:srgbClr val="C7B8F5"/>
                </a:solidFill>
                <a:latin typeface="Arial"/>
                <a:ea typeface="Arial"/>
                <a:cs typeface="Arial"/>
              </a:defRPr>
            </a:lvl8pPr>
            <a:lvl9pPr algn="r">
              <a:defRPr sz="1500">
                <a:solidFill>
                  <a:srgbClr val="C7B8F5"/>
                </a:solidFill>
                <a:latin typeface="Arial"/>
                <a:ea typeface="Arial"/>
                <a:cs typeface="Arial"/>
              </a:defRPr>
            </a:lvl9pPr>
          </a:lstStyle>
          <a:p xmlns:a="http://schemas.openxmlformats.org/drawingml/2006/main">
            <a:pPr algn="r">
              <a:defRPr sz="1500">
                <a:solidFill>
                  <a:srgbClr val="C7B8F5"/>
                </a:solidFill>
                <a:latin typeface="Arial"/>
                <a:ea typeface="Arial"/>
                <a:cs typeface="Arial"/>
              </a:defRPr>
            </a:pPr>
            <a:r>
              <a:rPr sz="1500">
                <a:solidFill>
                  <a:srgbClr val="C7B8F5"/>
                </a:solidFill>
                <a:latin typeface="Arial"/>
                <a:ea typeface="Arial"/>
                <a:cs typeface="Arial"/>
              </a:rPr>
              <a:t>06</a:t>
            </a:r>
          </a:p>
        </p:txBody>
      </p:sp>
      <p:sp>
        <p:nvSpPr>
          <p:cNvPr id="3" name="case-context">
            <a:extLst xmlns:a="http://schemas.openxmlformats.org/drawingml/2006/main">
              <a:ext uri="{FF2B5EF4-FFF2-40B4-BE49-F238E27FC236}">
                <a16:creationId xmlns:a16="http://schemas.microsoft.com/office/drawing/2014/main" id="{256ACA86-5C86-4535-983D-28C9E39C457A}"/>
              </a:ext>
            </a:extLst>
          </p:cNvPr>
          <p:cNvSpPr>
            <a:spLocks xmlns:a="http://schemas.openxmlformats.org/drawingml/2006/main" noGrp="1"/>
          </p:cNvSpPr>
          <p:nvPr/>
        </p:nvSpPr>
        <p:spPr>
          <a:xfrm xmlns:a="http://schemas.openxmlformats.org/drawingml/2006/main">
            <a:off x="685800" y="1628775"/>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E3DDF2"/>
                </a:solidFill>
                <a:latin typeface="Arial"/>
                <a:ea typeface="Arial"/>
                <a:cs typeface="Arial"/>
              </a:defRPr>
            </a:defPPr>
            <a:lvl1pPr>
              <a:defRPr sz="2325">
                <a:solidFill>
                  <a:srgbClr val="E3DDF2"/>
                </a:solidFill>
                <a:latin typeface="Arial"/>
                <a:ea typeface="Arial"/>
                <a:cs typeface="Arial"/>
              </a:defRPr>
            </a:lvl1pPr>
            <a:lvl2pPr>
              <a:defRPr sz="2325">
                <a:solidFill>
                  <a:srgbClr val="E3DDF2"/>
                </a:solidFill>
                <a:latin typeface="Arial"/>
                <a:ea typeface="Arial"/>
                <a:cs typeface="Arial"/>
              </a:defRPr>
            </a:lvl2pPr>
            <a:lvl3pPr>
              <a:defRPr sz="2325">
                <a:solidFill>
                  <a:srgbClr val="E3DDF2"/>
                </a:solidFill>
                <a:latin typeface="Arial"/>
                <a:ea typeface="Arial"/>
                <a:cs typeface="Arial"/>
              </a:defRPr>
            </a:lvl3pPr>
            <a:lvl4pPr>
              <a:defRPr sz="2325">
                <a:solidFill>
                  <a:srgbClr val="E3DDF2"/>
                </a:solidFill>
                <a:latin typeface="Arial"/>
                <a:ea typeface="Arial"/>
                <a:cs typeface="Arial"/>
              </a:defRPr>
            </a:lvl4pPr>
            <a:lvl5pPr>
              <a:defRPr sz="2325">
                <a:solidFill>
                  <a:srgbClr val="E3DDF2"/>
                </a:solidFill>
                <a:latin typeface="Arial"/>
                <a:ea typeface="Arial"/>
                <a:cs typeface="Arial"/>
              </a:defRPr>
            </a:lvl5pPr>
            <a:lvl6pPr>
              <a:defRPr sz="2325">
                <a:solidFill>
                  <a:srgbClr val="E3DDF2"/>
                </a:solidFill>
                <a:latin typeface="Arial"/>
                <a:ea typeface="Arial"/>
                <a:cs typeface="Arial"/>
              </a:defRPr>
            </a:lvl6pPr>
            <a:lvl7pPr>
              <a:defRPr sz="2325">
                <a:solidFill>
                  <a:srgbClr val="E3DDF2"/>
                </a:solidFill>
                <a:latin typeface="Arial"/>
                <a:ea typeface="Arial"/>
                <a:cs typeface="Arial"/>
              </a:defRPr>
            </a:lvl7pPr>
            <a:lvl8pPr>
              <a:defRPr sz="2325">
                <a:solidFill>
                  <a:srgbClr val="E3DDF2"/>
                </a:solidFill>
                <a:latin typeface="Arial"/>
                <a:ea typeface="Arial"/>
                <a:cs typeface="Arial"/>
              </a:defRPr>
            </a:lvl8pPr>
            <a:lvl9pPr>
              <a:defRPr sz="2325">
                <a:solidFill>
                  <a:srgbClr val="E3DDF2"/>
                </a:solidFill>
                <a:latin typeface="Arial"/>
                <a:ea typeface="Arial"/>
                <a:cs typeface="Arial"/>
              </a:defRPr>
            </a:lvl9pPr>
          </a:lstStyle>
          <a:p xmlns:a="http://schemas.openxmlformats.org/drawingml/2006/main">
            <a:pPr>
              <a:defRPr sz="2325">
                <a:solidFill>
                  <a:srgbClr val="E3DDF2"/>
                </a:solidFill>
                <a:latin typeface="Arial"/>
                <a:ea typeface="Arial"/>
                <a:cs typeface="Arial"/>
              </a:defRPr>
            </a:pPr>
            <a:r>
              <a:rPr sz="2325">
                <a:solidFill>
                  <a:srgbClr val="E3DDF2"/>
                </a:solidFill>
                <a:latin typeface="Arial"/>
                <a:ea typeface="Arial"/>
                <a:cs typeface="Arial"/>
              </a:rPr>
              <a:t>Recebeu R$ 5.000 na última hora.</a:t>
            </a:r>
          </a:p>
          <a:p xmlns:a="http://schemas.openxmlformats.org/drawingml/2006/main">
            <a:pPr>
              <a:defRPr sz="2325">
                <a:solidFill>
                  <a:srgbClr val="E3DDF2"/>
                </a:solidFill>
                <a:latin typeface="Arial"/>
                <a:ea typeface="Arial"/>
                <a:cs typeface="Arial"/>
              </a:defRPr>
            </a:pPr>
            <a:r>
              <a:rPr sz="2325">
                <a:solidFill>
                  <a:srgbClr val="E3DDF2"/>
                </a:solidFill>
                <a:latin typeface="Arial"/>
                <a:ea typeface="Arial"/>
                <a:cs typeface="Arial"/>
              </a:rPr>
              <a:t>Depois, o mock passou a indicar suspeita elevada.</a:t>
            </a:r>
          </a:p>
        </p:txBody>
      </p:sp>
      <p:graphicFrame>
        <p:nvGraphicFramePr>
          <p:cNvPr id="4" name="mule-case">
            <a:extLst xmlns:a="http://schemas.openxmlformats.org/drawingml/2006/main">
              <a:ext uri="{FF2B5EF4-FFF2-40B4-BE49-F238E27FC236}">
                <a16:creationId xmlns:a16="http://schemas.microsoft.com/office/drawing/2014/main" id="{CD1059CC-E6E4-48CD-9F52-67DF1A3C0CD6}"/>
              </a:ext>
            </a:extLst>
          </p:cNvPr>
          <p:cNvGraphicFramePr/>
          <p:nvPr/>
        </p:nvGraphicFramePr>
        <p:xfrm>
          <a:off xmlns:a="http://schemas.openxmlformats.org/drawingml/2006/main" x="685800" y="2924175"/>
          <a:ext xmlns:a="http://schemas.openxmlformats.org/drawingml/2006/main" cx="10820400" cy="2286000"/>
        </p:xfrm>
        <a:graphic xmlns:a="http://schemas.openxmlformats.org/drawingml/2006/main">
          <a:graphicData uri="http://schemas.openxmlformats.org/drawingml/2006/table">
            <a:tbl>
              <a:tblPr firstRow="0" bandRow="0"/>
              <a:tblGrid>
                <a:gridCol w="4676775"/>
                <a:gridCol w="2286000"/>
                <a:gridCol w="3857625"/>
              </a:tblGrid>
              <a:tr h="552450">
                <a:tc>
                  <a:txBody>
                    <a:bodyPr wrap="square" lIns="133350" tIns="133350" rIns="133350" bIns="133350">
                      <a:noAutofit/>
                    </a:bodyPr>
                    <a:lstStyle/>
                    <a:p>
                      <a:r>
                        <a:rPr sz="2100" b="1">
                          <a:solidFill>
                            <a:srgbClr val="C7B8F5"/>
                          </a:solidFill>
                          <a:latin typeface="Arial"/>
                          <a:ea typeface="Arial"/>
                          <a:cs typeface="Arial"/>
                        </a:rPr>
                        <a:t>Pagamento</a:t>
                      </a:r>
                    </a:p>
                  </a:txBody>
                  <a:tcPr marL="91440" marR="91440" marT="45720" marB="45720" anchor="ctr">
                    <a:lnL w="5715">
                      <a:solidFill>
                        <a:srgbClr val="4A4560"/>
                      </a:solidFill>
                      <a:prstDash val="solid"/>
                    </a:lnL>
                    <a:lnR w="5715">
                      <a:solidFill>
                        <a:srgbClr val="4A4560"/>
                      </a:solidFill>
                      <a:prstDash val="solid"/>
                    </a:lnR>
                    <a:lnT w="5715">
                      <a:solidFill>
                        <a:srgbClr val="4A4560"/>
                      </a:solidFill>
                      <a:prstDash val="solid"/>
                    </a:lnT>
                    <a:lnB w="5715">
                      <a:solidFill>
                        <a:srgbClr val="4A4560"/>
                      </a:solidFill>
                      <a:prstDash val="solid"/>
                    </a:lnB>
                    <a:solidFill>
                      <a:srgbClr val="34304C"/>
                    </a:solidFill>
                  </a:tcPr>
                </a:tc>
                <a:tc>
                  <a:txBody>
                    <a:bodyPr wrap="square" lIns="133350" tIns="133350" rIns="133350" bIns="133350">
                      <a:noAutofit/>
                    </a:bodyPr>
                    <a:lstStyle/>
                    <a:p>
                      <a:r>
                        <a:rPr sz="2100" b="1">
                          <a:solidFill>
                            <a:srgbClr val="C7B8F5"/>
                          </a:solidFill>
                          <a:latin typeface="Arial"/>
                          <a:ea typeface="Arial"/>
                          <a:cs typeface="Arial"/>
                        </a:rPr>
                        <a:t>Resultado</a:t>
                      </a:r>
                    </a:p>
                  </a:txBody>
                  <a:tcPr marL="91440" marR="91440" marT="45720" marB="45720" anchor="ctr">
                    <a:lnR w="5715">
                      <a:solidFill>
                        <a:srgbClr val="4A4560"/>
                      </a:solidFill>
                      <a:prstDash val="solid"/>
                    </a:lnR>
                    <a:lnT w="5715">
                      <a:solidFill>
                        <a:srgbClr val="4A4560"/>
                      </a:solidFill>
                      <a:prstDash val="solid"/>
                    </a:lnT>
                    <a:lnB w="5715">
                      <a:solidFill>
                        <a:srgbClr val="4A4560"/>
                      </a:solidFill>
                      <a:prstDash val="solid"/>
                    </a:lnB>
                    <a:solidFill>
                      <a:srgbClr val="34304C"/>
                    </a:solidFill>
                  </a:tcPr>
                </a:tc>
                <a:tc>
                  <a:txBody>
                    <a:bodyPr wrap="square" lIns="133350" tIns="133350" rIns="133350" bIns="133350">
                      <a:noAutofit/>
                    </a:bodyPr>
                    <a:lstStyle/>
                    <a:p>
                      <a:r>
                        <a:rPr sz="2100" b="1">
                          <a:solidFill>
                            <a:srgbClr val="C7B8F5"/>
                          </a:solidFill>
                          <a:latin typeface="Arial"/>
                          <a:ea typeface="Arial"/>
                          <a:cs typeface="Arial"/>
                        </a:rPr>
                        <a:t>Motivo</a:t>
                      </a:r>
                    </a:p>
                  </a:txBody>
                  <a:tcPr marL="91440" marR="91440" marT="45720" marB="45720" anchor="ctr">
                    <a:lnR w="5715">
                      <a:solidFill>
                        <a:srgbClr val="4A4560"/>
                      </a:solidFill>
                      <a:prstDash val="solid"/>
                    </a:lnR>
                    <a:lnT w="5715">
                      <a:solidFill>
                        <a:srgbClr val="4A4560"/>
                      </a:solidFill>
                      <a:prstDash val="solid"/>
                    </a:lnT>
                    <a:lnB w="5715">
                      <a:solidFill>
                        <a:srgbClr val="4A4560"/>
                      </a:solidFill>
                      <a:prstDash val="solid"/>
                    </a:lnB>
                    <a:solidFill>
                      <a:srgbClr val="34304C"/>
                    </a:solidFill>
                  </a:tcPr>
                </a:tc>
              </a:tr>
              <a:tr h="895350">
                <a:tc>
                  <a:txBody>
                    <a:bodyPr wrap="square" lIns="133350" tIns="133350" rIns="133350" bIns="133350">
                      <a:noAutofit/>
                    </a:bodyPr>
                    <a:lstStyle/>
                    <a:p>
                      <a:r>
                        <a:rPr sz="2100" b="0">
                          <a:solidFill>
                            <a:srgbClr val="FFFFFF"/>
                          </a:solidFill>
                          <a:latin typeface="Arial"/>
                          <a:ea typeface="Arial"/>
                          <a:cs typeface="Arial"/>
                        </a:rPr>
                        <a:t>R$ 180 para concessionária</a:t>
                      </a:r>
                    </a:p>
                    <a:p>
                      <a:r>
                        <a:rPr sz="2100" b="0">
                          <a:solidFill>
                            <a:srgbClr val="FFFFFF"/>
                          </a:solidFill>
                          <a:latin typeface="Arial"/>
                          <a:ea typeface="Arial"/>
                          <a:cs typeface="Arial"/>
                        </a:rPr>
                        <a:t>CNPJ com conta antiga</a:t>
                      </a:r>
                    </a:p>
                  </a:txBody>
                  <a:tcPr marL="91440" marR="91440" marT="45720" marB="45720" anchor="ctr">
                    <a:lnL w="5715">
                      <a:solidFill>
                        <a:srgbClr val="4A4560"/>
                      </a:solidFill>
                      <a:prstDash val="solid"/>
                    </a:lnL>
                    <a:lnR w="5715">
                      <a:solidFill>
                        <a:srgbClr val="4A4560"/>
                      </a:solidFill>
                      <a:prstDash val="solid"/>
                    </a:lnR>
                    <a:lnB w="5715">
                      <a:solidFill>
                        <a:srgbClr val="4A4560"/>
                      </a:solidFill>
                      <a:prstDash val="solid"/>
                    </a:lnB>
                    <a:solidFill>
                      <a:srgbClr val="101323"/>
                    </a:solidFill>
                  </a:tcPr>
                </a:tc>
                <a:tc>
                  <a:txBody>
                    <a:bodyPr wrap="square" lIns="133350" tIns="133350" rIns="133350" bIns="133350">
                      <a:noAutofit/>
                    </a:bodyPr>
                    <a:lstStyle/>
                    <a:p>
                      <a:r>
                        <a:rPr sz="2100" b="1">
                          <a:solidFill>
                            <a:srgbClr val="8CE1CC"/>
                          </a:solidFill>
                          <a:latin typeface="Arial"/>
                          <a:ea typeface="Arial"/>
                          <a:cs typeface="Arial"/>
                        </a:rPr>
                        <a:t>approved</a:t>
                      </a:r>
                    </a:p>
                  </a:txBody>
                  <a:tcPr marL="91440" marR="91440" marT="45720" marB="45720" anchor="ctr">
                    <a:lnR w="5715">
                      <a:solidFill>
                        <a:srgbClr val="4A4560"/>
                      </a:solidFill>
                      <a:prstDash val="solid"/>
                    </a:lnR>
                    <a:lnB w="5715">
                      <a:solidFill>
                        <a:srgbClr val="4A4560"/>
                      </a:solidFill>
                      <a:prstDash val="solid"/>
                    </a:lnB>
                    <a:solidFill>
                      <a:srgbClr val="101323"/>
                    </a:solidFill>
                  </a:tcPr>
                </a:tc>
                <a:tc>
                  <a:txBody>
                    <a:bodyPr wrap="square" lIns="133350" tIns="133350" rIns="133350" bIns="133350">
                      <a:noAutofit/>
                    </a:bodyPr>
                    <a:lstStyle/>
                    <a:p>
                      <a:r>
                        <a:rPr sz="2100" b="0">
                          <a:solidFill>
                            <a:srgbClr val="FFFFFF"/>
                          </a:solidFill>
                          <a:latin typeface="Arial"/>
                          <a:ea typeface="Arial"/>
                          <a:cs typeface="Arial"/>
                        </a:rPr>
                        <a:t>Gasto típico dentro</a:t>
                      </a:r>
                    </a:p>
                    <a:p>
                      <a:r>
                        <a:rPr sz="2100" b="0">
                          <a:solidFill>
                            <a:srgbClr val="FFFFFF"/>
                          </a:solidFill>
                          <a:latin typeface="Arial"/>
                          <a:ea typeface="Arial"/>
                          <a:cs typeface="Arial"/>
                        </a:rPr>
                        <a:t>da exceção limitada</a:t>
                      </a:r>
                    </a:p>
                  </a:txBody>
                  <a:tcPr marL="91440" marR="91440" marT="45720" marB="45720" anchor="ctr">
                    <a:lnR w="5715">
                      <a:solidFill>
                        <a:srgbClr val="4A4560"/>
                      </a:solidFill>
                      <a:prstDash val="solid"/>
                    </a:lnR>
                    <a:lnB w="5715">
                      <a:solidFill>
                        <a:srgbClr val="4A4560"/>
                      </a:solidFill>
                      <a:prstDash val="solid"/>
                    </a:lnB>
                    <a:solidFill>
                      <a:srgbClr val="101323"/>
                    </a:solidFill>
                  </a:tcPr>
                </a:tc>
              </a:tr>
              <a:tr h="838200">
                <a:tc>
                  <a:txBody>
                    <a:bodyPr wrap="square" lIns="133350" tIns="133350" rIns="133350" bIns="133350">
                      <a:noAutofit/>
                    </a:bodyPr>
                    <a:lstStyle/>
                    <a:p>
                      <a:r>
                        <a:rPr sz="2100" b="0">
                          <a:solidFill>
                            <a:srgbClr val="FFFFFF"/>
                          </a:solidFill>
                          <a:latin typeface="Arial"/>
                          <a:ea typeface="Arial"/>
                          <a:cs typeface="Arial"/>
                        </a:rPr>
                        <a:t>R$ 4.000 para pessoa física</a:t>
                      </a:r>
                    </a:p>
                  </a:txBody>
                  <a:tcPr marL="91440" marR="91440" marT="45720" marB="45720" anchor="ctr">
                    <a:lnL w="5715">
                      <a:solidFill>
                        <a:srgbClr val="4A4560"/>
                      </a:solidFill>
                      <a:prstDash val="solid"/>
                    </a:lnL>
                    <a:lnR w="5715">
                      <a:solidFill>
                        <a:srgbClr val="4A4560"/>
                      </a:solidFill>
                      <a:prstDash val="solid"/>
                    </a:lnR>
                    <a:lnB w="5715">
                      <a:solidFill>
                        <a:srgbClr val="4A4560"/>
                      </a:solidFill>
                      <a:prstDash val="solid"/>
                    </a:lnB>
                    <a:solidFill>
                      <a:srgbClr val="101323"/>
                    </a:solidFill>
                  </a:tcPr>
                </a:tc>
                <a:tc>
                  <a:txBody>
                    <a:bodyPr wrap="square" lIns="133350" tIns="133350" rIns="133350" bIns="133350">
                      <a:noAutofit/>
                    </a:bodyPr>
                    <a:lstStyle/>
                    <a:p>
                      <a:r>
                        <a:rPr sz="2100" b="1">
                          <a:solidFill>
                            <a:srgbClr val="FFA7BC"/>
                          </a:solidFill>
                          <a:latin typeface="Arial"/>
                          <a:ea typeface="Arial"/>
                          <a:cs typeface="Arial"/>
                        </a:rPr>
                        <a:t>rejected</a:t>
                      </a:r>
                    </a:p>
                  </a:txBody>
                  <a:tcPr marL="91440" marR="91440" marT="45720" marB="45720" anchor="ctr">
                    <a:lnR w="5715">
                      <a:solidFill>
                        <a:srgbClr val="4A4560"/>
                      </a:solidFill>
                      <a:prstDash val="solid"/>
                    </a:lnR>
                    <a:lnB w="5715">
                      <a:solidFill>
                        <a:srgbClr val="4A4560"/>
                      </a:solidFill>
                      <a:prstDash val="solid"/>
                    </a:lnB>
                    <a:solidFill>
                      <a:srgbClr val="101323"/>
                    </a:solidFill>
                  </a:tcPr>
                </a:tc>
                <a:tc>
                  <a:txBody>
                    <a:bodyPr wrap="square" lIns="133350" tIns="133350" rIns="133350" bIns="133350">
                      <a:noAutofit/>
                    </a:bodyPr>
                    <a:lstStyle/>
                    <a:p>
                      <a:r>
                        <a:rPr sz="2100" b="0">
                          <a:solidFill>
                            <a:srgbClr val="FFFFFF"/>
                          </a:solidFill>
                          <a:latin typeface="Arial"/>
                          <a:ea typeface="Arial"/>
                          <a:cs typeface="Arial"/>
                        </a:rPr>
                        <a:t>Repasse aparente</a:t>
                      </a:r>
                    </a:p>
                    <a:p>
                      <a:r>
                        <a:rPr sz="2100" b="0">
                          <a:solidFill>
                            <a:srgbClr val="FFFFFF"/>
                          </a:solidFill>
                          <a:latin typeface="Arial"/>
                          <a:ea typeface="Arial"/>
                          <a:cs typeface="Arial"/>
                        </a:rPr>
                        <a:t>MULE_PAYER</a:t>
                      </a:r>
                    </a:p>
                  </a:txBody>
                  <a:tcPr marL="91440" marR="91440" marT="45720" marB="45720" anchor="ctr">
                    <a:lnR w="5715">
                      <a:solidFill>
                        <a:srgbClr val="4A4560"/>
                      </a:solidFill>
                      <a:prstDash val="solid"/>
                    </a:lnR>
                    <a:lnB w="5715">
                      <a:solidFill>
                        <a:srgbClr val="4A4560"/>
                      </a:solidFill>
                      <a:prstDash val="solid"/>
                    </a:lnB>
                    <a:solidFill>
                      <a:srgbClr val="101323"/>
                    </a:solidFill>
                  </a:tcPr>
                </a:tc>
              </a:tr>
            </a:tbl>
          </a:graphicData>
        </a:graphic>
      </p:graphicFrame>
      <p:sp>
        <p:nvSpPr>
          <p:cNvPr id="5" name="case-boundary">
            <a:extLst xmlns:a="http://schemas.openxmlformats.org/drawingml/2006/main">
              <a:ext uri="{FF2B5EF4-FFF2-40B4-BE49-F238E27FC236}">
                <a16:creationId xmlns:a16="http://schemas.microsoft.com/office/drawing/2014/main" id="{A374A9C7-825D-429F-916E-20534150A260}"/>
              </a:ext>
            </a:extLst>
          </p:cNvPr>
          <p:cNvSpPr>
            <a:spLocks xmlns:a="http://schemas.openxmlformats.org/drawingml/2006/main" noGrp="1"/>
          </p:cNvSpPr>
          <p:nvPr/>
        </p:nvSpPr>
        <p:spPr>
          <a:xfrm xmlns:a="http://schemas.openxmlformats.org/drawingml/2006/main">
            <a:off x="685800" y="56578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D4CDE5"/>
                </a:solidFill>
                <a:latin typeface="Arial"/>
                <a:ea typeface="Arial"/>
                <a:cs typeface="Arial"/>
              </a:defRPr>
            </a:defPPr>
            <a:lvl1pPr>
              <a:defRPr sz="1725">
                <a:solidFill>
                  <a:srgbClr val="D4CDE5"/>
                </a:solidFill>
                <a:latin typeface="Arial"/>
                <a:ea typeface="Arial"/>
                <a:cs typeface="Arial"/>
              </a:defRPr>
            </a:lvl1pPr>
            <a:lvl2pPr>
              <a:defRPr sz="1725">
                <a:solidFill>
                  <a:srgbClr val="D4CDE5"/>
                </a:solidFill>
                <a:latin typeface="Arial"/>
                <a:ea typeface="Arial"/>
                <a:cs typeface="Arial"/>
              </a:defRPr>
            </a:lvl2pPr>
            <a:lvl3pPr>
              <a:defRPr sz="1725">
                <a:solidFill>
                  <a:srgbClr val="D4CDE5"/>
                </a:solidFill>
                <a:latin typeface="Arial"/>
                <a:ea typeface="Arial"/>
                <a:cs typeface="Arial"/>
              </a:defRPr>
            </a:lvl3pPr>
            <a:lvl4pPr>
              <a:defRPr sz="1725">
                <a:solidFill>
                  <a:srgbClr val="D4CDE5"/>
                </a:solidFill>
                <a:latin typeface="Arial"/>
                <a:ea typeface="Arial"/>
                <a:cs typeface="Arial"/>
              </a:defRPr>
            </a:lvl4pPr>
            <a:lvl5pPr>
              <a:defRPr sz="1725">
                <a:solidFill>
                  <a:srgbClr val="D4CDE5"/>
                </a:solidFill>
                <a:latin typeface="Arial"/>
                <a:ea typeface="Arial"/>
                <a:cs typeface="Arial"/>
              </a:defRPr>
            </a:lvl5pPr>
            <a:lvl6pPr>
              <a:defRPr sz="1725">
                <a:solidFill>
                  <a:srgbClr val="D4CDE5"/>
                </a:solidFill>
                <a:latin typeface="Arial"/>
                <a:ea typeface="Arial"/>
                <a:cs typeface="Arial"/>
              </a:defRPr>
            </a:lvl6pPr>
            <a:lvl7pPr>
              <a:defRPr sz="1725">
                <a:solidFill>
                  <a:srgbClr val="D4CDE5"/>
                </a:solidFill>
                <a:latin typeface="Arial"/>
                <a:ea typeface="Arial"/>
                <a:cs typeface="Arial"/>
              </a:defRPr>
            </a:lvl7pPr>
            <a:lvl8pPr>
              <a:defRPr sz="1725">
                <a:solidFill>
                  <a:srgbClr val="D4CDE5"/>
                </a:solidFill>
                <a:latin typeface="Arial"/>
                <a:ea typeface="Arial"/>
                <a:cs typeface="Arial"/>
              </a:defRPr>
            </a:lvl8pPr>
            <a:lvl9pPr>
              <a:defRPr sz="1725">
                <a:solidFill>
                  <a:srgbClr val="D4CDE5"/>
                </a:solidFill>
                <a:latin typeface="Arial"/>
                <a:ea typeface="Arial"/>
                <a:cs typeface="Arial"/>
              </a:defRPr>
            </a:lvl9pPr>
          </a:lstStyle>
          <a:p xmlns:a="http://schemas.openxmlformats.org/drawingml/2006/main">
            <a:pPr>
              <a:defRPr sz="1725">
                <a:solidFill>
                  <a:srgbClr val="D4CDE5"/>
                </a:solidFill>
                <a:latin typeface="Arial"/>
                <a:ea typeface="Arial"/>
                <a:cs typeface="Arial"/>
              </a:defRPr>
            </a:pPr>
            <a:r>
              <a:rPr sz="1725">
                <a:solidFill>
                  <a:srgbClr val="D4CDE5"/>
                </a:solidFill>
                <a:latin typeface="Arial"/>
                <a:ea typeface="Arial"/>
                <a:cs typeface="Arial"/>
              </a:rPr>
              <a:t>Dados fictícios da demo. A regra usa sinais observáveis, sem conhecer a finalidade real.</a:t>
            </a:r>
          </a:p>
        </p:txBody>
      </p:sp>
    </p:spTree>
    <p:extLst>
      <p:ext uri="{BB962C8B-B14F-4D97-AF65-F5344CB8AC3E}">
        <p14:creationId xmlns:p14="http://schemas.microsoft.com/office/powerpoint/2010/main" val="1698547773"/>
      </p:ext>
    </p:extLst>
  </p:cSld>
</p:sld>
</file>

<file path=ppt/slides/slide7.xml><?xml version="1.0" encoding="utf-8"?>
<p:sld xmlns:p="http://schemas.openxmlformats.org/presentationml/2006/main">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DC4E16-F8ED-4BFA-851C-064B3E7D520A}"/>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Base Service e modelagem de dados</a:t>
            </a:r>
          </a:p>
        </p:txBody>
      </p:sp>
      <p:sp>
        <p:nvSpPr>
          <p:cNvPr id="2" name="page-number">
            <a:extLst xmlns:a="http://schemas.openxmlformats.org/drawingml/2006/main">
              <a:ext uri="{FF2B5EF4-FFF2-40B4-BE49-F238E27FC236}">
                <a16:creationId xmlns:a16="http://schemas.microsoft.com/office/drawing/2014/main" id="{B1C0D347-2369-4A25-A205-06AD18A83496}"/>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07</a:t>
            </a:r>
          </a:p>
        </p:txBody>
      </p:sp>
      <p:sp>
        <p:nvSpPr>
          <p:cNvPr id="3" name="layers">
            <a:extLst xmlns:a="http://schemas.openxmlformats.org/drawingml/2006/main">
              <a:ext uri="{FF2B5EF4-FFF2-40B4-BE49-F238E27FC236}">
                <a16:creationId xmlns:a16="http://schemas.microsoft.com/office/drawing/2014/main" id="{E22C5614-76A6-4845-9113-49E087F4A932}"/>
              </a:ext>
            </a:extLst>
          </p:cNvPr>
          <p:cNvSpPr>
            <a:spLocks xmlns:a="http://schemas.openxmlformats.org/drawingml/2006/main" noGrp="1"/>
          </p:cNvSpPr>
          <p:nvPr/>
        </p:nvSpPr>
        <p:spPr>
          <a:xfrm xmlns:a="http://schemas.openxmlformats.org/drawingml/2006/main">
            <a:off x="685800" y="1581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1A30"/>
                </a:solidFill>
                <a:latin typeface="Arial"/>
                <a:ea typeface="Arial"/>
                <a:cs typeface="Arial"/>
              </a:defRPr>
            </a:defPPr>
            <a:lvl1pPr>
              <a:defRPr sz="2100">
                <a:solidFill>
                  <a:srgbClr val="171A30"/>
                </a:solidFill>
                <a:latin typeface="Arial"/>
                <a:ea typeface="Arial"/>
                <a:cs typeface="Arial"/>
              </a:defRPr>
            </a:lvl1pPr>
            <a:lvl2pPr>
              <a:defRPr sz="2100">
                <a:solidFill>
                  <a:srgbClr val="171A30"/>
                </a:solidFill>
                <a:latin typeface="Arial"/>
                <a:ea typeface="Arial"/>
                <a:cs typeface="Arial"/>
              </a:defRPr>
            </a:lvl2pPr>
            <a:lvl3pPr>
              <a:defRPr sz="2100">
                <a:solidFill>
                  <a:srgbClr val="171A30"/>
                </a:solidFill>
                <a:latin typeface="Arial"/>
                <a:ea typeface="Arial"/>
                <a:cs typeface="Arial"/>
              </a:defRPr>
            </a:lvl3pPr>
            <a:lvl4pPr>
              <a:defRPr sz="2100">
                <a:solidFill>
                  <a:srgbClr val="171A30"/>
                </a:solidFill>
                <a:latin typeface="Arial"/>
                <a:ea typeface="Arial"/>
                <a:cs typeface="Arial"/>
              </a:defRPr>
            </a:lvl4pPr>
            <a:lvl5pPr>
              <a:defRPr sz="2100">
                <a:solidFill>
                  <a:srgbClr val="171A30"/>
                </a:solidFill>
                <a:latin typeface="Arial"/>
                <a:ea typeface="Arial"/>
                <a:cs typeface="Arial"/>
              </a:defRPr>
            </a:lvl5pPr>
            <a:lvl6pPr>
              <a:defRPr sz="2100">
                <a:solidFill>
                  <a:srgbClr val="171A30"/>
                </a:solidFill>
                <a:latin typeface="Arial"/>
                <a:ea typeface="Arial"/>
                <a:cs typeface="Arial"/>
              </a:defRPr>
            </a:lvl6pPr>
            <a:lvl7pPr>
              <a:defRPr sz="2100">
                <a:solidFill>
                  <a:srgbClr val="171A30"/>
                </a:solidFill>
                <a:latin typeface="Arial"/>
                <a:ea typeface="Arial"/>
                <a:cs typeface="Arial"/>
              </a:defRPr>
            </a:lvl7pPr>
            <a:lvl8pPr>
              <a:defRPr sz="2100">
                <a:solidFill>
                  <a:srgbClr val="171A30"/>
                </a:solidFill>
                <a:latin typeface="Arial"/>
                <a:ea typeface="Arial"/>
                <a:cs typeface="Arial"/>
              </a:defRPr>
            </a:lvl8pPr>
            <a:lvl9pPr>
              <a:defRPr sz="2100">
                <a:solidFill>
                  <a:srgbClr val="171A30"/>
                </a:solidFill>
                <a:latin typeface="Arial"/>
                <a:ea typeface="Arial"/>
                <a:cs typeface="Arial"/>
              </a:defRPr>
            </a:lvl9pPr>
          </a:lstStyle>
          <a:p xmlns:a="http://schemas.openxmlformats.org/drawingml/2006/main">
            <a:pPr>
              <a:defRPr sz="2100">
                <a:solidFill>
                  <a:srgbClr val="171A30"/>
                </a:solidFill>
                <a:latin typeface="Arial"/>
                <a:ea typeface="Arial"/>
                <a:cs typeface="Arial"/>
              </a:defRPr>
            </a:pPr>
            <a:r>
              <a:rPr sz="2100">
                <a:solidFill>
                  <a:srgbClr val="171A30"/>
                </a:solidFill>
                <a:latin typeface="Arial"/>
                <a:ea typeface="Arial"/>
                <a:cs typeface="Arial"/>
              </a:rPr>
              <a:t>Resource valida. Controller reúne contexto. Regras puras decidem.</a:t>
            </a:r>
          </a:p>
          <a:p xmlns:a="http://schemas.openxmlformats.org/drawingml/2006/main">
            <a:pPr>
              <a:defRPr sz="2100">
                <a:solidFill>
                  <a:srgbClr val="171A30"/>
                </a:solidFill>
                <a:latin typeface="Arial"/>
                <a:ea typeface="Arial"/>
                <a:cs typeface="Arial"/>
              </a:defRPr>
            </a:pPr>
            <a:r>
              <a:rPr sz="2100">
                <a:solidFill>
                  <a:srgbClr val="171A30"/>
                </a:solidFill>
                <a:latin typeface="Arial"/>
                <a:ea typeface="Arial"/>
                <a:cs typeface="Arial"/>
              </a:rPr>
              <a:t>Repositories concentram o acesso ao PostgreSQL.</a:t>
            </a:r>
          </a:p>
        </p:txBody>
      </p:sp>
      <p:graphicFrame>
        <p:nvGraphicFramePr>
          <p:cNvPr id="4" name="data-model">
            <a:extLst xmlns:a="http://schemas.openxmlformats.org/drawingml/2006/main">
              <a:ext uri="{FF2B5EF4-FFF2-40B4-BE49-F238E27FC236}">
                <a16:creationId xmlns:a16="http://schemas.microsoft.com/office/drawing/2014/main" id="{7451CC4E-E06E-4046-99BB-9FB029EEDCCF}"/>
              </a:ext>
            </a:extLst>
          </p:cNvPr>
          <p:cNvGraphicFramePr/>
          <p:nvPr/>
        </p:nvGraphicFramePr>
        <p:xfrm>
          <a:off xmlns:a="http://schemas.openxmlformats.org/drawingml/2006/main" x="685800" y="2771775"/>
          <a:ext xmlns:a="http://schemas.openxmlformats.org/drawingml/2006/main" cx="10820400" cy="2847975"/>
        </p:xfrm>
        <a:graphic xmlns:a="http://schemas.openxmlformats.org/drawingml/2006/main">
          <a:graphicData uri="http://schemas.openxmlformats.org/drawingml/2006/table">
            <a:tbl>
              <a:tblPr firstRow="0" bandRow="0"/>
              <a:tblGrid>
                <a:gridCol w="3333750"/>
                <a:gridCol w="7486650"/>
              </a:tblGrid>
              <a:tr h="523875">
                <a:tc>
                  <a:txBody>
                    <a:bodyPr wrap="square" lIns="133350" tIns="133350" rIns="133350" bIns="133350">
                      <a:noAutofit/>
                    </a:bodyPr>
                    <a:lstStyle/>
                    <a:p>
                      <a:r>
                        <a:rPr sz="1875" b="1">
                          <a:solidFill>
                            <a:srgbClr val="6745C4"/>
                          </a:solidFill>
                          <a:latin typeface="Arial"/>
                          <a:ea typeface="Arial"/>
                          <a:cs typeface="Arial"/>
                        </a:rPr>
                        <a:t>Tabela</a:t>
                      </a:r>
                    </a:p>
                  </a:txBody>
                  <a:tcPr marL="91440" marR="91440" marT="45720" marB="45720" anchor="ctr">
                    <a:lnL w="5715">
                      <a:solidFill>
                        <a:srgbClr val="CFCADC"/>
                      </a:solidFill>
                      <a:prstDash val="solid"/>
                    </a:lnL>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75" b="1">
                          <a:solidFill>
                            <a:srgbClr val="6745C4"/>
                          </a:solidFill>
                          <a:latin typeface="Arial"/>
                          <a:ea typeface="Arial"/>
                          <a:cs typeface="Arial"/>
                        </a:rPr>
                        <a:t>Responsabilidade</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r>
              <a:tr h="581025">
                <a:tc>
                  <a:txBody>
                    <a:bodyPr wrap="square" lIns="133350" tIns="133350" rIns="133350" bIns="133350">
                      <a:noAutofit/>
                    </a:bodyPr>
                    <a:lstStyle/>
                    <a:p>
                      <a:r>
                        <a:rPr sz="1875" b="0">
                          <a:solidFill>
                            <a:srgbClr val="171A30"/>
                          </a:solidFill>
                          <a:latin typeface="Arial"/>
                          <a:ea typeface="Arial"/>
                          <a:cs typeface="Arial"/>
                        </a:rPr>
                        <a:t>payer_account</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Identidade do pagador e trava por conta</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581025">
                <a:tc>
                  <a:txBody>
                    <a:bodyPr wrap="square" lIns="133350" tIns="133350" rIns="133350" bIns="133350">
                      <a:noAutofit/>
                    </a:bodyPr>
                    <a:lstStyle/>
                    <a:p>
                      <a:r>
                        <a:rPr sz="1875" b="0">
                          <a:solidFill>
                            <a:srgbClr val="171A30"/>
                          </a:solidFill>
                          <a:latin typeface="Arial"/>
                          <a:ea typeface="Arial"/>
                          <a:cs typeface="Arial"/>
                        </a:rPr>
                        <a:t>pix_analysis</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Pedido, decisão, versão, motivo e evidências usadas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581025">
                <a:tc>
                  <a:txBody>
                    <a:bodyPr wrap="square" lIns="133350" tIns="133350" rIns="133350" bIns="133350">
                      <a:noAutofit/>
                    </a:bodyPr>
                    <a:lstStyle/>
                    <a:p>
                      <a:r>
                        <a:rPr sz="1875" b="0">
                          <a:solidFill>
                            <a:srgbClr val="171A30"/>
                          </a:solidFill>
                          <a:latin typeface="Arial"/>
                          <a:ea typeface="Arial"/>
                          <a:cs typeface="Arial"/>
                        </a:rPr>
                        <a:t>account_link</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Fluxos e vínculos de aparelhos a partir de aprovações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581025">
                <a:tc>
                  <a:txBody>
                    <a:bodyPr wrap="square" lIns="133350" tIns="133350" rIns="133350" bIns="133350">
                      <a:noAutofit/>
                    </a:bodyPr>
                    <a:lstStyle/>
                    <a:p>
                      <a:r>
                        <a:rPr sz="1875" b="0">
                          <a:solidFill>
                            <a:srgbClr val="171A30"/>
                          </a:solidFill>
                          <a:latin typeface="Arial"/>
                          <a:ea typeface="Arial"/>
                          <a:cs typeface="Arial"/>
                        </a:rPr>
                        <a:t>dict_lookup</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Histórico das consultas externas e cache</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bl>
          </a:graphicData>
        </a:graphic>
      </p:graphicFrame>
      <p:sp>
        <p:nvSpPr>
          <p:cNvPr id="5" name="immutable">
            <a:extLst xmlns:a="http://schemas.openxmlformats.org/drawingml/2006/main">
              <a:ext uri="{FF2B5EF4-FFF2-40B4-BE49-F238E27FC236}">
                <a16:creationId xmlns:a16="http://schemas.microsoft.com/office/drawing/2014/main" id="{DC633E6C-2742-4D4F-9B5E-FABA1E8920A8}"/>
              </a:ext>
            </a:extLst>
          </p:cNvPr>
          <p:cNvSpPr>
            <a:spLocks xmlns:a="http://schemas.openxmlformats.org/drawingml/2006/main" noGrp="1"/>
          </p:cNvSpPr>
          <p:nvPr/>
        </p:nvSpPr>
        <p:spPr>
          <a:xfrm xmlns:a="http://schemas.openxmlformats.org/drawingml/2006/main">
            <a:off x="685800" y="59055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6745C4"/>
                </a:solidFill>
                <a:latin typeface="Arial"/>
                <a:ea typeface="Arial"/>
                <a:cs typeface="Arial"/>
              </a:defRPr>
            </a:defPPr>
            <a:lvl1pPr>
              <a:defRPr sz="1950" b="1">
                <a:solidFill>
                  <a:srgbClr val="6745C4"/>
                </a:solidFill>
                <a:latin typeface="Arial"/>
                <a:ea typeface="Arial"/>
                <a:cs typeface="Arial"/>
              </a:defRPr>
            </a:lvl1pPr>
            <a:lvl2pPr>
              <a:defRPr sz="1950" b="1">
                <a:solidFill>
                  <a:srgbClr val="6745C4"/>
                </a:solidFill>
                <a:latin typeface="Arial"/>
                <a:ea typeface="Arial"/>
                <a:cs typeface="Arial"/>
              </a:defRPr>
            </a:lvl2pPr>
            <a:lvl3pPr>
              <a:defRPr sz="1950" b="1">
                <a:solidFill>
                  <a:srgbClr val="6745C4"/>
                </a:solidFill>
                <a:latin typeface="Arial"/>
                <a:ea typeface="Arial"/>
                <a:cs typeface="Arial"/>
              </a:defRPr>
            </a:lvl3pPr>
            <a:lvl4pPr>
              <a:defRPr sz="1950" b="1">
                <a:solidFill>
                  <a:srgbClr val="6745C4"/>
                </a:solidFill>
                <a:latin typeface="Arial"/>
                <a:ea typeface="Arial"/>
                <a:cs typeface="Arial"/>
              </a:defRPr>
            </a:lvl4pPr>
            <a:lvl5pPr>
              <a:defRPr sz="1950" b="1">
                <a:solidFill>
                  <a:srgbClr val="6745C4"/>
                </a:solidFill>
                <a:latin typeface="Arial"/>
                <a:ea typeface="Arial"/>
                <a:cs typeface="Arial"/>
              </a:defRPr>
            </a:lvl5pPr>
            <a:lvl6pPr>
              <a:defRPr sz="1950" b="1">
                <a:solidFill>
                  <a:srgbClr val="6745C4"/>
                </a:solidFill>
                <a:latin typeface="Arial"/>
                <a:ea typeface="Arial"/>
                <a:cs typeface="Arial"/>
              </a:defRPr>
            </a:lvl6pPr>
            <a:lvl7pPr>
              <a:defRPr sz="1950" b="1">
                <a:solidFill>
                  <a:srgbClr val="6745C4"/>
                </a:solidFill>
                <a:latin typeface="Arial"/>
                <a:ea typeface="Arial"/>
                <a:cs typeface="Arial"/>
              </a:defRPr>
            </a:lvl7pPr>
            <a:lvl8pPr>
              <a:defRPr sz="1950" b="1">
                <a:solidFill>
                  <a:srgbClr val="6745C4"/>
                </a:solidFill>
                <a:latin typeface="Arial"/>
                <a:ea typeface="Arial"/>
                <a:cs typeface="Arial"/>
              </a:defRPr>
            </a:lvl8pPr>
            <a:lvl9pPr>
              <a:defRPr sz="1950" b="1">
                <a:solidFill>
                  <a:srgbClr val="6745C4"/>
                </a:solidFill>
                <a:latin typeface="Arial"/>
                <a:ea typeface="Arial"/>
                <a:cs typeface="Arial"/>
              </a:defRPr>
            </a:lvl9pPr>
          </a:lstStyle>
          <a:p xmlns:a="http://schemas.openxmlformats.org/drawingml/2006/main">
            <a:pPr>
              <a:defRPr sz="1950" b="1">
                <a:solidFill>
                  <a:srgbClr val="6745C4"/>
                </a:solidFill>
                <a:latin typeface="Arial"/>
                <a:ea typeface="Arial"/>
                <a:cs typeface="Arial"/>
              </a:defRPr>
            </a:pPr>
            <a:r>
              <a:rPr sz="1950" b="1">
                <a:solidFill>
                  <a:srgbClr val="6745C4"/>
                </a:solidFill>
                <a:latin typeface="Arial"/>
                <a:ea typeface="Arial"/>
                <a:cs typeface="Arial"/>
              </a:rPr>
              <a:t>GET e reenvios equivalentes preservam a análise original.</a:t>
            </a:r>
          </a:p>
        </p:txBody>
      </p:sp>
    </p:spTree>
    <p:extLst>
      <p:ext uri="{BB962C8B-B14F-4D97-AF65-F5344CB8AC3E}">
        <p14:creationId xmlns:p14="http://schemas.microsoft.com/office/powerpoint/2010/main" val="275787063"/>
      </p:ext>
    </p:extLst>
  </p:cSld>
</p:sld>
</file>

<file path=ppt/slides/slide8.xml><?xml version="1.0" encoding="utf-8"?>
<p:sld xmlns:p="http://schemas.openxmlformats.org/presentationml/2006/main">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F102D05-11BE-4972-A4D9-B1712414257B}"/>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Comportamento verificado</a:t>
            </a:r>
          </a:p>
        </p:txBody>
      </p:sp>
      <p:sp>
        <p:nvSpPr>
          <p:cNvPr id="2" name="page-number">
            <a:extLst xmlns:a="http://schemas.openxmlformats.org/drawingml/2006/main">
              <a:ext uri="{FF2B5EF4-FFF2-40B4-BE49-F238E27FC236}">
                <a16:creationId xmlns:a16="http://schemas.microsoft.com/office/drawing/2014/main" id="{76605BF4-E5CD-47E0-BFDC-586924F00B81}"/>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08</a:t>
            </a:r>
          </a:p>
        </p:txBody>
      </p:sp>
      <p:sp>
        <p:nvSpPr>
          <p:cNvPr id="3" name="test-number">
            <a:extLst xmlns:a="http://schemas.openxmlformats.org/drawingml/2006/main">
              <a:ext uri="{FF2B5EF4-FFF2-40B4-BE49-F238E27FC236}">
                <a16:creationId xmlns:a16="http://schemas.microsoft.com/office/drawing/2014/main" id="{518CD8E4-50B6-4E2E-8A87-CFB916EDA1B6}"/>
              </a:ext>
            </a:extLst>
          </p:cNvPr>
          <p:cNvSpPr>
            <a:spLocks xmlns:a="http://schemas.openxmlformats.org/drawingml/2006/main" noGrp="1"/>
          </p:cNvSpPr>
          <p:nvPr/>
        </p:nvSpPr>
        <p:spPr>
          <a:xfrm xmlns:a="http://schemas.openxmlformats.org/drawingml/2006/main">
            <a:off x="685800" y="1724025"/>
            <a:ext cx="3333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450" b="1">
                <a:solidFill>
                  <a:srgbClr val="6745C4"/>
                </a:solidFill>
                <a:latin typeface="Arial"/>
                <a:ea typeface="Arial"/>
                <a:cs typeface="Arial"/>
              </a:defRPr>
            </a:defPPr>
            <a:lvl1pPr>
              <a:defRPr sz="9450" b="1">
                <a:solidFill>
                  <a:srgbClr val="6745C4"/>
                </a:solidFill>
                <a:latin typeface="Arial"/>
                <a:ea typeface="Arial"/>
                <a:cs typeface="Arial"/>
              </a:defRPr>
            </a:lvl1pPr>
            <a:lvl2pPr>
              <a:defRPr sz="9450" b="1">
                <a:solidFill>
                  <a:srgbClr val="6745C4"/>
                </a:solidFill>
                <a:latin typeface="Arial"/>
                <a:ea typeface="Arial"/>
                <a:cs typeface="Arial"/>
              </a:defRPr>
            </a:lvl2pPr>
            <a:lvl3pPr>
              <a:defRPr sz="9450" b="1">
                <a:solidFill>
                  <a:srgbClr val="6745C4"/>
                </a:solidFill>
                <a:latin typeface="Arial"/>
                <a:ea typeface="Arial"/>
                <a:cs typeface="Arial"/>
              </a:defRPr>
            </a:lvl3pPr>
            <a:lvl4pPr>
              <a:defRPr sz="9450" b="1">
                <a:solidFill>
                  <a:srgbClr val="6745C4"/>
                </a:solidFill>
                <a:latin typeface="Arial"/>
                <a:ea typeface="Arial"/>
                <a:cs typeface="Arial"/>
              </a:defRPr>
            </a:lvl4pPr>
            <a:lvl5pPr>
              <a:defRPr sz="9450" b="1">
                <a:solidFill>
                  <a:srgbClr val="6745C4"/>
                </a:solidFill>
                <a:latin typeface="Arial"/>
                <a:ea typeface="Arial"/>
                <a:cs typeface="Arial"/>
              </a:defRPr>
            </a:lvl5pPr>
            <a:lvl6pPr>
              <a:defRPr sz="9450" b="1">
                <a:solidFill>
                  <a:srgbClr val="6745C4"/>
                </a:solidFill>
                <a:latin typeface="Arial"/>
                <a:ea typeface="Arial"/>
                <a:cs typeface="Arial"/>
              </a:defRPr>
            </a:lvl6pPr>
            <a:lvl7pPr>
              <a:defRPr sz="9450" b="1">
                <a:solidFill>
                  <a:srgbClr val="6745C4"/>
                </a:solidFill>
                <a:latin typeface="Arial"/>
                <a:ea typeface="Arial"/>
                <a:cs typeface="Arial"/>
              </a:defRPr>
            </a:lvl7pPr>
            <a:lvl8pPr>
              <a:defRPr sz="9450" b="1">
                <a:solidFill>
                  <a:srgbClr val="6745C4"/>
                </a:solidFill>
                <a:latin typeface="Arial"/>
                <a:ea typeface="Arial"/>
                <a:cs typeface="Arial"/>
              </a:defRPr>
            </a:lvl8pPr>
            <a:lvl9pPr>
              <a:defRPr sz="9450" b="1">
                <a:solidFill>
                  <a:srgbClr val="6745C4"/>
                </a:solidFill>
                <a:latin typeface="Arial"/>
                <a:ea typeface="Arial"/>
                <a:cs typeface="Arial"/>
              </a:defRPr>
            </a:lvl9pPr>
          </a:lstStyle>
          <a:p xmlns:a="http://schemas.openxmlformats.org/drawingml/2006/main">
            <a:pPr>
              <a:defRPr sz="9450" b="1">
                <a:solidFill>
                  <a:srgbClr val="6745C4"/>
                </a:solidFill>
                <a:latin typeface="Arial"/>
                <a:ea typeface="Arial"/>
                <a:cs typeface="Arial"/>
              </a:defRPr>
            </a:pPr>
            <a:r>
              <a:rPr sz="9450" b="1">
                <a:solidFill>
                  <a:srgbClr val="6745C4"/>
                </a:solidFill>
                <a:latin typeface="Arial"/>
                <a:ea typeface="Arial"/>
                <a:cs typeface="Arial"/>
              </a:rPr>
              <a:t>271</a:t>
            </a:r>
          </a:p>
        </p:txBody>
      </p:sp>
      <p:sp>
        <p:nvSpPr>
          <p:cNvPr id="4" name="test-label">
            <a:extLst xmlns:a="http://schemas.openxmlformats.org/drawingml/2006/main">
              <a:ext uri="{FF2B5EF4-FFF2-40B4-BE49-F238E27FC236}">
                <a16:creationId xmlns:a16="http://schemas.microsoft.com/office/drawing/2014/main" id="{4F668792-5868-44AE-9921-D02301DCFDEA}"/>
              </a:ext>
            </a:extLst>
          </p:cNvPr>
          <p:cNvSpPr>
            <a:spLocks xmlns:a="http://schemas.openxmlformats.org/drawingml/2006/main" noGrp="1"/>
          </p:cNvSpPr>
          <p:nvPr/>
        </p:nvSpPr>
        <p:spPr>
          <a:xfrm xmlns:a="http://schemas.openxmlformats.org/drawingml/2006/main">
            <a:off x="762000" y="309562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1A30"/>
                </a:solidFill>
                <a:latin typeface="Arial"/>
                <a:ea typeface="Arial"/>
                <a:cs typeface="Arial"/>
              </a:defRPr>
            </a:defPPr>
            <a:lvl1pPr>
              <a:defRPr sz="2325" b="1">
                <a:solidFill>
                  <a:srgbClr val="171A30"/>
                </a:solidFill>
                <a:latin typeface="Arial"/>
                <a:ea typeface="Arial"/>
                <a:cs typeface="Arial"/>
              </a:defRPr>
            </a:lvl1pPr>
            <a:lvl2pPr>
              <a:defRPr sz="2325" b="1">
                <a:solidFill>
                  <a:srgbClr val="171A30"/>
                </a:solidFill>
                <a:latin typeface="Arial"/>
                <a:ea typeface="Arial"/>
                <a:cs typeface="Arial"/>
              </a:defRPr>
            </a:lvl2pPr>
            <a:lvl3pPr>
              <a:defRPr sz="2325" b="1">
                <a:solidFill>
                  <a:srgbClr val="171A30"/>
                </a:solidFill>
                <a:latin typeface="Arial"/>
                <a:ea typeface="Arial"/>
                <a:cs typeface="Arial"/>
              </a:defRPr>
            </a:lvl3pPr>
            <a:lvl4pPr>
              <a:defRPr sz="2325" b="1">
                <a:solidFill>
                  <a:srgbClr val="171A30"/>
                </a:solidFill>
                <a:latin typeface="Arial"/>
                <a:ea typeface="Arial"/>
                <a:cs typeface="Arial"/>
              </a:defRPr>
            </a:lvl4pPr>
            <a:lvl5pPr>
              <a:defRPr sz="2325" b="1">
                <a:solidFill>
                  <a:srgbClr val="171A30"/>
                </a:solidFill>
                <a:latin typeface="Arial"/>
                <a:ea typeface="Arial"/>
                <a:cs typeface="Arial"/>
              </a:defRPr>
            </a:lvl5pPr>
            <a:lvl6pPr>
              <a:defRPr sz="2325" b="1">
                <a:solidFill>
                  <a:srgbClr val="171A30"/>
                </a:solidFill>
                <a:latin typeface="Arial"/>
                <a:ea typeface="Arial"/>
                <a:cs typeface="Arial"/>
              </a:defRPr>
            </a:lvl6pPr>
            <a:lvl7pPr>
              <a:defRPr sz="2325" b="1">
                <a:solidFill>
                  <a:srgbClr val="171A30"/>
                </a:solidFill>
                <a:latin typeface="Arial"/>
                <a:ea typeface="Arial"/>
                <a:cs typeface="Arial"/>
              </a:defRPr>
            </a:lvl7pPr>
            <a:lvl8pPr>
              <a:defRPr sz="2325" b="1">
                <a:solidFill>
                  <a:srgbClr val="171A30"/>
                </a:solidFill>
                <a:latin typeface="Arial"/>
                <a:ea typeface="Arial"/>
                <a:cs typeface="Arial"/>
              </a:defRPr>
            </a:lvl8pPr>
            <a:lvl9pPr>
              <a:defRPr sz="2325" b="1">
                <a:solidFill>
                  <a:srgbClr val="171A30"/>
                </a:solidFill>
                <a:latin typeface="Arial"/>
                <a:ea typeface="Arial"/>
                <a:cs typeface="Arial"/>
              </a:defRPr>
            </a:lvl9pPr>
          </a:lstStyle>
          <a:p xmlns:a="http://schemas.openxmlformats.org/drawingml/2006/main">
            <a:pPr>
              <a:defRPr sz="2325" b="1">
                <a:solidFill>
                  <a:srgbClr val="171A30"/>
                </a:solidFill>
                <a:latin typeface="Arial"/>
                <a:ea typeface="Arial"/>
                <a:cs typeface="Arial"/>
              </a:defRPr>
            </a:pPr>
            <a:r>
              <a:rPr sz="2325" b="1">
                <a:solidFill>
                  <a:srgbClr val="171A30"/>
                </a:solidFill>
                <a:latin typeface="Arial"/>
                <a:ea typeface="Arial"/>
                <a:cs typeface="Arial"/>
              </a:rPr>
              <a:t>testes aprovados</a:t>
            </a:r>
          </a:p>
        </p:txBody>
      </p:sp>
      <p:sp>
        <p:nvSpPr>
          <p:cNvPr id="5" name="test-coverage">
            <a:extLst xmlns:a="http://schemas.openxmlformats.org/drawingml/2006/main">
              <a:ext uri="{FF2B5EF4-FFF2-40B4-BE49-F238E27FC236}">
                <a16:creationId xmlns:a16="http://schemas.microsoft.com/office/drawing/2014/main" id="{CF094D25-0E1A-4C3F-B697-BBB2360A4171}"/>
              </a:ext>
            </a:extLst>
          </p:cNvPr>
          <p:cNvSpPr>
            <a:spLocks xmlns:a="http://schemas.openxmlformats.org/drawingml/2006/main" noGrp="1"/>
          </p:cNvSpPr>
          <p:nvPr/>
        </p:nvSpPr>
        <p:spPr>
          <a:xfrm xmlns:a="http://schemas.openxmlformats.org/drawingml/2006/main">
            <a:off x="4829175" y="1914525"/>
            <a:ext cx="6667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1A30"/>
                </a:solidFill>
                <a:latin typeface="Arial"/>
                <a:ea typeface="Arial"/>
                <a:cs typeface="Arial"/>
              </a:defRPr>
            </a:defPPr>
            <a:lvl1pPr>
              <a:defRPr sz="2325">
                <a:solidFill>
                  <a:srgbClr val="171A30"/>
                </a:solidFill>
                <a:latin typeface="Arial"/>
                <a:ea typeface="Arial"/>
                <a:cs typeface="Arial"/>
              </a:defRPr>
            </a:lvl1pPr>
            <a:lvl2pPr>
              <a:defRPr sz="2325">
                <a:solidFill>
                  <a:srgbClr val="171A30"/>
                </a:solidFill>
                <a:latin typeface="Arial"/>
                <a:ea typeface="Arial"/>
                <a:cs typeface="Arial"/>
              </a:defRPr>
            </a:lvl2pPr>
            <a:lvl3pPr>
              <a:defRPr sz="2325">
                <a:solidFill>
                  <a:srgbClr val="171A30"/>
                </a:solidFill>
                <a:latin typeface="Arial"/>
                <a:ea typeface="Arial"/>
                <a:cs typeface="Arial"/>
              </a:defRPr>
            </a:lvl3pPr>
            <a:lvl4pPr>
              <a:defRPr sz="2325">
                <a:solidFill>
                  <a:srgbClr val="171A30"/>
                </a:solidFill>
                <a:latin typeface="Arial"/>
                <a:ea typeface="Arial"/>
                <a:cs typeface="Arial"/>
              </a:defRPr>
            </a:lvl4pPr>
            <a:lvl5pPr>
              <a:defRPr sz="2325">
                <a:solidFill>
                  <a:srgbClr val="171A30"/>
                </a:solidFill>
                <a:latin typeface="Arial"/>
                <a:ea typeface="Arial"/>
                <a:cs typeface="Arial"/>
              </a:defRPr>
            </a:lvl5pPr>
            <a:lvl6pPr>
              <a:defRPr sz="2325">
                <a:solidFill>
                  <a:srgbClr val="171A30"/>
                </a:solidFill>
                <a:latin typeface="Arial"/>
                <a:ea typeface="Arial"/>
                <a:cs typeface="Arial"/>
              </a:defRPr>
            </a:lvl6pPr>
            <a:lvl7pPr>
              <a:defRPr sz="2325">
                <a:solidFill>
                  <a:srgbClr val="171A30"/>
                </a:solidFill>
                <a:latin typeface="Arial"/>
                <a:ea typeface="Arial"/>
                <a:cs typeface="Arial"/>
              </a:defRPr>
            </a:lvl7pPr>
            <a:lvl8pPr>
              <a:defRPr sz="2325">
                <a:solidFill>
                  <a:srgbClr val="171A30"/>
                </a:solidFill>
                <a:latin typeface="Arial"/>
                <a:ea typeface="Arial"/>
                <a:cs typeface="Arial"/>
              </a:defRPr>
            </a:lvl8pPr>
            <a:lvl9pPr>
              <a:defRPr sz="2325">
                <a:solidFill>
                  <a:srgbClr val="171A30"/>
                </a:solidFill>
                <a:latin typeface="Arial"/>
                <a:ea typeface="Arial"/>
                <a:cs typeface="Arial"/>
              </a:defRPr>
            </a:lvl9pPr>
          </a:lstStyle>
          <a:p xmlns:a="http://schemas.openxmlformats.org/drawingml/2006/main">
            <a:pPr>
              <a:lnSpc>
                <a:spcPct val="135000"/>
              </a:lnSpc>
              <a:buNone/>
              <a:defRPr sz="2325">
                <a:solidFill>
                  <a:srgbClr val="171A30"/>
                </a:solidFill>
                <a:latin typeface="Arial"/>
                <a:ea typeface="Arial"/>
                <a:cs typeface="Arial"/>
              </a:defRPr>
            </a:pPr>
            <a:r>
              <a:rPr sz="2325">
                <a:solidFill>
                  <a:srgbClr val="171A30"/>
                </a:solidFill>
                <a:latin typeface="Arial"/>
                <a:ea typeface="Arial"/>
                <a:cs typeface="Arial"/>
              </a:rPr>
              <a:t>Contrato e limites das regras</a:t>
            </a:r>
          </a:p>
          <a:p xmlns:a="http://schemas.openxmlformats.org/drawingml/2006/main">
            <a:pPr>
              <a:lnSpc>
                <a:spcPct val="135000"/>
              </a:lnSpc>
              <a:buNone/>
              <a:defRPr sz="2325">
                <a:solidFill>
                  <a:srgbClr val="171A30"/>
                </a:solidFill>
                <a:latin typeface="Arial"/>
                <a:ea typeface="Arial"/>
                <a:cs typeface="Arial"/>
              </a:defRPr>
            </a:pPr>
            <a:r>
              <a:rPr sz="2325">
                <a:solidFill>
                  <a:srgbClr val="171A30"/>
                </a:solidFill>
                <a:latin typeface="Arial"/>
                <a:ea typeface="Arial"/>
                <a:cs typeface="Arial"/>
              </a:rPr>
              <a:t>Média e cenários de laranja</a:t>
            </a:r>
          </a:p>
          <a:p xmlns:a="http://schemas.openxmlformats.org/drawingml/2006/main">
            <a:pPr>
              <a:lnSpc>
                <a:spcPct val="135000"/>
              </a:lnSpc>
              <a:buNone/>
              <a:defRPr sz="2325">
                <a:solidFill>
                  <a:srgbClr val="171A30"/>
                </a:solidFill>
                <a:latin typeface="Arial"/>
                <a:ea typeface="Arial"/>
                <a:cs typeface="Arial"/>
              </a:defRPr>
            </a:pPr>
            <a:r>
              <a:rPr sz="2325">
                <a:solidFill>
                  <a:srgbClr val="171A30"/>
                </a:solidFill>
                <a:latin typeface="Arial"/>
                <a:ea typeface="Arial"/>
                <a:cs typeface="Arial"/>
              </a:rPr>
              <a:t>Concorrência, idempotência e rollback</a:t>
            </a:r>
          </a:p>
        </p:txBody>
      </p:sp>
      <p:sp>
        <p:nvSpPr>
          <p:cNvPr id="6" name="demo-evidence">
            <a:extLst xmlns:a="http://schemas.openxmlformats.org/drawingml/2006/main">
              <a:ext uri="{FF2B5EF4-FFF2-40B4-BE49-F238E27FC236}">
                <a16:creationId xmlns:a16="http://schemas.microsoft.com/office/drawing/2014/main" id="{81FAE1BC-64EA-47EE-AF87-E6EA11228F1D}"/>
              </a:ext>
            </a:extLst>
          </p:cNvPr>
          <p:cNvSpPr>
            <a:spLocks xmlns:a="http://schemas.openxmlformats.org/drawingml/2006/main" noGrp="1"/>
          </p:cNvSpPr>
          <p:nvPr/>
        </p:nvSpPr>
        <p:spPr>
          <a:xfrm xmlns:a="http://schemas.openxmlformats.org/drawingml/2006/main">
            <a:off x="685800" y="41052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1A30"/>
                </a:solidFill>
                <a:latin typeface="Arial"/>
                <a:ea typeface="Arial"/>
                <a:cs typeface="Arial"/>
              </a:defRPr>
            </a:defPPr>
            <a:lvl1pPr>
              <a:defRPr sz="2625" b="1">
                <a:solidFill>
                  <a:srgbClr val="171A30"/>
                </a:solidFill>
                <a:latin typeface="Arial"/>
                <a:ea typeface="Arial"/>
                <a:cs typeface="Arial"/>
              </a:defRPr>
            </a:lvl1pPr>
            <a:lvl2pPr>
              <a:defRPr sz="2625" b="1">
                <a:solidFill>
                  <a:srgbClr val="171A30"/>
                </a:solidFill>
                <a:latin typeface="Arial"/>
                <a:ea typeface="Arial"/>
                <a:cs typeface="Arial"/>
              </a:defRPr>
            </a:lvl2pPr>
            <a:lvl3pPr>
              <a:defRPr sz="2625" b="1">
                <a:solidFill>
                  <a:srgbClr val="171A30"/>
                </a:solidFill>
                <a:latin typeface="Arial"/>
                <a:ea typeface="Arial"/>
                <a:cs typeface="Arial"/>
              </a:defRPr>
            </a:lvl3pPr>
            <a:lvl4pPr>
              <a:defRPr sz="2625" b="1">
                <a:solidFill>
                  <a:srgbClr val="171A30"/>
                </a:solidFill>
                <a:latin typeface="Arial"/>
                <a:ea typeface="Arial"/>
                <a:cs typeface="Arial"/>
              </a:defRPr>
            </a:lvl4pPr>
            <a:lvl5pPr>
              <a:defRPr sz="2625" b="1">
                <a:solidFill>
                  <a:srgbClr val="171A30"/>
                </a:solidFill>
                <a:latin typeface="Arial"/>
                <a:ea typeface="Arial"/>
                <a:cs typeface="Arial"/>
              </a:defRPr>
            </a:lvl5pPr>
            <a:lvl6pPr>
              <a:defRPr sz="2625" b="1">
                <a:solidFill>
                  <a:srgbClr val="171A30"/>
                </a:solidFill>
                <a:latin typeface="Arial"/>
                <a:ea typeface="Arial"/>
                <a:cs typeface="Arial"/>
              </a:defRPr>
            </a:lvl6pPr>
            <a:lvl7pPr>
              <a:defRPr sz="2625" b="1">
                <a:solidFill>
                  <a:srgbClr val="171A30"/>
                </a:solidFill>
                <a:latin typeface="Arial"/>
                <a:ea typeface="Arial"/>
                <a:cs typeface="Arial"/>
              </a:defRPr>
            </a:lvl7pPr>
            <a:lvl8pPr>
              <a:defRPr sz="2625" b="1">
                <a:solidFill>
                  <a:srgbClr val="171A30"/>
                </a:solidFill>
                <a:latin typeface="Arial"/>
                <a:ea typeface="Arial"/>
                <a:cs typeface="Arial"/>
              </a:defRPr>
            </a:lvl8pPr>
            <a:lvl9pPr>
              <a:defRPr sz="2625" b="1">
                <a:solidFill>
                  <a:srgbClr val="171A30"/>
                </a:solidFill>
                <a:latin typeface="Arial"/>
                <a:ea typeface="Arial"/>
                <a:cs typeface="Arial"/>
              </a:defRPr>
            </a:lvl9pPr>
          </a:lstStyle>
          <a:p xmlns:a="http://schemas.openxmlformats.org/drawingml/2006/main">
            <a:pPr>
              <a:defRPr sz="2625" b="1">
                <a:solidFill>
                  <a:srgbClr val="171A30"/>
                </a:solidFill>
                <a:latin typeface="Arial"/>
                <a:ea typeface="Arial"/>
                <a:cs typeface="Arial"/>
              </a:defRPr>
            </a:pPr>
            <a:r>
              <a:rPr sz="2625" b="1">
                <a:solidFill>
                  <a:srgbClr val="171A30"/>
                </a:solidFill>
                <a:latin typeface="Arial"/>
                <a:ea typeface="Arial"/>
                <a:cs typeface="Arial"/>
              </a:rPr>
              <a:t>Demo: 7 de 7 decisões esperadas</a:t>
            </a:r>
          </a:p>
        </p:txBody>
      </p:sp>
      <p:sp>
        <p:nvSpPr>
          <p:cNvPr id="7" name="correctness">
            <a:extLst xmlns:a="http://schemas.openxmlformats.org/drawingml/2006/main">
              <a:ext uri="{FF2B5EF4-FFF2-40B4-BE49-F238E27FC236}">
                <a16:creationId xmlns:a16="http://schemas.microsoft.com/office/drawing/2014/main" id="{7BA4FD5F-A1CC-4C53-AF1A-346137E84B23}"/>
              </a:ext>
            </a:extLst>
          </p:cNvPr>
          <p:cNvSpPr>
            <a:spLocks xmlns:a="http://schemas.openxmlformats.org/drawingml/2006/main" noGrp="1"/>
          </p:cNvSpPr>
          <p:nvPr/>
        </p:nvSpPr>
        <p:spPr>
          <a:xfrm xmlns:a="http://schemas.openxmlformats.org/drawingml/2006/main">
            <a:off x="685800" y="49244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1A30"/>
                </a:solidFill>
                <a:latin typeface="Arial"/>
                <a:ea typeface="Arial"/>
                <a:cs typeface="Arial"/>
              </a:defRPr>
            </a:defPPr>
            <a:lvl1pPr>
              <a:defRPr sz="2175">
                <a:solidFill>
                  <a:srgbClr val="171A30"/>
                </a:solidFill>
                <a:latin typeface="Arial"/>
                <a:ea typeface="Arial"/>
                <a:cs typeface="Arial"/>
              </a:defRPr>
            </a:lvl1pPr>
            <a:lvl2pPr>
              <a:defRPr sz="2175">
                <a:solidFill>
                  <a:srgbClr val="171A30"/>
                </a:solidFill>
                <a:latin typeface="Arial"/>
                <a:ea typeface="Arial"/>
                <a:cs typeface="Arial"/>
              </a:defRPr>
            </a:lvl2pPr>
            <a:lvl3pPr>
              <a:defRPr sz="2175">
                <a:solidFill>
                  <a:srgbClr val="171A30"/>
                </a:solidFill>
                <a:latin typeface="Arial"/>
                <a:ea typeface="Arial"/>
                <a:cs typeface="Arial"/>
              </a:defRPr>
            </a:lvl3pPr>
            <a:lvl4pPr>
              <a:defRPr sz="2175">
                <a:solidFill>
                  <a:srgbClr val="171A30"/>
                </a:solidFill>
                <a:latin typeface="Arial"/>
                <a:ea typeface="Arial"/>
                <a:cs typeface="Arial"/>
              </a:defRPr>
            </a:lvl4pPr>
            <a:lvl5pPr>
              <a:defRPr sz="2175">
                <a:solidFill>
                  <a:srgbClr val="171A30"/>
                </a:solidFill>
                <a:latin typeface="Arial"/>
                <a:ea typeface="Arial"/>
                <a:cs typeface="Arial"/>
              </a:defRPr>
            </a:lvl5pPr>
            <a:lvl6pPr>
              <a:defRPr sz="2175">
                <a:solidFill>
                  <a:srgbClr val="171A30"/>
                </a:solidFill>
                <a:latin typeface="Arial"/>
                <a:ea typeface="Arial"/>
                <a:cs typeface="Arial"/>
              </a:defRPr>
            </a:lvl6pPr>
            <a:lvl7pPr>
              <a:defRPr sz="2175">
                <a:solidFill>
                  <a:srgbClr val="171A30"/>
                </a:solidFill>
                <a:latin typeface="Arial"/>
                <a:ea typeface="Arial"/>
                <a:cs typeface="Arial"/>
              </a:defRPr>
            </a:lvl7pPr>
            <a:lvl8pPr>
              <a:defRPr sz="2175">
                <a:solidFill>
                  <a:srgbClr val="171A30"/>
                </a:solidFill>
                <a:latin typeface="Arial"/>
                <a:ea typeface="Arial"/>
                <a:cs typeface="Arial"/>
              </a:defRPr>
            </a:lvl8pPr>
            <a:lvl9pPr>
              <a:defRPr sz="2175">
                <a:solidFill>
                  <a:srgbClr val="171A30"/>
                </a:solidFill>
                <a:latin typeface="Arial"/>
                <a:ea typeface="Arial"/>
                <a:cs typeface="Arial"/>
              </a:defRPr>
            </a:lvl9pPr>
          </a:lstStyle>
          <a:p xmlns:a="http://schemas.openxmlformats.org/drawingml/2006/main">
            <a:pPr>
              <a:defRPr sz="2175">
                <a:solidFill>
                  <a:srgbClr val="171A30"/>
                </a:solidFill>
                <a:latin typeface="Arial"/>
                <a:ea typeface="Arial"/>
                <a:cs typeface="Arial"/>
              </a:defRPr>
            </a:pPr>
            <a:r>
              <a:rPr sz="2175">
                <a:solidFill>
                  <a:srgbClr val="171A30"/>
                </a:solidFill>
                <a:latin typeface="Arial"/>
                <a:ea typeface="Arial"/>
                <a:cs typeface="Arial"/>
              </a:rPr>
              <a:t>A trava por pagador protege os acumulados.</a:t>
            </a:r>
          </a:p>
          <a:p xmlns:a="http://schemas.openxmlformats.org/drawingml/2006/main">
            <a:pPr>
              <a:defRPr sz="2175">
                <a:solidFill>
                  <a:srgbClr val="171A30"/>
                </a:solidFill>
                <a:latin typeface="Arial"/>
                <a:ea typeface="Arial"/>
                <a:cs typeface="Arial"/>
              </a:defRPr>
            </a:pPr>
            <a:r>
              <a:rPr sz="2175">
                <a:solidFill>
                  <a:srgbClr val="171A30"/>
                </a:solidFill>
                <a:latin typeface="Arial"/>
                <a:ea typeface="Arial"/>
                <a:cs typeface="Arial"/>
              </a:rPr>
              <a:t>Reenvios não duplicam a análise nem o consumo de limite.</a:t>
            </a:r>
          </a:p>
        </p:txBody>
      </p:sp>
      <p:sp>
        <p:nvSpPr>
          <p:cNvPr id="8" name="empirical-boundary">
            <a:extLst xmlns:a="http://schemas.openxmlformats.org/drawingml/2006/main">
              <a:ext uri="{FF2B5EF4-FFF2-40B4-BE49-F238E27FC236}">
                <a16:creationId xmlns:a16="http://schemas.microsoft.com/office/drawing/2014/main" id="{E6E5FB8D-F2BF-4F71-B4A2-AE5C90C5F1C1}"/>
              </a:ext>
            </a:extLst>
          </p:cNvPr>
          <p:cNvSpPr>
            <a:spLocks xmlns:a="http://schemas.openxmlformats.org/drawingml/2006/main" noGrp="1"/>
          </p:cNvSpPr>
          <p:nvPr/>
        </p:nvSpPr>
        <p:spPr>
          <a:xfrm xmlns:a="http://schemas.openxmlformats.org/drawingml/2006/main">
            <a:off x="685800" y="61436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565A70"/>
                </a:solidFill>
                <a:latin typeface="Arial"/>
                <a:ea typeface="Arial"/>
                <a:cs typeface="Arial"/>
              </a:defRPr>
            </a:defPPr>
            <a:lvl1pPr>
              <a:defRPr sz="1575">
                <a:solidFill>
                  <a:srgbClr val="565A70"/>
                </a:solidFill>
                <a:latin typeface="Arial"/>
                <a:ea typeface="Arial"/>
                <a:cs typeface="Arial"/>
              </a:defRPr>
            </a:lvl1pPr>
            <a:lvl2pPr>
              <a:defRPr sz="1575">
                <a:solidFill>
                  <a:srgbClr val="565A70"/>
                </a:solidFill>
                <a:latin typeface="Arial"/>
                <a:ea typeface="Arial"/>
                <a:cs typeface="Arial"/>
              </a:defRPr>
            </a:lvl2pPr>
            <a:lvl3pPr>
              <a:defRPr sz="1575">
                <a:solidFill>
                  <a:srgbClr val="565A70"/>
                </a:solidFill>
                <a:latin typeface="Arial"/>
                <a:ea typeface="Arial"/>
                <a:cs typeface="Arial"/>
              </a:defRPr>
            </a:lvl3pPr>
            <a:lvl4pPr>
              <a:defRPr sz="1575">
                <a:solidFill>
                  <a:srgbClr val="565A70"/>
                </a:solidFill>
                <a:latin typeface="Arial"/>
                <a:ea typeface="Arial"/>
                <a:cs typeface="Arial"/>
              </a:defRPr>
            </a:lvl4pPr>
            <a:lvl5pPr>
              <a:defRPr sz="1575">
                <a:solidFill>
                  <a:srgbClr val="565A70"/>
                </a:solidFill>
                <a:latin typeface="Arial"/>
                <a:ea typeface="Arial"/>
                <a:cs typeface="Arial"/>
              </a:defRPr>
            </a:lvl5pPr>
            <a:lvl6pPr>
              <a:defRPr sz="1575">
                <a:solidFill>
                  <a:srgbClr val="565A70"/>
                </a:solidFill>
                <a:latin typeface="Arial"/>
                <a:ea typeface="Arial"/>
                <a:cs typeface="Arial"/>
              </a:defRPr>
            </a:lvl6pPr>
            <a:lvl7pPr>
              <a:defRPr sz="1575">
                <a:solidFill>
                  <a:srgbClr val="565A70"/>
                </a:solidFill>
                <a:latin typeface="Arial"/>
                <a:ea typeface="Arial"/>
                <a:cs typeface="Arial"/>
              </a:defRPr>
            </a:lvl7pPr>
            <a:lvl8pPr>
              <a:defRPr sz="1575">
                <a:solidFill>
                  <a:srgbClr val="565A70"/>
                </a:solidFill>
                <a:latin typeface="Arial"/>
                <a:ea typeface="Arial"/>
                <a:cs typeface="Arial"/>
              </a:defRPr>
            </a:lvl8pPr>
            <a:lvl9pPr>
              <a:defRPr sz="1575">
                <a:solidFill>
                  <a:srgbClr val="565A70"/>
                </a:solidFill>
                <a:latin typeface="Arial"/>
                <a:ea typeface="Arial"/>
                <a:cs typeface="Arial"/>
              </a:defRPr>
            </a:lvl9pPr>
          </a:lstStyle>
          <a:p xmlns:a="http://schemas.openxmlformats.org/drawingml/2006/main">
            <a:pPr>
              <a:defRPr sz="1575">
                <a:solidFill>
                  <a:srgbClr val="565A70"/>
                </a:solidFill>
                <a:latin typeface="Arial"/>
                <a:ea typeface="Arial"/>
                <a:cs typeface="Arial"/>
              </a:defRPr>
            </a:pPr>
            <a:r>
              <a:rPr sz="1575">
                <a:solidFill>
                  <a:srgbClr val="565A70"/>
                </a:solidFill>
                <a:latin typeface="Arial"/>
                <a:ea typeface="Arial"/>
                <a:cs typeface="Arial"/>
              </a:rPr>
              <a:t>Os testes verificam a política implementada. Não medem detecção de fraude em clientes reais.</a:t>
            </a:r>
          </a:p>
        </p:txBody>
      </p:sp>
    </p:spTree>
    <p:extLst>
      <p:ext uri="{BB962C8B-B14F-4D97-AF65-F5344CB8AC3E}">
        <p14:creationId xmlns:p14="http://schemas.microsoft.com/office/powerpoint/2010/main" val="569865641"/>
      </p:ext>
    </p:extLst>
  </p:cSld>
</p:sld>
</file>

<file path=ppt/slides/slide9.xml><?xml version="1.0" encoding="utf-8"?>
<p:sld xmlns:p="http://schemas.openxmlformats.org/presentationml/2006/main">
  <p:cSld>
    <p:bg>
      <p:bgPr>
        <a:solidFill xmlns:a="http://schemas.openxmlformats.org/drawingml/2006/main">
          <a:srgbClr val="10132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C46C271-B476-41B8-A040-A3EC5C116900}"/>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Limites assumidos</a:t>
            </a:r>
          </a:p>
        </p:txBody>
      </p:sp>
      <p:sp>
        <p:nvSpPr>
          <p:cNvPr id="2" name="page-number">
            <a:extLst xmlns:a="http://schemas.openxmlformats.org/drawingml/2006/main">
              <a:ext uri="{FF2B5EF4-FFF2-40B4-BE49-F238E27FC236}">
                <a16:creationId xmlns:a16="http://schemas.microsoft.com/office/drawing/2014/main" id="{9EF3E77B-562E-41AF-8F03-B39D5B00CB7D}"/>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C7B8F5"/>
                </a:solidFill>
                <a:latin typeface="Arial"/>
                <a:ea typeface="Arial"/>
                <a:cs typeface="Arial"/>
              </a:defRPr>
            </a:defPPr>
            <a:lvl1pPr algn="r">
              <a:defRPr sz="1500">
                <a:solidFill>
                  <a:srgbClr val="C7B8F5"/>
                </a:solidFill>
                <a:latin typeface="Arial"/>
                <a:ea typeface="Arial"/>
                <a:cs typeface="Arial"/>
              </a:defRPr>
            </a:lvl1pPr>
            <a:lvl2pPr algn="r">
              <a:defRPr sz="1500">
                <a:solidFill>
                  <a:srgbClr val="C7B8F5"/>
                </a:solidFill>
                <a:latin typeface="Arial"/>
                <a:ea typeface="Arial"/>
                <a:cs typeface="Arial"/>
              </a:defRPr>
            </a:lvl2pPr>
            <a:lvl3pPr algn="r">
              <a:defRPr sz="1500">
                <a:solidFill>
                  <a:srgbClr val="C7B8F5"/>
                </a:solidFill>
                <a:latin typeface="Arial"/>
                <a:ea typeface="Arial"/>
                <a:cs typeface="Arial"/>
              </a:defRPr>
            </a:lvl3pPr>
            <a:lvl4pPr algn="r">
              <a:defRPr sz="1500">
                <a:solidFill>
                  <a:srgbClr val="C7B8F5"/>
                </a:solidFill>
                <a:latin typeface="Arial"/>
                <a:ea typeface="Arial"/>
                <a:cs typeface="Arial"/>
              </a:defRPr>
            </a:lvl4pPr>
            <a:lvl5pPr algn="r">
              <a:defRPr sz="1500">
                <a:solidFill>
                  <a:srgbClr val="C7B8F5"/>
                </a:solidFill>
                <a:latin typeface="Arial"/>
                <a:ea typeface="Arial"/>
                <a:cs typeface="Arial"/>
              </a:defRPr>
            </a:lvl5pPr>
            <a:lvl6pPr algn="r">
              <a:defRPr sz="1500">
                <a:solidFill>
                  <a:srgbClr val="C7B8F5"/>
                </a:solidFill>
                <a:latin typeface="Arial"/>
                <a:ea typeface="Arial"/>
                <a:cs typeface="Arial"/>
              </a:defRPr>
            </a:lvl6pPr>
            <a:lvl7pPr algn="r">
              <a:defRPr sz="1500">
                <a:solidFill>
                  <a:srgbClr val="C7B8F5"/>
                </a:solidFill>
                <a:latin typeface="Arial"/>
                <a:ea typeface="Arial"/>
                <a:cs typeface="Arial"/>
              </a:defRPr>
            </a:lvl7pPr>
            <a:lvl8pPr algn="r">
              <a:defRPr sz="1500">
                <a:solidFill>
                  <a:srgbClr val="C7B8F5"/>
                </a:solidFill>
                <a:latin typeface="Arial"/>
                <a:ea typeface="Arial"/>
                <a:cs typeface="Arial"/>
              </a:defRPr>
            </a:lvl8pPr>
            <a:lvl9pPr algn="r">
              <a:defRPr sz="1500">
                <a:solidFill>
                  <a:srgbClr val="C7B8F5"/>
                </a:solidFill>
                <a:latin typeface="Arial"/>
                <a:ea typeface="Arial"/>
                <a:cs typeface="Arial"/>
              </a:defRPr>
            </a:lvl9pPr>
          </a:lstStyle>
          <a:p xmlns:a="http://schemas.openxmlformats.org/drawingml/2006/main">
            <a:pPr algn="r">
              <a:defRPr sz="1500">
                <a:solidFill>
                  <a:srgbClr val="C7B8F5"/>
                </a:solidFill>
                <a:latin typeface="Arial"/>
                <a:ea typeface="Arial"/>
                <a:cs typeface="Arial"/>
              </a:defRPr>
            </a:pPr>
            <a:r>
              <a:rPr sz="1500">
                <a:solidFill>
                  <a:srgbClr val="C7B8F5"/>
                </a:solidFill>
                <a:latin typeface="Arial"/>
                <a:ea typeface="Arial"/>
                <a:cs typeface="Arial"/>
              </a:rPr>
              <a:t>09</a:t>
            </a:r>
          </a:p>
        </p:txBody>
      </p:sp>
      <p:sp>
        <p:nvSpPr>
          <p:cNvPr id="3" name="limit-parameters">
            <a:extLst xmlns:a="http://schemas.openxmlformats.org/drawingml/2006/main">
              <a:ext uri="{FF2B5EF4-FFF2-40B4-BE49-F238E27FC236}">
                <a16:creationId xmlns:a16="http://schemas.microsoft.com/office/drawing/2014/main" id="{85677E45-23B3-49C8-818D-ABCA25AF73C2}"/>
              </a:ext>
            </a:extLst>
          </p:cNvPr>
          <p:cNvSpPr>
            <a:spLocks xmlns:a="http://schemas.openxmlformats.org/drawingml/2006/main" noGrp="1"/>
          </p:cNvSpPr>
          <p:nvPr/>
        </p:nvSpPr>
        <p:spPr>
          <a:xfrm xmlns:a="http://schemas.openxmlformats.org/drawingml/2006/main">
            <a:off x="685800" y="17430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FFFFFF"/>
                </a:solidFill>
                <a:latin typeface="Arial"/>
                <a:ea typeface="Arial"/>
                <a:cs typeface="Arial"/>
              </a:defRPr>
            </a:defPPr>
            <a:lvl1pPr>
              <a:defRPr sz="2625" b="1">
                <a:solidFill>
                  <a:srgbClr val="FFFFFF"/>
                </a:solidFill>
                <a:latin typeface="Arial"/>
                <a:ea typeface="Arial"/>
                <a:cs typeface="Arial"/>
              </a:defRPr>
            </a:lvl1pPr>
            <a:lvl2pPr>
              <a:defRPr sz="2625" b="1">
                <a:solidFill>
                  <a:srgbClr val="FFFFFF"/>
                </a:solidFill>
                <a:latin typeface="Arial"/>
                <a:ea typeface="Arial"/>
                <a:cs typeface="Arial"/>
              </a:defRPr>
            </a:lvl2pPr>
            <a:lvl3pPr>
              <a:defRPr sz="2625" b="1">
                <a:solidFill>
                  <a:srgbClr val="FFFFFF"/>
                </a:solidFill>
                <a:latin typeface="Arial"/>
                <a:ea typeface="Arial"/>
                <a:cs typeface="Arial"/>
              </a:defRPr>
            </a:lvl3pPr>
            <a:lvl4pPr>
              <a:defRPr sz="2625" b="1">
                <a:solidFill>
                  <a:srgbClr val="FFFFFF"/>
                </a:solidFill>
                <a:latin typeface="Arial"/>
                <a:ea typeface="Arial"/>
                <a:cs typeface="Arial"/>
              </a:defRPr>
            </a:lvl4pPr>
            <a:lvl5pPr>
              <a:defRPr sz="2625" b="1">
                <a:solidFill>
                  <a:srgbClr val="FFFFFF"/>
                </a:solidFill>
                <a:latin typeface="Arial"/>
                <a:ea typeface="Arial"/>
                <a:cs typeface="Arial"/>
              </a:defRPr>
            </a:lvl5pPr>
            <a:lvl6pPr>
              <a:defRPr sz="2625" b="1">
                <a:solidFill>
                  <a:srgbClr val="FFFFFF"/>
                </a:solidFill>
                <a:latin typeface="Arial"/>
                <a:ea typeface="Arial"/>
                <a:cs typeface="Arial"/>
              </a:defRPr>
            </a:lvl6pPr>
            <a:lvl7pPr>
              <a:defRPr sz="2625" b="1">
                <a:solidFill>
                  <a:srgbClr val="FFFFFF"/>
                </a:solidFill>
                <a:latin typeface="Arial"/>
                <a:ea typeface="Arial"/>
                <a:cs typeface="Arial"/>
              </a:defRPr>
            </a:lvl7pPr>
            <a:lvl8pPr>
              <a:defRPr sz="2625" b="1">
                <a:solidFill>
                  <a:srgbClr val="FFFFFF"/>
                </a:solidFill>
                <a:latin typeface="Arial"/>
                <a:ea typeface="Arial"/>
                <a:cs typeface="Arial"/>
              </a:defRPr>
            </a:lvl8pPr>
            <a:lvl9pPr>
              <a:defRPr sz="2625" b="1">
                <a:solidFill>
                  <a:srgbClr val="FFFFFF"/>
                </a:solidFill>
                <a:latin typeface="Arial"/>
                <a:ea typeface="Arial"/>
                <a:cs typeface="Arial"/>
              </a:defRPr>
            </a:lvl9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Parâmetros iniciais, sem base real de fraude</a:t>
            </a:r>
          </a:p>
        </p:txBody>
      </p:sp>
      <p:sp>
        <p:nvSpPr>
          <p:cNvPr id="4" name="limit-source">
            <a:extLst xmlns:a="http://schemas.openxmlformats.org/drawingml/2006/main">
              <a:ext uri="{FF2B5EF4-FFF2-40B4-BE49-F238E27FC236}">
                <a16:creationId xmlns:a16="http://schemas.microsoft.com/office/drawing/2014/main" id="{4412953B-DC5B-4BA3-AC31-B157A41E02B0}"/>
              </a:ext>
            </a:extLst>
          </p:cNvPr>
          <p:cNvSpPr>
            <a:spLocks xmlns:a="http://schemas.openxmlformats.org/drawingml/2006/main" noGrp="1"/>
          </p:cNvSpPr>
          <p:nvPr/>
        </p:nvSpPr>
        <p:spPr>
          <a:xfrm xmlns:a="http://schemas.openxmlformats.org/drawingml/2006/main">
            <a:off x="685800" y="26670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FFFFFF"/>
                </a:solidFill>
                <a:latin typeface="Arial"/>
                <a:ea typeface="Arial"/>
                <a:cs typeface="Arial"/>
              </a:defRPr>
            </a:defPPr>
            <a:lvl1pPr>
              <a:defRPr sz="2475">
                <a:solidFill>
                  <a:srgbClr val="FFFFFF"/>
                </a:solidFill>
                <a:latin typeface="Arial"/>
                <a:ea typeface="Arial"/>
                <a:cs typeface="Arial"/>
              </a:defRPr>
            </a:lvl1pPr>
            <a:lvl2pPr>
              <a:defRPr sz="2475">
                <a:solidFill>
                  <a:srgbClr val="FFFFFF"/>
                </a:solidFill>
                <a:latin typeface="Arial"/>
                <a:ea typeface="Arial"/>
                <a:cs typeface="Arial"/>
              </a:defRPr>
            </a:lvl2pPr>
            <a:lvl3pPr>
              <a:defRPr sz="2475">
                <a:solidFill>
                  <a:srgbClr val="FFFFFF"/>
                </a:solidFill>
                <a:latin typeface="Arial"/>
                <a:ea typeface="Arial"/>
                <a:cs typeface="Arial"/>
              </a:defRPr>
            </a:lvl3pPr>
            <a:lvl4pPr>
              <a:defRPr sz="2475">
                <a:solidFill>
                  <a:srgbClr val="FFFFFF"/>
                </a:solidFill>
                <a:latin typeface="Arial"/>
                <a:ea typeface="Arial"/>
                <a:cs typeface="Arial"/>
              </a:defRPr>
            </a:lvl4pPr>
            <a:lvl5pPr>
              <a:defRPr sz="2475">
                <a:solidFill>
                  <a:srgbClr val="FFFFFF"/>
                </a:solidFill>
                <a:latin typeface="Arial"/>
                <a:ea typeface="Arial"/>
                <a:cs typeface="Arial"/>
              </a:defRPr>
            </a:lvl5pPr>
            <a:lvl6pPr>
              <a:defRPr sz="2475">
                <a:solidFill>
                  <a:srgbClr val="FFFFFF"/>
                </a:solidFill>
                <a:latin typeface="Arial"/>
                <a:ea typeface="Arial"/>
                <a:cs typeface="Arial"/>
              </a:defRPr>
            </a:lvl6pPr>
            <a:lvl7pPr>
              <a:defRPr sz="2475">
                <a:solidFill>
                  <a:srgbClr val="FFFFFF"/>
                </a:solidFill>
                <a:latin typeface="Arial"/>
                <a:ea typeface="Arial"/>
                <a:cs typeface="Arial"/>
              </a:defRPr>
            </a:lvl7pPr>
            <a:lvl8pPr>
              <a:defRPr sz="2475">
                <a:solidFill>
                  <a:srgbClr val="FFFFFF"/>
                </a:solidFill>
                <a:latin typeface="Arial"/>
                <a:ea typeface="Arial"/>
                <a:cs typeface="Arial"/>
              </a:defRPr>
            </a:lvl8pPr>
            <a:lvl9pPr>
              <a:defRPr sz="2475">
                <a:solidFill>
                  <a:srgbClr val="FFFFFF"/>
                </a:solidFill>
                <a:latin typeface="Arial"/>
                <a:ea typeface="Arial"/>
                <a:cs typeface="Arial"/>
              </a:defRPr>
            </a:lvl9pPr>
          </a:lstStyle>
          <a:p xmlns:a="http://schemas.openxmlformats.org/drawingml/2006/main">
            <a:pPr>
              <a:defRPr sz="2475">
                <a:solidFill>
                  <a:srgbClr val="FFFFFF"/>
                </a:solidFill>
                <a:latin typeface="Arial"/>
                <a:ea typeface="Arial"/>
                <a:cs typeface="Arial"/>
              </a:defRPr>
            </a:pPr>
            <a:r>
              <a:rPr sz="2475">
                <a:solidFill>
                  <a:srgbClr val="FFFFFF"/>
                </a:solidFill>
                <a:latin typeface="Arial"/>
                <a:ea typeface="Arial"/>
                <a:cs typeface="Arial"/>
              </a:rPr>
              <a:t>Fonte externa simulada e risco de sinal desatualizado</a:t>
            </a:r>
          </a:p>
        </p:txBody>
      </p:sp>
      <p:sp>
        <p:nvSpPr>
          <p:cNvPr id="5" name="next-step">
            <a:extLst xmlns:a="http://schemas.openxmlformats.org/drawingml/2006/main">
              <a:ext uri="{FF2B5EF4-FFF2-40B4-BE49-F238E27FC236}">
                <a16:creationId xmlns:a16="http://schemas.microsoft.com/office/drawing/2014/main" id="{0259B178-C1F1-41FF-8EC5-422DBC209778}"/>
              </a:ext>
            </a:extLst>
          </p:cNvPr>
          <p:cNvSpPr>
            <a:spLocks xmlns:a="http://schemas.openxmlformats.org/drawingml/2006/main" noGrp="1"/>
          </p:cNvSpPr>
          <p:nvPr/>
        </p:nvSpPr>
        <p:spPr>
          <a:xfrm xmlns:a="http://schemas.openxmlformats.org/drawingml/2006/main">
            <a:off x="685800" y="3629025"/>
            <a:ext cx="108204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DDD5F3"/>
                </a:solidFill>
                <a:latin typeface="Arial"/>
                <a:ea typeface="Arial"/>
                <a:cs typeface="Arial"/>
              </a:defRPr>
            </a:defPPr>
            <a:lvl1pPr>
              <a:defRPr sz="2475">
                <a:solidFill>
                  <a:srgbClr val="DDD5F3"/>
                </a:solidFill>
                <a:latin typeface="Arial"/>
                <a:ea typeface="Arial"/>
                <a:cs typeface="Arial"/>
              </a:defRPr>
            </a:lvl1pPr>
            <a:lvl2pPr>
              <a:defRPr sz="2475">
                <a:solidFill>
                  <a:srgbClr val="DDD5F3"/>
                </a:solidFill>
                <a:latin typeface="Arial"/>
                <a:ea typeface="Arial"/>
                <a:cs typeface="Arial"/>
              </a:defRPr>
            </a:lvl2pPr>
            <a:lvl3pPr>
              <a:defRPr sz="2475">
                <a:solidFill>
                  <a:srgbClr val="DDD5F3"/>
                </a:solidFill>
                <a:latin typeface="Arial"/>
                <a:ea typeface="Arial"/>
                <a:cs typeface="Arial"/>
              </a:defRPr>
            </a:lvl3pPr>
            <a:lvl4pPr>
              <a:defRPr sz="2475">
                <a:solidFill>
                  <a:srgbClr val="DDD5F3"/>
                </a:solidFill>
                <a:latin typeface="Arial"/>
                <a:ea typeface="Arial"/>
                <a:cs typeface="Arial"/>
              </a:defRPr>
            </a:lvl4pPr>
            <a:lvl5pPr>
              <a:defRPr sz="2475">
                <a:solidFill>
                  <a:srgbClr val="DDD5F3"/>
                </a:solidFill>
                <a:latin typeface="Arial"/>
                <a:ea typeface="Arial"/>
                <a:cs typeface="Arial"/>
              </a:defRPr>
            </a:lvl5pPr>
            <a:lvl6pPr>
              <a:defRPr sz="2475">
                <a:solidFill>
                  <a:srgbClr val="DDD5F3"/>
                </a:solidFill>
                <a:latin typeface="Arial"/>
                <a:ea typeface="Arial"/>
                <a:cs typeface="Arial"/>
              </a:defRPr>
            </a:lvl6pPr>
            <a:lvl7pPr>
              <a:defRPr sz="2475">
                <a:solidFill>
                  <a:srgbClr val="DDD5F3"/>
                </a:solidFill>
                <a:latin typeface="Arial"/>
                <a:ea typeface="Arial"/>
                <a:cs typeface="Arial"/>
              </a:defRPr>
            </a:lvl7pPr>
            <a:lvl8pPr>
              <a:defRPr sz="2475">
                <a:solidFill>
                  <a:srgbClr val="DDD5F3"/>
                </a:solidFill>
                <a:latin typeface="Arial"/>
                <a:ea typeface="Arial"/>
                <a:cs typeface="Arial"/>
              </a:defRPr>
            </a:lvl8pPr>
            <a:lvl9pPr>
              <a:defRPr sz="2475">
                <a:solidFill>
                  <a:srgbClr val="DDD5F3"/>
                </a:solidFill>
                <a:latin typeface="Arial"/>
                <a:ea typeface="Arial"/>
                <a:cs typeface="Arial"/>
              </a:defRPr>
            </a:lvl9pPr>
          </a:lstStyle>
          <a:p xmlns:a="http://schemas.openxmlformats.org/drawingml/2006/main">
            <a:pPr>
              <a:defRPr sz="2475">
                <a:solidFill>
                  <a:srgbClr val="DDD5F3"/>
                </a:solidFill>
                <a:latin typeface="Arial"/>
                <a:ea typeface="Arial"/>
                <a:cs typeface="Arial"/>
              </a:defRPr>
            </a:pPr>
            <a:r>
              <a:rPr sz="2475">
                <a:solidFill>
                  <a:srgbClr val="DDD5F3"/>
                </a:solidFill>
                <a:latin typeface="Arial"/>
                <a:ea typeface="Arial"/>
                <a:cs typeface="Arial"/>
              </a:rPr>
              <a:t>Próximo passo: medir fraude, falso positivo e latência</a:t>
            </a:r>
          </a:p>
          <a:p xmlns:a="http://schemas.openxmlformats.org/drawingml/2006/main">
            <a:pPr>
              <a:defRPr sz="2475">
                <a:solidFill>
                  <a:srgbClr val="DDD5F3"/>
                </a:solidFill>
                <a:latin typeface="Arial"/>
                <a:ea typeface="Arial"/>
                <a:cs typeface="Arial"/>
              </a:defRPr>
            </a:pPr>
            <a:r>
              <a:rPr sz="2475">
                <a:solidFill>
                  <a:srgbClr val="DDD5F3"/>
                </a:solidFill>
                <a:latin typeface="Arial"/>
                <a:ea typeface="Arial"/>
                <a:cs typeface="Arial"/>
              </a:rPr>
              <a:t>para calibrar a política.</a:t>
            </a:r>
          </a:p>
        </p:txBody>
      </p:sp>
      <p:sp>
        <p:nvSpPr>
          <p:cNvPr id="6" name="repo-label">
            <a:extLst xmlns:a="http://schemas.openxmlformats.org/drawingml/2006/main">
              <a:ext uri="{FF2B5EF4-FFF2-40B4-BE49-F238E27FC236}">
                <a16:creationId xmlns:a16="http://schemas.microsoft.com/office/drawing/2014/main" id="{B3E95A59-2C73-4CC8-B1BC-0A364967133A}"/>
              </a:ext>
            </a:extLst>
          </p:cNvPr>
          <p:cNvSpPr>
            <a:spLocks xmlns:a="http://schemas.openxmlformats.org/drawingml/2006/main" noGrp="1"/>
          </p:cNvSpPr>
          <p:nvPr/>
        </p:nvSpPr>
        <p:spPr>
          <a:xfrm xmlns:a="http://schemas.openxmlformats.org/drawingml/2006/main">
            <a:off x="685800" y="52863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Código, regras e execução na branch v3</a:t>
            </a:r>
          </a:p>
        </p:txBody>
      </p:sp>
      <p:sp>
        <p:nvSpPr>
          <p:cNvPr id="7" name="repo-url">
            <a:extLst xmlns:a="http://schemas.openxmlformats.org/drawingml/2006/main">
              <a:ext uri="{FF2B5EF4-FFF2-40B4-BE49-F238E27FC236}">
                <a16:creationId xmlns:a16="http://schemas.microsoft.com/office/drawing/2014/main" id="{9F7EECD2-2E8D-46BA-A7A9-02690BD26AC7}"/>
              </a:ext>
            </a:extLst>
          </p:cNvPr>
          <p:cNvSpPr>
            <a:spLocks xmlns:a="http://schemas.openxmlformats.org/drawingml/2006/main" noGrp="1"/>
          </p:cNvSpPr>
          <p:nvPr/>
        </p:nvSpPr>
        <p:spPr>
          <a:xfrm xmlns:a="http://schemas.openxmlformats.org/drawingml/2006/main">
            <a:off x="685800" y="57912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B8E8DE"/>
                </a:solidFill>
                <a:latin typeface="Arial"/>
                <a:ea typeface="Arial"/>
                <a:cs typeface="Arial"/>
              </a:defRPr>
            </a:defPPr>
            <a:lvl1pPr>
              <a:defRPr sz="1875">
                <a:solidFill>
                  <a:srgbClr val="B8E8DE"/>
                </a:solidFill>
                <a:latin typeface="Arial"/>
                <a:ea typeface="Arial"/>
                <a:cs typeface="Arial"/>
              </a:defRPr>
            </a:lvl1pPr>
            <a:lvl2pPr>
              <a:defRPr sz="1875">
                <a:solidFill>
                  <a:srgbClr val="B8E8DE"/>
                </a:solidFill>
                <a:latin typeface="Arial"/>
                <a:ea typeface="Arial"/>
                <a:cs typeface="Arial"/>
              </a:defRPr>
            </a:lvl2pPr>
            <a:lvl3pPr>
              <a:defRPr sz="1875">
                <a:solidFill>
                  <a:srgbClr val="B8E8DE"/>
                </a:solidFill>
                <a:latin typeface="Arial"/>
                <a:ea typeface="Arial"/>
                <a:cs typeface="Arial"/>
              </a:defRPr>
            </a:lvl3pPr>
            <a:lvl4pPr>
              <a:defRPr sz="1875">
                <a:solidFill>
                  <a:srgbClr val="B8E8DE"/>
                </a:solidFill>
                <a:latin typeface="Arial"/>
                <a:ea typeface="Arial"/>
                <a:cs typeface="Arial"/>
              </a:defRPr>
            </a:lvl4pPr>
            <a:lvl5pPr>
              <a:defRPr sz="1875">
                <a:solidFill>
                  <a:srgbClr val="B8E8DE"/>
                </a:solidFill>
                <a:latin typeface="Arial"/>
                <a:ea typeface="Arial"/>
                <a:cs typeface="Arial"/>
              </a:defRPr>
            </a:lvl5pPr>
            <a:lvl6pPr>
              <a:defRPr sz="1875">
                <a:solidFill>
                  <a:srgbClr val="B8E8DE"/>
                </a:solidFill>
                <a:latin typeface="Arial"/>
                <a:ea typeface="Arial"/>
                <a:cs typeface="Arial"/>
              </a:defRPr>
            </a:lvl6pPr>
            <a:lvl7pPr>
              <a:defRPr sz="1875">
                <a:solidFill>
                  <a:srgbClr val="B8E8DE"/>
                </a:solidFill>
                <a:latin typeface="Arial"/>
                <a:ea typeface="Arial"/>
                <a:cs typeface="Arial"/>
              </a:defRPr>
            </a:lvl7pPr>
            <a:lvl8pPr>
              <a:defRPr sz="1875">
                <a:solidFill>
                  <a:srgbClr val="B8E8DE"/>
                </a:solidFill>
                <a:latin typeface="Arial"/>
                <a:ea typeface="Arial"/>
                <a:cs typeface="Arial"/>
              </a:defRPr>
            </a:lvl8pPr>
            <a:lvl9pPr>
              <a:defRPr sz="1875">
                <a:solidFill>
                  <a:srgbClr val="B8E8DE"/>
                </a:solidFill>
                <a:latin typeface="Arial"/>
                <a:ea typeface="Arial"/>
                <a:cs typeface="Arial"/>
              </a:defRPr>
            </a:lvl9pPr>
          </a:lstStyle>
          <a:p xmlns:a="http://schemas.openxmlformats.org/drawingml/2006/main">
            <a:pPr>
              <a:defRPr sz="1875">
                <a:solidFill>
                  <a:srgbClr val="B8E8DE"/>
                </a:solidFill>
                <a:latin typeface="Arial"/>
                <a:ea typeface="Arial"/>
                <a:cs typeface="Arial"/>
              </a:defRPr>
            </a:pPr>
            <a:r>
              <a:rPr sz="1875">
                <a:solidFill>
                  <a:srgbClr val="B8E8DE"/>
                </a:solidFill>
                <a:latin typeface="Arial"/>
                <a:ea typeface="Arial"/>
                <a:cs typeface="Arial"/>
                <a:hlinkClick xmlns:r="http://schemas.openxmlformats.org/officeDocument/2006/relationships" r:id="R36f7daf504bc43a8"/>
              </a:rPr>
              <a:t>github.com/LuigiNakata10/antifraude-pix-teste/tree/v3</a:t>
            </a:r>
          </a:p>
        </p:txBody>
      </p:sp>
    </p:spTree>
    <p:extLst>
      <p:ext uri="{BB962C8B-B14F-4D97-AF65-F5344CB8AC3E}">
        <p14:creationId xmlns:p14="http://schemas.microsoft.com/office/powerpoint/2010/main" val="903299848"/>
      </p:ext>
    </p:extLst>
  </p:cSld>
</p:sld>
</file>

<file path=ppt/slides/slide10.xml><?xml version="1.0" encoding="utf-8"?>
<p:sld xmlns:p="http://schemas.openxmlformats.org/presentationml/2006/main" show="0">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C64CA4E-28CB-4248-A13A-DCF41C776ED8}"/>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Prioridade das regras</a:t>
            </a:r>
          </a:p>
        </p:txBody>
      </p:sp>
      <p:sp>
        <p:nvSpPr>
          <p:cNvPr id="2" name="page-number">
            <a:extLst xmlns:a="http://schemas.openxmlformats.org/drawingml/2006/main">
              <a:ext uri="{FF2B5EF4-FFF2-40B4-BE49-F238E27FC236}">
                <a16:creationId xmlns:a16="http://schemas.microsoft.com/office/drawing/2014/main" id="{4227174A-0122-4EB3-BAF0-76FFDE282E7C}"/>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A1</a:t>
            </a:r>
          </a:p>
        </p:txBody>
      </p:sp>
      <p:sp>
        <p:nvSpPr>
          <p:cNvPr id="3" name="priority-caption">
            <a:extLst xmlns:a="http://schemas.openxmlformats.org/drawingml/2006/main">
              <a:ext uri="{FF2B5EF4-FFF2-40B4-BE49-F238E27FC236}">
                <a16:creationId xmlns:a16="http://schemas.microsoft.com/office/drawing/2014/main" id="{24E4FDB7-F80C-4195-A32C-BD79276BE2C2}"/>
              </a:ext>
            </a:extLst>
          </p:cNvPr>
          <p:cNvSpPr>
            <a:spLocks xmlns:a="http://schemas.openxmlformats.org/drawingml/2006/main" noGrp="1"/>
          </p:cNvSpPr>
          <p:nvPr/>
        </p:nvSpPr>
        <p:spPr>
          <a:xfrm xmlns:a="http://schemas.openxmlformats.org/drawingml/2006/main">
            <a:off x="685800" y="15049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6745C4"/>
                </a:solidFill>
                <a:latin typeface="Arial"/>
                <a:ea typeface="Arial"/>
                <a:cs typeface="Arial"/>
              </a:defRPr>
            </a:defPPr>
            <a:lvl1pPr>
              <a:defRPr sz="2025">
                <a:solidFill>
                  <a:srgbClr val="6745C4"/>
                </a:solidFill>
                <a:latin typeface="Arial"/>
                <a:ea typeface="Arial"/>
                <a:cs typeface="Arial"/>
              </a:defRPr>
            </a:lvl1pPr>
            <a:lvl2pPr>
              <a:defRPr sz="2025">
                <a:solidFill>
                  <a:srgbClr val="6745C4"/>
                </a:solidFill>
                <a:latin typeface="Arial"/>
                <a:ea typeface="Arial"/>
                <a:cs typeface="Arial"/>
              </a:defRPr>
            </a:lvl2pPr>
            <a:lvl3pPr>
              <a:defRPr sz="2025">
                <a:solidFill>
                  <a:srgbClr val="6745C4"/>
                </a:solidFill>
                <a:latin typeface="Arial"/>
                <a:ea typeface="Arial"/>
                <a:cs typeface="Arial"/>
              </a:defRPr>
            </a:lvl3pPr>
            <a:lvl4pPr>
              <a:defRPr sz="2025">
                <a:solidFill>
                  <a:srgbClr val="6745C4"/>
                </a:solidFill>
                <a:latin typeface="Arial"/>
                <a:ea typeface="Arial"/>
                <a:cs typeface="Arial"/>
              </a:defRPr>
            </a:lvl4pPr>
            <a:lvl5pPr>
              <a:defRPr sz="2025">
                <a:solidFill>
                  <a:srgbClr val="6745C4"/>
                </a:solidFill>
                <a:latin typeface="Arial"/>
                <a:ea typeface="Arial"/>
                <a:cs typeface="Arial"/>
              </a:defRPr>
            </a:lvl5pPr>
            <a:lvl6pPr>
              <a:defRPr sz="2025">
                <a:solidFill>
                  <a:srgbClr val="6745C4"/>
                </a:solidFill>
                <a:latin typeface="Arial"/>
                <a:ea typeface="Arial"/>
                <a:cs typeface="Arial"/>
              </a:defRPr>
            </a:lvl6pPr>
            <a:lvl7pPr>
              <a:defRPr sz="2025">
                <a:solidFill>
                  <a:srgbClr val="6745C4"/>
                </a:solidFill>
                <a:latin typeface="Arial"/>
                <a:ea typeface="Arial"/>
                <a:cs typeface="Arial"/>
              </a:defRPr>
            </a:lvl7pPr>
            <a:lvl8pPr>
              <a:defRPr sz="2025">
                <a:solidFill>
                  <a:srgbClr val="6745C4"/>
                </a:solidFill>
                <a:latin typeface="Arial"/>
                <a:ea typeface="Arial"/>
                <a:cs typeface="Arial"/>
              </a:defRPr>
            </a:lvl8pPr>
            <a:lvl9pPr>
              <a:defRPr sz="2025">
                <a:solidFill>
                  <a:srgbClr val="6745C4"/>
                </a:solidFill>
                <a:latin typeface="Arial"/>
                <a:ea typeface="Arial"/>
                <a:cs typeface="Arial"/>
              </a:defRPr>
            </a:lvl9pPr>
          </a:lstStyle>
          <a:p xmlns:a="http://schemas.openxmlformats.org/drawingml/2006/main">
            <a:pPr>
              <a:defRPr sz="2025">
                <a:solidFill>
                  <a:srgbClr val="6745C4"/>
                </a:solidFill>
                <a:latin typeface="Arial"/>
                <a:ea typeface="Arial"/>
                <a:cs typeface="Arial"/>
              </a:defRPr>
            </a:pPr>
            <a:r>
              <a:rPr sz="2025">
                <a:solidFill>
                  <a:srgbClr val="6745C4"/>
                </a:solidFill>
                <a:latin typeface="Arial"/>
                <a:ea typeface="Arial"/>
                <a:cs typeface="Arial"/>
              </a:rPr>
              <a:t>Primeira condição aplicável. Rejeições precedem pedidos de 2FA.</a:t>
            </a:r>
          </a:p>
        </p:txBody>
      </p:sp>
      <p:graphicFrame>
        <p:nvGraphicFramePr>
          <p:cNvPr id="4" name="priority-rules">
            <a:extLst xmlns:a="http://schemas.openxmlformats.org/drawingml/2006/main">
              <a:ext uri="{FF2B5EF4-FFF2-40B4-BE49-F238E27FC236}">
                <a16:creationId xmlns:a16="http://schemas.microsoft.com/office/drawing/2014/main" id="{43861A26-9364-4DBC-8C8A-E1EF13183E8C}"/>
              </a:ext>
            </a:extLst>
          </p:cNvPr>
          <p:cNvGraphicFramePr/>
          <p:nvPr/>
        </p:nvGraphicFramePr>
        <p:xfrm>
          <a:off xmlns:a="http://schemas.openxmlformats.org/drawingml/2006/main" x="685800" y="2181225"/>
          <a:ext xmlns:a="http://schemas.openxmlformats.org/drawingml/2006/main" cx="10820400" cy="3771900"/>
        </p:xfrm>
        <a:graphic xmlns:a="http://schemas.openxmlformats.org/drawingml/2006/main">
          <a:graphicData uri="http://schemas.openxmlformats.org/drawingml/2006/table">
            <a:tbl>
              <a:tblPr firstRow="0" bandRow="0"/>
              <a:tblGrid>
                <a:gridCol w="1333500"/>
                <a:gridCol w="7391400"/>
                <a:gridCol w="2095500"/>
              </a:tblGrid>
              <a:tr h="419100">
                <a:tc>
                  <a:txBody>
                    <a:bodyPr wrap="square" lIns="133350" tIns="133350" rIns="133350" bIns="133350">
                      <a:noAutofit/>
                    </a:bodyPr>
                    <a:lstStyle/>
                    <a:p>
                      <a:r>
                        <a:rPr sz="1800" b="1">
                          <a:solidFill>
                            <a:srgbClr val="6745C4"/>
                          </a:solidFill>
                          <a:latin typeface="Arial"/>
                          <a:ea typeface="Arial"/>
                          <a:cs typeface="Arial"/>
                        </a:rPr>
                        <a:t>Ordem</a:t>
                      </a:r>
                    </a:p>
                  </a:txBody>
                  <a:tcPr marL="91440" marR="91440" marT="45720" marB="45720" anchor="ctr">
                    <a:lnL w="5715">
                      <a:solidFill>
                        <a:srgbClr val="CFCADC"/>
                      </a:solidFill>
                      <a:prstDash val="solid"/>
                    </a:lnL>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00" b="1">
                          <a:solidFill>
                            <a:srgbClr val="6745C4"/>
                          </a:solidFill>
                          <a:latin typeface="Arial"/>
                          <a:ea typeface="Arial"/>
                          <a:cs typeface="Arial"/>
                        </a:rPr>
                        <a:t>Condição resumida</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00" b="1">
                          <a:solidFill>
                            <a:srgbClr val="6745C4"/>
                          </a:solidFill>
                          <a:latin typeface="Arial"/>
                          <a:ea typeface="Arial"/>
                          <a:cs typeface="Arial"/>
                        </a:rPr>
                        <a:t>Saída</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r>
              <a:tr h="419100">
                <a:tc>
                  <a:txBody>
                    <a:bodyPr wrap="square" lIns="133350" tIns="133350" rIns="133350" bIns="133350">
                      <a:noAutofit/>
                    </a:bodyPr>
                    <a:lstStyle/>
                    <a:p>
                      <a:r>
                        <a:rPr sz="1800" b="0">
                          <a:solidFill>
                            <a:srgbClr val="171A30"/>
                          </a:solidFill>
                          <a:latin typeface="Arial"/>
                          <a:ea typeface="Arial"/>
                          <a:cs typeface="Arial"/>
                        </a:rPr>
                        <a:t>R1</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Conta &lt; 7 dias e projeção &gt; R$ 1.000 / 24h</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rejected</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19100">
                <a:tc>
                  <a:txBody>
                    <a:bodyPr wrap="square" lIns="133350" tIns="133350" rIns="133350" bIns="133350">
                      <a:noAutofit/>
                    </a:bodyPr>
                    <a:lstStyle/>
                    <a:p>
                      <a:r>
                        <a:rPr sz="1800" b="0">
                          <a:solidFill>
                            <a:srgbClr val="171A30"/>
                          </a:solidFill>
                          <a:latin typeface="Arial"/>
                          <a:ea typeface="Arial"/>
                          <a:cs typeface="Arial"/>
                        </a:rPr>
                        <a:t>R2</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Projeção &gt; R$ 20.000 / 24h</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rejected</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19100">
                <a:tc>
                  <a:txBody>
                    <a:bodyPr wrap="square" lIns="133350" tIns="133350" rIns="133350" bIns="133350">
                      <a:noAutofit/>
                    </a:bodyPr>
                    <a:lstStyle/>
                    <a:p>
                      <a:r>
                        <a:rPr sz="1800" b="0">
                          <a:solidFill>
                            <a:srgbClr val="171A30"/>
                          </a:solidFill>
                          <a:latin typeface="Arial"/>
                          <a:ea typeface="Arial"/>
                          <a:cs typeface="Arial"/>
                        </a:rPr>
                        <a:t>L1</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Destino elevado, sem relação anterior às evidências</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rejected</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19100">
                <a:tc>
                  <a:txBody>
                    <a:bodyPr wrap="square" lIns="133350" tIns="133350" rIns="133350" bIns="133350">
                      <a:noAutofit/>
                    </a:bodyPr>
                    <a:lstStyle/>
                    <a:p>
                      <a:r>
                        <a:rPr sz="1800" b="0">
                          <a:solidFill>
                            <a:srgbClr val="171A30"/>
                          </a:solidFill>
                          <a:latin typeface="Arial"/>
                          <a:ea typeface="Arial"/>
                          <a:cs typeface="Arial"/>
                        </a:rPr>
                        <a:t>L2</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Pagador elevado e ato fora de gasto típico</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rejected</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19100">
                <a:tc>
                  <a:txBody>
                    <a:bodyPr wrap="square" lIns="133350" tIns="133350" rIns="133350" bIns="133350">
                      <a:noAutofit/>
                    </a:bodyPr>
                    <a:lstStyle/>
                    <a:p>
                      <a:r>
                        <a:rPr sz="1800" b="0">
                          <a:solidFill>
                            <a:srgbClr val="171A30"/>
                          </a:solidFill>
                          <a:latin typeface="Arial"/>
                          <a:ea typeface="Arial"/>
                          <a:cs typeface="Arial"/>
                        </a:rPr>
                        <a:t>L3</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Pagador suspeito e repasse aparente</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rejected</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19100">
                <a:tc>
                  <a:txBody>
                    <a:bodyPr wrap="square" lIns="133350" tIns="133350" rIns="133350" bIns="133350">
                      <a:noAutofit/>
                    </a:bodyPr>
                    <a:lstStyle/>
                    <a:p>
                      <a:r>
                        <a:rPr sz="1800" b="0">
                          <a:solidFill>
                            <a:srgbClr val="171A30"/>
                          </a:solidFill>
                          <a:latin typeface="Arial"/>
                          <a:ea typeface="Arial"/>
                          <a:cs typeface="Arial"/>
                        </a:rPr>
                        <a:t>R4</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Pix ≥ R$ 5.000 e aparelho sem familiaridade</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2FA</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19100">
                <a:tc>
                  <a:txBody>
                    <a:bodyPr wrap="square" lIns="133350" tIns="133350" rIns="133350" bIns="133350">
                      <a:noAutofit/>
                    </a:bodyPr>
                    <a:lstStyle/>
                    <a:p>
                      <a:r>
                        <a:rPr sz="1800" b="0">
                          <a:solidFill>
                            <a:srgbClr val="171A30"/>
                          </a:solidFill>
                          <a:latin typeface="Arial"/>
                          <a:ea typeface="Arial"/>
                          <a:cs typeface="Arial"/>
                        </a:rPr>
                        <a:t>R3</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3ª tentativa distinta em 2 minutos</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2FA</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19100">
                <a:tc>
                  <a:txBody>
                    <a:bodyPr wrap="square" lIns="133350" tIns="133350" rIns="133350" bIns="133350">
                      <a:noAutofit/>
                    </a:bodyPr>
                    <a:lstStyle/>
                    <a:p>
                      <a:r>
                        <a:rPr sz="1800" b="0">
                          <a:solidFill>
                            <a:srgbClr val="171A30"/>
                          </a:solidFill>
                          <a:latin typeface="Arial"/>
                          <a:ea typeface="Arial"/>
                          <a:cs typeface="Arial"/>
                        </a:rPr>
                        <a:t>R5</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Histórico aprovado e valor &gt; 10 × referência</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00" b="0">
                          <a:solidFill>
                            <a:srgbClr val="171A30"/>
                          </a:solidFill>
                          <a:latin typeface="Arial"/>
                          <a:ea typeface="Arial"/>
                          <a:cs typeface="Arial"/>
                        </a:rPr>
                        <a:t>2FA</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bl>
          </a:graphicData>
        </a:graphic>
      </p:graphicFrame>
      <p:sp>
        <p:nvSpPr>
          <p:cNvPr id="5" name="otherwise-approved">
            <a:extLst xmlns:a="http://schemas.openxmlformats.org/drawingml/2006/main">
              <a:ext uri="{FF2B5EF4-FFF2-40B4-BE49-F238E27FC236}">
                <a16:creationId xmlns:a16="http://schemas.microsoft.com/office/drawing/2014/main" id="{CF2AF707-9E27-4AD2-9045-466BAAB3D037}"/>
              </a:ext>
            </a:extLst>
          </p:cNvPr>
          <p:cNvSpPr>
            <a:spLocks xmlns:a="http://schemas.openxmlformats.org/drawingml/2006/main" noGrp="1"/>
          </p:cNvSpPr>
          <p:nvPr/>
        </p:nvSpPr>
        <p:spPr>
          <a:xfrm xmlns:a="http://schemas.openxmlformats.org/drawingml/2006/main">
            <a:off x="685800" y="61341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71A30"/>
                </a:solidFill>
                <a:latin typeface="Arial"/>
                <a:ea typeface="Arial"/>
                <a:cs typeface="Arial"/>
              </a:defRPr>
            </a:defPPr>
            <a:lvl1pPr>
              <a:defRPr sz="1650">
                <a:solidFill>
                  <a:srgbClr val="171A30"/>
                </a:solidFill>
                <a:latin typeface="Arial"/>
                <a:ea typeface="Arial"/>
                <a:cs typeface="Arial"/>
              </a:defRPr>
            </a:lvl1pPr>
            <a:lvl2pPr>
              <a:defRPr sz="1650">
                <a:solidFill>
                  <a:srgbClr val="171A30"/>
                </a:solidFill>
                <a:latin typeface="Arial"/>
                <a:ea typeface="Arial"/>
                <a:cs typeface="Arial"/>
              </a:defRPr>
            </a:lvl2pPr>
            <a:lvl3pPr>
              <a:defRPr sz="1650">
                <a:solidFill>
                  <a:srgbClr val="171A30"/>
                </a:solidFill>
                <a:latin typeface="Arial"/>
                <a:ea typeface="Arial"/>
                <a:cs typeface="Arial"/>
              </a:defRPr>
            </a:lvl3pPr>
            <a:lvl4pPr>
              <a:defRPr sz="1650">
                <a:solidFill>
                  <a:srgbClr val="171A30"/>
                </a:solidFill>
                <a:latin typeface="Arial"/>
                <a:ea typeface="Arial"/>
                <a:cs typeface="Arial"/>
              </a:defRPr>
            </a:lvl4pPr>
            <a:lvl5pPr>
              <a:defRPr sz="1650">
                <a:solidFill>
                  <a:srgbClr val="171A30"/>
                </a:solidFill>
                <a:latin typeface="Arial"/>
                <a:ea typeface="Arial"/>
                <a:cs typeface="Arial"/>
              </a:defRPr>
            </a:lvl5pPr>
            <a:lvl6pPr>
              <a:defRPr sz="1650">
                <a:solidFill>
                  <a:srgbClr val="171A30"/>
                </a:solidFill>
                <a:latin typeface="Arial"/>
                <a:ea typeface="Arial"/>
                <a:cs typeface="Arial"/>
              </a:defRPr>
            </a:lvl6pPr>
            <a:lvl7pPr>
              <a:defRPr sz="1650">
                <a:solidFill>
                  <a:srgbClr val="171A30"/>
                </a:solidFill>
                <a:latin typeface="Arial"/>
                <a:ea typeface="Arial"/>
                <a:cs typeface="Arial"/>
              </a:defRPr>
            </a:lvl7pPr>
            <a:lvl8pPr>
              <a:defRPr sz="1650">
                <a:solidFill>
                  <a:srgbClr val="171A30"/>
                </a:solidFill>
                <a:latin typeface="Arial"/>
                <a:ea typeface="Arial"/>
                <a:cs typeface="Arial"/>
              </a:defRPr>
            </a:lvl8pPr>
            <a:lvl9pPr>
              <a:defRPr sz="1650">
                <a:solidFill>
                  <a:srgbClr val="171A30"/>
                </a:solidFill>
                <a:latin typeface="Arial"/>
                <a:ea typeface="Arial"/>
                <a:cs typeface="Arial"/>
              </a:defRPr>
            </a:lvl9pPr>
          </a:lstStyle>
          <a:p xmlns:a="http://schemas.openxmlformats.org/drawingml/2006/main">
            <a:pPr>
              <a:defRPr sz="1650">
                <a:solidFill>
                  <a:srgbClr val="171A30"/>
                </a:solidFill>
                <a:latin typeface="Arial"/>
                <a:ea typeface="Arial"/>
                <a:cs typeface="Arial"/>
              </a:defRPr>
            </a:pPr>
            <a:r>
              <a:rPr sz="1650">
                <a:solidFill>
                  <a:srgbClr val="171A30"/>
                </a:solidFill>
                <a:latin typeface="Arial"/>
                <a:ea typeface="Arial"/>
                <a:cs typeface="Arial"/>
              </a:rPr>
              <a:t>Sem condição de intervenção: approved. Um único motivo determinante.</a:t>
            </a:r>
          </a:p>
        </p:txBody>
      </p:sp>
    </p:spTree>
    <p:extLst>
      <p:ext uri="{BB962C8B-B14F-4D97-AF65-F5344CB8AC3E}">
        <p14:creationId xmlns:p14="http://schemas.microsoft.com/office/powerpoint/2010/main" val="1118212780"/>
      </p:ext>
    </p:extLst>
  </p:cSld>
</p:sld>
</file>

<file path=ppt/slides/slide11.xml><?xml version="1.0" encoding="utf-8"?>
<p:sld xmlns:p="http://schemas.openxmlformats.org/presentationml/2006/main" show="0">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A67256B-9C39-484D-A8BB-AD703AD1C8DE}"/>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Evidências de possível laranja</a:t>
            </a:r>
          </a:p>
        </p:txBody>
      </p:sp>
      <p:sp>
        <p:nvSpPr>
          <p:cNvPr id="2" name="page-number">
            <a:extLst xmlns:a="http://schemas.openxmlformats.org/drawingml/2006/main">
              <a:ext uri="{FF2B5EF4-FFF2-40B4-BE49-F238E27FC236}">
                <a16:creationId xmlns:a16="http://schemas.microsoft.com/office/drawing/2014/main" id="{4D611FD0-A875-41D8-A39F-18A14FE3E748}"/>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A2</a:t>
            </a:r>
          </a:p>
        </p:txBody>
      </p:sp>
      <p:graphicFrame>
        <p:nvGraphicFramePr>
          <p:cNvPr id="3" name="mule-evidence">
            <a:extLst xmlns:a="http://schemas.openxmlformats.org/drawingml/2006/main">
              <a:ext uri="{FF2B5EF4-FFF2-40B4-BE49-F238E27FC236}">
                <a16:creationId xmlns:a16="http://schemas.microsoft.com/office/drawing/2014/main" id="{E1C3E024-6C78-4F6A-BD5D-FA51C62218C4}"/>
              </a:ext>
            </a:extLst>
          </p:cNvPr>
          <p:cNvGraphicFramePr/>
          <p:nvPr/>
        </p:nvGraphicFramePr>
        <p:xfrm>
          <a:off xmlns:a="http://schemas.openxmlformats.org/drawingml/2006/main" x="685800" y="1685925"/>
          <a:ext xmlns:a="http://schemas.openxmlformats.org/drawingml/2006/main" cx="10820400" cy="3276600"/>
        </p:xfrm>
        <a:graphic xmlns:a="http://schemas.openxmlformats.org/drawingml/2006/main">
          <a:graphicData uri="http://schemas.openxmlformats.org/drawingml/2006/table">
            <a:tbl>
              <a:tblPr firstRow="0" bandRow="0"/>
              <a:tblGrid>
                <a:gridCol w="1381125"/>
                <a:gridCol w="9439275"/>
              </a:tblGrid>
              <a:tr h="476250">
                <a:tc>
                  <a:txBody>
                    <a:bodyPr wrap="square" lIns="133350" tIns="133350" rIns="133350" bIns="133350">
                      <a:noAutofit/>
                    </a:bodyPr>
                    <a:lstStyle/>
                    <a:p>
                      <a:r>
                        <a:rPr sz="1875" b="1">
                          <a:solidFill>
                            <a:srgbClr val="6745C4"/>
                          </a:solidFill>
                          <a:latin typeface="Arial"/>
                          <a:ea typeface="Arial"/>
                          <a:cs typeface="Arial"/>
                        </a:rPr>
                        <a:t>Sinal</a:t>
                      </a:r>
                    </a:p>
                  </a:txBody>
                  <a:tcPr marL="91440" marR="91440" marT="45720" marB="45720" anchor="ctr">
                    <a:lnL w="5715">
                      <a:solidFill>
                        <a:srgbClr val="CFCADC"/>
                      </a:solidFill>
                      <a:prstDash val="solid"/>
                    </a:lnL>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875" b="1">
                          <a:solidFill>
                            <a:srgbClr val="6745C4"/>
                          </a:solidFill>
                          <a:latin typeface="Arial"/>
                          <a:ea typeface="Arial"/>
                          <a:cs typeface="Arial"/>
                        </a:rPr>
                        <a:t>Condição resumida</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r>
              <a:tr h="552450">
                <a:tc>
                  <a:txBody>
                    <a:bodyPr wrap="square" lIns="133350" tIns="133350" rIns="133350" bIns="133350">
                      <a:noAutofit/>
                    </a:bodyPr>
                    <a:lstStyle/>
                    <a:p>
                      <a:r>
                        <a:rPr sz="1875" b="0">
                          <a:solidFill>
                            <a:srgbClr val="171A30"/>
                          </a:solidFill>
                          <a:latin typeface="Arial"/>
                          <a:ea typeface="Arial"/>
                          <a:cs typeface="Arial"/>
                        </a:rPr>
                        <a:t>E1</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Mock 90 dias: ≥ 1 marcação ou ≥ 2 instituições relatantes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723900">
                <a:tc>
                  <a:txBody>
                    <a:bodyPr wrap="square" lIns="133350" tIns="133350" rIns="133350" bIns="133350">
                      <a:noAutofit/>
                    </a:bodyPr>
                    <a:lstStyle/>
                    <a:p>
                      <a:r>
                        <a:rPr sz="1875" b="0">
                          <a:solidFill>
                            <a:srgbClr val="171A30"/>
                          </a:solidFill>
                          <a:latin typeface="Arial"/>
                          <a:ea typeface="Arial"/>
                          <a:cs typeface="Arial"/>
                        </a:rPr>
                        <a:t>E2</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&gt; 50% recebido de E1 em 30 dias ou aparelho compartilhado</a:t>
                      </a:r>
                    </a:p>
                    <a:p>
                      <a:r>
                        <a:rPr sz="1875" b="0">
                          <a:solidFill>
                            <a:srgbClr val="171A30"/>
                          </a:solidFill>
                          <a:latin typeface="Arial"/>
                          <a:ea typeface="Arial"/>
                          <a:cs typeface="Arial"/>
                        </a:rPr>
                        <a:t>Conta &lt; 90 dias ou &lt; 10 contrapartes em 30 dias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723900">
                <a:tc>
                  <a:txBody>
                    <a:bodyPr wrap="square" lIns="133350" tIns="133350" rIns="133350" bIns="133350">
                      <a:noAutofit/>
                    </a:bodyPr>
                    <a:lstStyle/>
                    <a:p>
                      <a:r>
                        <a:rPr sz="1875" b="0">
                          <a:solidFill>
                            <a:srgbClr val="171A30"/>
                          </a:solidFill>
                          <a:latin typeface="Arial"/>
                          <a:ea typeface="Arial"/>
                          <a:cs typeface="Arial"/>
                        </a:rPr>
                        <a:t>E3</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Em 1h: ≥ 5 titulares para PF ou ≥ 30 para CNPJ</a:t>
                      </a:r>
                    </a:p>
                    <a:p>
                      <a:r>
                        <a:rPr sz="1875" b="0">
                          <a:solidFill>
                            <a:srgbClr val="171A30"/>
                          </a:solidFill>
                          <a:latin typeface="Arial"/>
                          <a:ea typeface="Arial"/>
                          <a:cs typeface="Arial"/>
                        </a:rPr>
                        <a:t>Pelo menos 3 titulares estreantes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00050">
                <a:tc>
                  <a:txBody>
                    <a:bodyPr wrap="square" lIns="133350" tIns="133350" rIns="133350" bIns="133350">
                      <a:noAutofit/>
                    </a:bodyPr>
                    <a:lstStyle/>
                    <a:p>
                      <a:r>
                        <a:rPr sz="1875" b="0">
                          <a:solidFill>
                            <a:srgbClr val="171A30"/>
                          </a:solidFill>
                          <a:latin typeface="Arial"/>
                          <a:ea typeface="Arial"/>
                          <a:cs typeface="Arial"/>
                        </a:rPr>
                        <a:t>E4</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Mock: pelo menos 2 relatos abertos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400050">
                <a:tc>
                  <a:txBody>
                    <a:bodyPr wrap="square" lIns="133350" tIns="133350" rIns="133350" bIns="133350">
                      <a:noAutofit/>
                    </a:bodyPr>
                    <a:lstStyle/>
                    <a:p>
                      <a:r>
                        <a:rPr sz="1875" b="0">
                          <a:solidFill>
                            <a:srgbClr val="171A30"/>
                          </a:solidFill>
                          <a:latin typeface="Arial"/>
                          <a:ea typeface="Arial"/>
                          <a:cs typeface="Arial"/>
                        </a:rPr>
                        <a:t>E5</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875" b="0">
                          <a:solidFill>
                            <a:srgbClr val="171A30"/>
                          </a:solidFill>
                          <a:latin typeface="Arial"/>
                          <a:ea typeface="Arial"/>
                          <a:cs typeface="Arial"/>
                        </a:rPr>
                        <a:t>Conta &lt; 7 dias recebe &gt; R$ 5.000 em 24h de ≥ 3 titulares</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bl>
          </a:graphicData>
        </a:graphic>
      </p:graphicFrame>
      <p:sp>
        <p:nvSpPr>
          <p:cNvPr id="4" name="elevated-condition">
            <a:extLst xmlns:a="http://schemas.openxmlformats.org/drawingml/2006/main">
              <a:ext uri="{FF2B5EF4-FFF2-40B4-BE49-F238E27FC236}">
                <a16:creationId xmlns:a16="http://schemas.microsoft.com/office/drawing/2014/main" id="{CEE98A29-BB8C-439F-831A-7CC08D04588D}"/>
              </a:ext>
            </a:extLst>
          </p:cNvPr>
          <p:cNvSpPr>
            <a:spLocks xmlns:a="http://schemas.openxmlformats.org/drawingml/2006/main" noGrp="1"/>
          </p:cNvSpPr>
          <p:nvPr/>
        </p:nvSpPr>
        <p:spPr>
          <a:xfrm xmlns:a="http://schemas.openxmlformats.org/drawingml/2006/main">
            <a:off x="685800" y="52768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6745C4"/>
                </a:solidFill>
                <a:latin typeface="Arial"/>
                <a:ea typeface="Arial"/>
                <a:cs typeface="Arial"/>
              </a:defRPr>
            </a:defPPr>
            <a:lvl1pPr>
              <a:defRPr sz="2475" b="1">
                <a:solidFill>
                  <a:srgbClr val="6745C4"/>
                </a:solidFill>
                <a:latin typeface="Arial"/>
                <a:ea typeface="Arial"/>
                <a:cs typeface="Arial"/>
              </a:defRPr>
            </a:lvl1pPr>
            <a:lvl2pPr>
              <a:defRPr sz="2475" b="1">
                <a:solidFill>
                  <a:srgbClr val="6745C4"/>
                </a:solidFill>
                <a:latin typeface="Arial"/>
                <a:ea typeface="Arial"/>
                <a:cs typeface="Arial"/>
              </a:defRPr>
            </a:lvl2pPr>
            <a:lvl3pPr>
              <a:defRPr sz="2475" b="1">
                <a:solidFill>
                  <a:srgbClr val="6745C4"/>
                </a:solidFill>
                <a:latin typeface="Arial"/>
                <a:ea typeface="Arial"/>
                <a:cs typeface="Arial"/>
              </a:defRPr>
            </a:lvl3pPr>
            <a:lvl4pPr>
              <a:defRPr sz="2475" b="1">
                <a:solidFill>
                  <a:srgbClr val="6745C4"/>
                </a:solidFill>
                <a:latin typeface="Arial"/>
                <a:ea typeface="Arial"/>
                <a:cs typeface="Arial"/>
              </a:defRPr>
            </a:lvl4pPr>
            <a:lvl5pPr>
              <a:defRPr sz="2475" b="1">
                <a:solidFill>
                  <a:srgbClr val="6745C4"/>
                </a:solidFill>
                <a:latin typeface="Arial"/>
                <a:ea typeface="Arial"/>
                <a:cs typeface="Arial"/>
              </a:defRPr>
            </a:lvl5pPr>
            <a:lvl6pPr>
              <a:defRPr sz="2475" b="1">
                <a:solidFill>
                  <a:srgbClr val="6745C4"/>
                </a:solidFill>
                <a:latin typeface="Arial"/>
                <a:ea typeface="Arial"/>
                <a:cs typeface="Arial"/>
              </a:defRPr>
            </a:lvl6pPr>
            <a:lvl7pPr>
              <a:defRPr sz="2475" b="1">
                <a:solidFill>
                  <a:srgbClr val="6745C4"/>
                </a:solidFill>
                <a:latin typeface="Arial"/>
                <a:ea typeface="Arial"/>
                <a:cs typeface="Arial"/>
              </a:defRPr>
            </a:lvl7pPr>
            <a:lvl8pPr>
              <a:defRPr sz="2475" b="1">
                <a:solidFill>
                  <a:srgbClr val="6745C4"/>
                </a:solidFill>
                <a:latin typeface="Arial"/>
                <a:ea typeface="Arial"/>
                <a:cs typeface="Arial"/>
              </a:defRPr>
            </a:lvl8pPr>
            <a:lvl9pPr>
              <a:defRPr sz="2475" b="1">
                <a:solidFill>
                  <a:srgbClr val="6745C4"/>
                </a:solidFill>
                <a:latin typeface="Arial"/>
                <a:ea typeface="Arial"/>
                <a:cs typeface="Arial"/>
              </a:defRPr>
            </a:lvl9pPr>
          </a:lstStyle>
          <a:p xmlns:a="http://schemas.openxmlformats.org/drawingml/2006/main">
            <a:pPr>
              <a:defRPr sz="2475" b="1">
                <a:solidFill>
                  <a:srgbClr val="6745C4"/>
                </a:solidFill>
                <a:latin typeface="Arial"/>
                <a:ea typeface="Arial"/>
                <a:cs typeface="Arial"/>
              </a:defRPr>
            </a:pPr>
            <a:r>
              <a:rPr sz="2475" b="1">
                <a:solidFill>
                  <a:srgbClr val="6745C4"/>
                </a:solidFill>
                <a:latin typeface="Arial"/>
                <a:ea typeface="Arial"/>
                <a:cs typeface="Arial"/>
              </a:rPr>
              <a:t>Elevada: E1 ou E2 + E4</a:t>
            </a:r>
          </a:p>
        </p:txBody>
      </p:sp>
      <p:sp>
        <p:nvSpPr>
          <p:cNvPr id="5" name="suspect-condition">
            <a:extLst xmlns:a="http://schemas.openxmlformats.org/drawingml/2006/main">
              <a:ext uri="{FF2B5EF4-FFF2-40B4-BE49-F238E27FC236}">
                <a16:creationId xmlns:a16="http://schemas.microsoft.com/office/drawing/2014/main" id="{CE646F47-689A-42D0-9187-C1D70DC7FE9F}"/>
              </a:ext>
            </a:extLst>
          </p:cNvPr>
          <p:cNvSpPr>
            <a:spLocks xmlns:a="http://schemas.openxmlformats.org/drawingml/2006/main" noGrp="1"/>
          </p:cNvSpPr>
          <p:nvPr/>
        </p:nvSpPr>
        <p:spPr>
          <a:xfrm xmlns:a="http://schemas.openxmlformats.org/drawingml/2006/main">
            <a:off x="685800" y="58483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71A30"/>
                </a:solidFill>
                <a:latin typeface="Arial"/>
                <a:ea typeface="Arial"/>
                <a:cs typeface="Arial"/>
              </a:defRPr>
            </a:defPPr>
            <a:lvl1pPr>
              <a:defRPr sz="1650">
                <a:solidFill>
                  <a:srgbClr val="171A30"/>
                </a:solidFill>
                <a:latin typeface="Arial"/>
                <a:ea typeface="Arial"/>
                <a:cs typeface="Arial"/>
              </a:defRPr>
            </a:lvl1pPr>
            <a:lvl2pPr>
              <a:defRPr sz="1650">
                <a:solidFill>
                  <a:srgbClr val="171A30"/>
                </a:solidFill>
                <a:latin typeface="Arial"/>
                <a:ea typeface="Arial"/>
                <a:cs typeface="Arial"/>
              </a:defRPr>
            </a:lvl2pPr>
            <a:lvl3pPr>
              <a:defRPr sz="1650">
                <a:solidFill>
                  <a:srgbClr val="171A30"/>
                </a:solidFill>
                <a:latin typeface="Arial"/>
                <a:ea typeface="Arial"/>
                <a:cs typeface="Arial"/>
              </a:defRPr>
            </a:lvl3pPr>
            <a:lvl4pPr>
              <a:defRPr sz="1650">
                <a:solidFill>
                  <a:srgbClr val="171A30"/>
                </a:solidFill>
                <a:latin typeface="Arial"/>
                <a:ea typeface="Arial"/>
                <a:cs typeface="Arial"/>
              </a:defRPr>
            </a:lvl4pPr>
            <a:lvl5pPr>
              <a:defRPr sz="1650">
                <a:solidFill>
                  <a:srgbClr val="171A30"/>
                </a:solidFill>
                <a:latin typeface="Arial"/>
                <a:ea typeface="Arial"/>
                <a:cs typeface="Arial"/>
              </a:defRPr>
            </a:lvl5pPr>
            <a:lvl6pPr>
              <a:defRPr sz="1650">
                <a:solidFill>
                  <a:srgbClr val="171A30"/>
                </a:solidFill>
                <a:latin typeface="Arial"/>
                <a:ea typeface="Arial"/>
                <a:cs typeface="Arial"/>
              </a:defRPr>
            </a:lvl6pPr>
            <a:lvl7pPr>
              <a:defRPr sz="1650">
                <a:solidFill>
                  <a:srgbClr val="171A30"/>
                </a:solidFill>
                <a:latin typeface="Arial"/>
                <a:ea typeface="Arial"/>
                <a:cs typeface="Arial"/>
              </a:defRPr>
            </a:lvl7pPr>
            <a:lvl8pPr>
              <a:defRPr sz="1650">
                <a:solidFill>
                  <a:srgbClr val="171A30"/>
                </a:solidFill>
                <a:latin typeface="Arial"/>
                <a:ea typeface="Arial"/>
                <a:cs typeface="Arial"/>
              </a:defRPr>
            </a:lvl8pPr>
            <a:lvl9pPr>
              <a:defRPr sz="1650">
                <a:solidFill>
                  <a:srgbClr val="171A30"/>
                </a:solidFill>
                <a:latin typeface="Arial"/>
                <a:ea typeface="Arial"/>
                <a:cs typeface="Arial"/>
              </a:defRPr>
            </a:lvl9pPr>
          </a:lstStyle>
          <a:p xmlns:a="http://schemas.openxmlformats.org/drawingml/2006/main">
            <a:pPr>
              <a:defRPr sz="1650">
                <a:solidFill>
                  <a:srgbClr val="171A30"/>
                </a:solidFill>
                <a:latin typeface="Arial"/>
                <a:ea typeface="Arial"/>
                <a:cs typeface="Arial"/>
              </a:defRPr>
            </a:pPr>
            <a:r>
              <a:rPr sz="1650">
                <a:solidFill>
                  <a:srgbClr val="171A30"/>
                </a:solidFill>
                <a:latin typeface="Arial"/>
                <a:ea typeface="Arial"/>
                <a:cs typeface="Arial"/>
              </a:rPr>
              <a:t>Outras evidências positivas: suspeita. E3 + E5 também ficam em suspeita.</a:t>
            </a:r>
          </a:p>
          <a:p xmlns:a="http://schemas.openxmlformats.org/drawingml/2006/main">
            <a:pPr>
              <a:defRPr sz="1650">
                <a:solidFill>
                  <a:srgbClr val="171A30"/>
                </a:solidFill>
                <a:latin typeface="Arial"/>
                <a:ea typeface="Arial"/>
                <a:cs typeface="Arial"/>
              </a:defRPr>
            </a:pPr>
            <a:r>
              <a:rPr sz="1650">
                <a:solidFill>
                  <a:srgbClr val="171A30"/>
                </a:solidFill>
                <a:latin typeface="Arial"/>
                <a:ea typeface="Arial"/>
                <a:cs typeface="Arial"/>
              </a:rPr>
              <a:t>Só E1 propaga vínculo, por um salto. Indisponível permanece desconhecido.</a:t>
            </a:r>
          </a:p>
        </p:txBody>
      </p:sp>
    </p:spTree>
    <p:extLst>
      <p:ext uri="{BB962C8B-B14F-4D97-AF65-F5344CB8AC3E}">
        <p14:creationId xmlns:p14="http://schemas.microsoft.com/office/powerpoint/2010/main" val="1152398950"/>
      </p:ext>
    </p:extLst>
  </p:cSld>
</p:sld>
</file>

<file path=ppt/slides/slide12.xml><?xml version="1.0" encoding="utf-8"?>
<p:sld xmlns:p="http://schemas.openxmlformats.org/presentationml/2006/main" show="0">
  <p:cSld>
    <p:bg>
      <p:bgPr>
        <a:solidFill xmlns:a="http://schemas.openxmlformats.org/drawingml/2006/main">
          <a:srgbClr val="F5F4F9"/>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8F7CEF4-2DD6-4427-8F4D-8CFC1EECF97A}"/>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1A30"/>
                </a:solidFill>
                <a:latin typeface="Arial"/>
                <a:ea typeface="Arial"/>
                <a:cs typeface="Arial"/>
              </a:defRPr>
            </a:defPPr>
            <a:lvl1pPr>
              <a:defRPr sz="3450" b="1">
                <a:solidFill>
                  <a:srgbClr val="171A30"/>
                </a:solidFill>
                <a:latin typeface="Arial"/>
                <a:ea typeface="Arial"/>
                <a:cs typeface="Arial"/>
              </a:defRPr>
            </a:lvl1pPr>
            <a:lvl2pPr>
              <a:defRPr sz="3450" b="1">
                <a:solidFill>
                  <a:srgbClr val="171A30"/>
                </a:solidFill>
                <a:latin typeface="Arial"/>
                <a:ea typeface="Arial"/>
                <a:cs typeface="Arial"/>
              </a:defRPr>
            </a:lvl2pPr>
            <a:lvl3pPr>
              <a:defRPr sz="3450" b="1">
                <a:solidFill>
                  <a:srgbClr val="171A30"/>
                </a:solidFill>
                <a:latin typeface="Arial"/>
                <a:ea typeface="Arial"/>
                <a:cs typeface="Arial"/>
              </a:defRPr>
            </a:lvl3pPr>
            <a:lvl4pPr>
              <a:defRPr sz="3450" b="1">
                <a:solidFill>
                  <a:srgbClr val="171A30"/>
                </a:solidFill>
                <a:latin typeface="Arial"/>
                <a:ea typeface="Arial"/>
                <a:cs typeface="Arial"/>
              </a:defRPr>
            </a:lvl4pPr>
            <a:lvl5pPr>
              <a:defRPr sz="3450" b="1">
                <a:solidFill>
                  <a:srgbClr val="171A30"/>
                </a:solidFill>
                <a:latin typeface="Arial"/>
                <a:ea typeface="Arial"/>
                <a:cs typeface="Arial"/>
              </a:defRPr>
            </a:lvl5pPr>
            <a:lvl6pPr>
              <a:defRPr sz="3450" b="1">
                <a:solidFill>
                  <a:srgbClr val="171A30"/>
                </a:solidFill>
                <a:latin typeface="Arial"/>
                <a:ea typeface="Arial"/>
                <a:cs typeface="Arial"/>
              </a:defRPr>
            </a:lvl6pPr>
            <a:lvl7pPr>
              <a:defRPr sz="3450" b="1">
                <a:solidFill>
                  <a:srgbClr val="171A30"/>
                </a:solidFill>
                <a:latin typeface="Arial"/>
                <a:ea typeface="Arial"/>
                <a:cs typeface="Arial"/>
              </a:defRPr>
            </a:lvl7pPr>
            <a:lvl8pPr>
              <a:defRPr sz="3450" b="1">
                <a:solidFill>
                  <a:srgbClr val="171A30"/>
                </a:solidFill>
                <a:latin typeface="Arial"/>
                <a:ea typeface="Arial"/>
                <a:cs typeface="Arial"/>
              </a:defRPr>
            </a:lvl8pPr>
            <a:lvl9pPr>
              <a:defRPr sz="3450" b="1">
                <a:solidFill>
                  <a:srgbClr val="171A30"/>
                </a:solidFill>
                <a:latin typeface="Arial"/>
                <a:ea typeface="Arial"/>
                <a:cs typeface="Arial"/>
              </a:defRPr>
            </a:lvl9pPr>
          </a:lstStyle>
          <a:p xmlns:a="http://schemas.openxmlformats.org/drawingml/2006/main">
            <a:pPr>
              <a:defRPr sz="3450" b="1">
                <a:solidFill>
                  <a:srgbClr val="171A30"/>
                </a:solidFill>
                <a:latin typeface="Arial"/>
                <a:ea typeface="Arial"/>
                <a:cs typeface="Arial"/>
              </a:defRPr>
            </a:pPr>
            <a:r>
              <a:rPr sz="3450" b="1">
                <a:solidFill>
                  <a:srgbClr val="171A30"/>
                </a:solidFill>
                <a:latin typeface="Arial"/>
                <a:ea typeface="Arial"/>
                <a:cs typeface="Arial"/>
              </a:rPr>
              <a:t>Consultas externas e cache</a:t>
            </a:r>
          </a:p>
        </p:txBody>
      </p:sp>
      <p:sp>
        <p:nvSpPr>
          <p:cNvPr id="2" name="page-number">
            <a:extLst xmlns:a="http://schemas.openxmlformats.org/drawingml/2006/main">
              <a:ext uri="{FF2B5EF4-FFF2-40B4-BE49-F238E27FC236}">
                <a16:creationId xmlns:a16="http://schemas.microsoft.com/office/drawing/2014/main" id="{1D6E6FC7-E69D-401F-B284-F150DB6F33B1}"/>
              </a:ext>
            </a:extLst>
          </p:cNvPr>
          <p:cNvSpPr>
            <a:spLocks xmlns:a="http://schemas.openxmlformats.org/drawingml/2006/main" noGrp="1"/>
          </p:cNvSpPr>
          <p:nvPr/>
        </p:nvSpPr>
        <p:spPr>
          <a:xfrm xmlns:a="http://schemas.openxmlformats.org/drawingml/2006/main">
            <a:off x="109728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5A70"/>
                </a:solidFill>
                <a:latin typeface="Arial"/>
                <a:ea typeface="Arial"/>
                <a:cs typeface="Arial"/>
              </a:defRPr>
            </a:defPPr>
            <a:lvl1pPr algn="r">
              <a:defRPr sz="1500">
                <a:solidFill>
                  <a:srgbClr val="565A70"/>
                </a:solidFill>
                <a:latin typeface="Arial"/>
                <a:ea typeface="Arial"/>
                <a:cs typeface="Arial"/>
              </a:defRPr>
            </a:lvl1pPr>
            <a:lvl2pPr algn="r">
              <a:defRPr sz="1500">
                <a:solidFill>
                  <a:srgbClr val="565A70"/>
                </a:solidFill>
                <a:latin typeface="Arial"/>
                <a:ea typeface="Arial"/>
                <a:cs typeface="Arial"/>
              </a:defRPr>
            </a:lvl2pPr>
            <a:lvl3pPr algn="r">
              <a:defRPr sz="1500">
                <a:solidFill>
                  <a:srgbClr val="565A70"/>
                </a:solidFill>
                <a:latin typeface="Arial"/>
                <a:ea typeface="Arial"/>
                <a:cs typeface="Arial"/>
              </a:defRPr>
            </a:lvl3pPr>
            <a:lvl4pPr algn="r">
              <a:defRPr sz="1500">
                <a:solidFill>
                  <a:srgbClr val="565A70"/>
                </a:solidFill>
                <a:latin typeface="Arial"/>
                <a:ea typeface="Arial"/>
                <a:cs typeface="Arial"/>
              </a:defRPr>
            </a:lvl4pPr>
            <a:lvl5pPr algn="r">
              <a:defRPr sz="1500">
                <a:solidFill>
                  <a:srgbClr val="565A70"/>
                </a:solidFill>
                <a:latin typeface="Arial"/>
                <a:ea typeface="Arial"/>
                <a:cs typeface="Arial"/>
              </a:defRPr>
            </a:lvl5pPr>
            <a:lvl6pPr algn="r">
              <a:defRPr sz="1500">
                <a:solidFill>
                  <a:srgbClr val="565A70"/>
                </a:solidFill>
                <a:latin typeface="Arial"/>
                <a:ea typeface="Arial"/>
                <a:cs typeface="Arial"/>
              </a:defRPr>
            </a:lvl6pPr>
            <a:lvl7pPr algn="r">
              <a:defRPr sz="1500">
                <a:solidFill>
                  <a:srgbClr val="565A70"/>
                </a:solidFill>
                <a:latin typeface="Arial"/>
                <a:ea typeface="Arial"/>
                <a:cs typeface="Arial"/>
              </a:defRPr>
            </a:lvl7pPr>
            <a:lvl8pPr algn="r">
              <a:defRPr sz="1500">
                <a:solidFill>
                  <a:srgbClr val="565A70"/>
                </a:solidFill>
                <a:latin typeface="Arial"/>
                <a:ea typeface="Arial"/>
                <a:cs typeface="Arial"/>
              </a:defRPr>
            </a:lvl8pPr>
            <a:lvl9pPr algn="r">
              <a:defRPr sz="1500">
                <a:solidFill>
                  <a:srgbClr val="565A70"/>
                </a:solidFill>
                <a:latin typeface="Arial"/>
                <a:ea typeface="Arial"/>
                <a:cs typeface="Arial"/>
              </a:defRPr>
            </a:lvl9pPr>
          </a:lstStyle>
          <a:p xmlns:a="http://schemas.openxmlformats.org/drawingml/2006/main">
            <a:pPr algn="r">
              <a:defRPr sz="1500">
                <a:solidFill>
                  <a:srgbClr val="565A70"/>
                </a:solidFill>
                <a:latin typeface="Arial"/>
                <a:ea typeface="Arial"/>
                <a:cs typeface="Arial"/>
              </a:defRPr>
            </a:pPr>
            <a:r>
              <a:rPr sz="1500">
                <a:solidFill>
                  <a:srgbClr val="565A70"/>
                </a:solidFill>
                <a:latin typeface="Arial"/>
                <a:ea typeface="Arial"/>
                <a:cs typeface="Arial"/>
              </a:rPr>
              <a:t>A3</a:t>
            </a:r>
          </a:p>
        </p:txBody>
      </p:sp>
      <p:graphicFrame>
        <p:nvGraphicFramePr>
          <p:cNvPr id="3" name="cache-policy">
            <a:extLst xmlns:a="http://schemas.openxmlformats.org/drawingml/2006/main">
              <a:ext uri="{FF2B5EF4-FFF2-40B4-BE49-F238E27FC236}">
                <a16:creationId xmlns:a16="http://schemas.microsoft.com/office/drawing/2014/main" id="{13A0B5C8-BAD6-4563-BA3E-8E209A5F447C}"/>
              </a:ext>
            </a:extLst>
          </p:cNvPr>
          <p:cNvGraphicFramePr/>
          <p:nvPr/>
        </p:nvGraphicFramePr>
        <p:xfrm>
          <a:off xmlns:a="http://schemas.openxmlformats.org/drawingml/2006/main" x="685800" y="1800225"/>
          <a:ext xmlns:a="http://schemas.openxmlformats.org/drawingml/2006/main" cx="10820400" cy="2943225"/>
        </p:xfrm>
        <a:graphic xmlns:a="http://schemas.openxmlformats.org/drawingml/2006/main">
          <a:graphicData uri="http://schemas.openxmlformats.org/drawingml/2006/table">
            <a:tbl>
              <a:tblPr firstRow="0" bandRow="0"/>
              <a:tblGrid>
                <a:gridCol w="2476500"/>
                <a:gridCol w="4667250"/>
                <a:gridCol w="3676650"/>
              </a:tblGrid>
              <a:tr h="542925">
                <a:tc>
                  <a:txBody>
                    <a:bodyPr wrap="square" lIns="133350" tIns="133350" rIns="133350" bIns="133350">
                      <a:noAutofit/>
                    </a:bodyPr>
                    <a:lstStyle/>
                    <a:p>
                      <a:r>
                        <a:rPr sz="1950" b="1">
                          <a:solidFill>
                            <a:srgbClr val="6745C4"/>
                          </a:solidFill>
                          <a:latin typeface="Arial"/>
                          <a:ea typeface="Arial"/>
                          <a:cs typeface="Arial"/>
                        </a:rPr>
                        <a:t>Origem do sinal</a:t>
                      </a:r>
                    </a:p>
                  </a:txBody>
                  <a:tcPr marL="91440" marR="91440" marT="45720" marB="45720" anchor="ctr">
                    <a:lnL w="5715">
                      <a:solidFill>
                        <a:srgbClr val="CFCADC"/>
                      </a:solidFill>
                      <a:prstDash val="solid"/>
                    </a:lnL>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950" b="1">
                          <a:solidFill>
                            <a:srgbClr val="6745C4"/>
                          </a:solidFill>
                          <a:latin typeface="Arial"/>
                          <a:ea typeface="Arial"/>
                          <a:cs typeface="Arial"/>
                        </a:rPr>
                        <a:t>Política atual</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c>
                  <a:txBody>
                    <a:bodyPr wrap="square" lIns="133350" tIns="133350" rIns="133350" bIns="133350">
                      <a:noAutofit/>
                    </a:bodyPr>
                    <a:lstStyle/>
                    <a:p>
                      <a:r>
                        <a:rPr sz="1950" b="1">
                          <a:solidFill>
                            <a:srgbClr val="6745C4"/>
                          </a:solidFill>
                          <a:latin typeface="Arial"/>
                          <a:ea typeface="Arial"/>
                          <a:cs typeface="Arial"/>
                        </a:rPr>
                        <a:t>Custo assumido</a:t>
                      </a:r>
                    </a:p>
                  </a:txBody>
                  <a:tcPr marL="91440" marR="91440" marT="45720" marB="45720" anchor="ctr">
                    <a:lnR w="5715">
                      <a:solidFill>
                        <a:srgbClr val="CFCADC"/>
                      </a:solidFill>
                      <a:prstDash val="solid"/>
                    </a:lnR>
                    <a:lnT w="5715">
                      <a:solidFill>
                        <a:srgbClr val="CFCADC"/>
                      </a:solidFill>
                      <a:prstDash val="solid"/>
                    </a:lnT>
                    <a:lnB w="5715">
                      <a:solidFill>
                        <a:srgbClr val="CFCADC"/>
                      </a:solidFill>
                      <a:prstDash val="solid"/>
                    </a:lnB>
                    <a:solidFill>
                      <a:srgbClr val="EAE5F6"/>
                    </a:solidFill>
                  </a:tcPr>
                </a:tc>
              </a:tr>
              <a:tr h="800100">
                <a:tc>
                  <a:txBody>
                    <a:bodyPr wrap="square" lIns="133350" tIns="133350" rIns="133350" bIns="133350">
                      <a:noAutofit/>
                    </a:bodyPr>
                    <a:lstStyle/>
                    <a:p>
                      <a:r>
                        <a:rPr sz="1950" b="0">
                          <a:solidFill>
                            <a:srgbClr val="171A30"/>
                          </a:solidFill>
                          <a:latin typeface="Arial"/>
                          <a:ea typeface="Arial"/>
                          <a:cs typeface="Arial"/>
                        </a:rPr>
                        <a:t>Pagador</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950" b="0">
                          <a:solidFill>
                            <a:srgbClr val="171A30"/>
                          </a:solidFill>
                          <a:latin typeface="Arial"/>
                          <a:ea typeface="Arial"/>
                          <a:cs typeface="Arial"/>
                        </a:rPr>
                        <a:t>Consulta válida por 5 minutos</a:t>
                      </a:r>
                    </a:p>
                    <a:p>
                      <a:r>
                        <a:rPr sz="1950" b="0">
                          <a:solidFill>
                            <a:srgbClr val="171A30"/>
                          </a:solidFill>
                          <a:latin typeface="Arial"/>
                          <a:ea typeface="Arial"/>
                          <a:cs typeface="Arial"/>
                        </a:rPr>
                        <a:t>Leitura não renova o prazo</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950" b="0">
                          <a:solidFill>
                            <a:srgbClr val="171A30"/>
                          </a:solidFill>
                          <a:latin typeface="Arial"/>
                          <a:ea typeface="Arial"/>
                          <a:cs typeface="Arial"/>
                        </a:rPr>
                        <a:t>Marcação pode demorar</a:t>
                      </a:r>
                    </a:p>
                    <a:p>
                      <a:r>
                        <a:rPr sz="1950" b="0">
                          <a:solidFill>
                            <a:srgbClr val="171A30"/>
                          </a:solidFill>
                          <a:latin typeface="Arial"/>
                          <a:ea typeface="Arial"/>
                          <a:cs typeface="Arial"/>
                        </a:rPr>
                        <a:t>até 5 minutos a aparecer</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800100">
                <a:tc>
                  <a:txBody>
                    <a:bodyPr wrap="square" lIns="133350" tIns="133350" rIns="133350" bIns="133350">
                      <a:noAutofit/>
                    </a:bodyPr>
                    <a:lstStyle/>
                    <a:p>
                      <a:r>
                        <a:rPr sz="1950" b="0">
                          <a:solidFill>
                            <a:srgbClr val="171A30"/>
                          </a:solidFill>
                          <a:latin typeface="Arial"/>
                          <a:ea typeface="Arial"/>
                          <a:cs typeface="Arial"/>
                        </a:rPr>
                        <a:t>Destino</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950" b="0">
                          <a:solidFill>
                            <a:srgbClr val="171A30"/>
                          </a:solidFill>
                          <a:latin typeface="Arial"/>
                          <a:ea typeface="Arial"/>
                          <a:cs typeface="Arial"/>
                        </a:rPr>
                        <a:t>Consulta em cada análise</a:t>
                      </a:r>
                    </a:p>
                    <a:p>
                      <a:r>
                        <a:rPr sz="1950" b="0">
                          <a:solidFill>
                            <a:srgbClr val="171A30"/>
                          </a:solidFill>
                          <a:latin typeface="Arial"/>
                          <a:ea typeface="Arial"/>
                          <a:cs typeface="Arial"/>
                        </a:rPr>
                        <a:t>Cache de 1h só na falha</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950" b="0">
                          <a:solidFill>
                            <a:srgbClr val="171A30"/>
                          </a:solidFill>
                          <a:latin typeface="Arial"/>
                          <a:ea typeface="Arial"/>
                          <a:cs typeface="Arial"/>
                        </a:rPr>
                        <a:t>Fallback pode usar</a:t>
                      </a:r>
                    </a:p>
                    <a:p>
                      <a:r>
                        <a:rPr sz="1950" b="0">
                          <a:solidFill>
                            <a:srgbClr val="171A30"/>
                          </a:solidFill>
                          <a:latin typeface="Arial"/>
                          <a:ea typeface="Arial"/>
                          <a:cs typeface="Arial"/>
                        </a:rPr>
                        <a:t>informação desatualizada</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r h="800100">
                <a:tc>
                  <a:txBody>
                    <a:bodyPr wrap="square" lIns="133350" tIns="133350" rIns="133350" bIns="133350">
                      <a:noAutofit/>
                    </a:bodyPr>
                    <a:lstStyle/>
                    <a:p>
                      <a:r>
                        <a:rPr sz="1950" b="0">
                          <a:solidFill>
                            <a:srgbClr val="171A30"/>
                          </a:solidFill>
                          <a:latin typeface="Arial"/>
                          <a:ea typeface="Arial"/>
                          <a:cs typeface="Arial"/>
                        </a:rPr>
                        <a:t>Sem resposta válida</a:t>
                      </a:r>
                    </a:p>
                  </a:txBody>
                  <a:tcPr marL="91440" marR="91440" marT="45720" marB="45720" anchor="ctr">
                    <a:lnL w="5715">
                      <a:solidFill>
                        <a:srgbClr val="CFCADC"/>
                      </a:solidFill>
                      <a:prstDash val="solid"/>
                    </a:lnL>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950" b="0">
                          <a:solidFill>
                            <a:srgbClr val="171A30"/>
                          </a:solidFill>
                          <a:latin typeface="Arial"/>
                          <a:ea typeface="Arial"/>
                          <a:cs typeface="Arial"/>
                        </a:rPr>
                        <a:t>E1/E4 desconhecidas</a:t>
                      </a:r>
                    </a:p>
                    <a:p>
                      <a:r>
                        <a:rPr sz="1950" b="0">
                          <a:solidFill>
                            <a:srgbClr val="171A30"/>
                          </a:solidFill>
                          <a:latin typeface="Arial"/>
                          <a:ea typeface="Arial"/>
                          <a:cs typeface="Arial"/>
                        </a:rPr>
                        <a:t>Demais regras continuam</a:t>
                      </a:r>
                    </a:p>
                  </a:txBody>
                  <a:tcPr marL="91440" marR="91440" marT="45720" marB="45720" anchor="ctr">
                    <a:lnR w="5715">
                      <a:solidFill>
                        <a:srgbClr val="CFCADC"/>
                      </a:solidFill>
                      <a:prstDash val="solid"/>
                    </a:lnR>
                    <a:lnB w="5715">
                      <a:solidFill>
                        <a:srgbClr val="CFCADC"/>
                      </a:solidFill>
                      <a:prstDash val="solid"/>
                    </a:lnB>
                    <a:solidFill>
                      <a:srgbClr val="F5F4F9"/>
                    </a:solidFill>
                  </a:tcPr>
                </a:tc>
                <a:tc>
                  <a:txBody>
                    <a:bodyPr wrap="square" lIns="133350" tIns="133350" rIns="133350" bIns="133350">
                      <a:noAutofit/>
                    </a:bodyPr>
                    <a:lstStyle/>
                    <a:p>
                      <a:r>
                        <a:rPr sz="1950" b="0">
                          <a:solidFill>
                            <a:srgbClr val="171A30"/>
                          </a:solidFill>
                          <a:latin typeface="Arial"/>
                          <a:ea typeface="Arial"/>
                          <a:cs typeface="Arial"/>
                        </a:rPr>
                        <a:t>Pode aprovar quando o</a:t>
                      </a:r>
                    </a:p>
                    <a:p>
                      <a:r>
                        <a:rPr sz="1950" b="0">
                          <a:solidFill>
                            <a:srgbClr val="171A30"/>
                          </a:solidFill>
                          <a:latin typeface="Arial"/>
                          <a:ea typeface="Arial"/>
                          <a:cs typeface="Arial"/>
                        </a:rPr>
                        <a:t>sinal externo faria rejeitar</a:t>
                      </a:r>
                    </a:p>
                  </a:txBody>
                  <a:tcPr marL="91440" marR="91440" marT="45720" marB="45720" anchor="ctr">
                    <a:lnR w="5715">
                      <a:solidFill>
                        <a:srgbClr val="CFCADC"/>
                      </a:solidFill>
                      <a:prstDash val="solid"/>
                    </a:lnR>
                    <a:lnB w="5715">
                      <a:solidFill>
                        <a:srgbClr val="CFCADC"/>
                      </a:solidFill>
                      <a:prstDash val="solid"/>
                    </a:lnB>
                    <a:solidFill>
                      <a:srgbClr val="F5F4F9"/>
                    </a:solidFill>
                  </a:tcPr>
                </a:tc>
              </a:tr>
            </a:tbl>
          </a:graphicData>
        </a:graphic>
      </p:graphicFrame>
      <p:sp>
        <p:nvSpPr>
          <p:cNvPr id="4" name="lookup-budget">
            <a:extLst xmlns:a="http://schemas.openxmlformats.org/drawingml/2006/main">
              <a:ext uri="{FF2B5EF4-FFF2-40B4-BE49-F238E27FC236}">
                <a16:creationId xmlns:a16="http://schemas.microsoft.com/office/drawing/2014/main" id="{AE71766C-4810-4670-8CFD-E215C03DFA93}"/>
              </a:ext>
            </a:extLst>
          </p:cNvPr>
          <p:cNvSpPr>
            <a:spLocks xmlns:a="http://schemas.openxmlformats.org/drawingml/2006/main" noGrp="1"/>
          </p:cNvSpPr>
          <p:nvPr/>
        </p:nvSpPr>
        <p:spPr>
          <a:xfrm xmlns:a="http://schemas.openxmlformats.org/drawingml/2006/main">
            <a:off x="685800" y="51339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6745C4"/>
                </a:solidFill>
                <a:latin typeface="Arial"/>
                <a:ea typeface="Arial"/>
                <a:cs typeface="Arial"/>
              </a:defRPr>
            </a:defPPr>
            <a:lvl1pPr>
              <a:defRPr sz="2325" b="1">
                <a:solidFill>
                  <a:srgbClr val="6745C4"/>
                </a:solidFill>
                <a:latin typeface="Arial"/>
                <a:ea typeface="Arial"/>
                <a:cs typeface="Arial"/>
              </a:defRPr>
            </a:lvl1pPr>
            <a:lvl2pPr>
              <a:defRPr sz="2325" b="1">
                <a:solidFill>
                  <a:srgbClr val="6745C4"/>
                </a:solidFill>
                <a:latin typeface="Arial"/>
                <a:ea typeface="Arial"/>
                <a:cs typeface="Arial"/>
              </a:defRPr>
            </a:lvl2pPr>
            <a:lvl3pPr>
              <a:defRPr sz="2325" b="1">
                <a:solidFill>
                  <a:srgbClr val="6745C4"/>
                </a:solidFill>
                <a:latin typeface="Arial"/>
                <a:ea typeface="Arial"/>
                <a:cs typeface="Arial"/>
              </a:defRPr>
            </a:lvl3pPr>
            <a:lvl4pPr>
              <a:defRPr sz="2325" b="1">
                <a:solidFill>
                  <a:srgbClr val="6745C4"/>
                </a:solidFill>
                <a:latin typeface="Arial"/>
                <a:ea typeface="Arial"/>
                <a:cs typeface="Arial"/>
              </a:defRPr>
            </a:lvl4pPr>
            <a:lvl5pPr>
              <a:defRPr sz="2325" b="1">
                <a:solidFill>
                  <a:srgbClr val="6745C4"/>
                </a:solidFill>
                <a:latin typeface="Arial"/>
                <a:ea typeface="Arial"/>
                <a:cs typeface="Arial"/>
              </a:defRPr>
            </a:lvl5pPr>
            <a:lvl6pPr>
              <a:defRPr sz="2325" b="1">
                <a:solidFill>
                  <a:srgbClr val="6745C4"/>
                </a:solidFill>
                <a:latin typeface="Arial"/>
                <a:ea typeface="Arial"/>
                <a:cs typeface="Arial"/>
              </a:defRPr>
            </a:lvl6pPr>
            <a:lvl7pPr>
              <a:defRPr sz="2325" b="1">
                <a:solidFill>
                  <a:srgbClr val="6745C4"/>
                </a:solidFill>
                <a:latin typeface="Arial"/>
                <a:ea typeface="Arial"/>
                <a:cs typeface="Arial"/>
              </a:defRPr>
            </a:lvl7pPr>
            <a:lvl8pPr>
              <a:defRPr sz="2325" b="1">
                <a:solidFill>
                  <a:srgbClr val="6745C4"/>
                </a:solidFill>
                <a:latin typeface="Arial"/>
                <a:ea typeface="Arial"/>
                <a:cs typeface="Arial"/>
              </a:defRPr>
            </a:lvl8pPr>
            <a:lvl9pPr>
              <a:defRPr sz="2325" b="1">
                <a:solidFill>
                  <a:srgbClr val="6745C4"/>
                </a:solidFill>
                <a:latin typeface="Arial"/>
                <a:ea typeface="Arial"/>
                <a:cs typeface="Arial"/>
              </a:defRPr>
            </a:lvl9pPr>
          </a:lstStyle>
          <a:p xmlns:a="http://schemas.openxmlformats.org/drawingml/2006/main">
            <a:pPr>
              <a:defRPr sz="2325" b="1">
                <a:solidFill>
                  <a:srgbClr val="6745C4"/>
                </a:solidFill>
                <a:latin typeface="Arial"/>
                <a:ea typeface="Arial"/>
                <a:cs typeface="Arial"/>
              </a:defRPr>
            </a:pPr>
            <a:r>
              <a:rPr sz="2325" b="1">
                <a:solidFill>
                  <a:srgbClr val="6745C4"/>
                </a:solidFill>
                <a:latin typeface="Arial"/>
                <a:ea typeface="Arial"/>
                <a:cs typeface="Arial"/>
              </a:rPr>
              <a:t>200 ms é o orçamento das consultas externas em paralelo.</a:t>
            </a:r>
          </a:p>
        </p:txBody>
      </p:sp>
      <p:sp>
        <p:nvSpPr>
          <p:cNvPr id="5" name="no-sla">
            <a:extLst xmlns:a="http://schemas.openxmlformats.org/drawingml/2006/main">
              <a:ext uri="{FF2B5EF4-FFF2-40B4-BE49-F238E27FC236}">
                <a16:creationId xmlns:a16="http://schemas.microsoft.com/office/drawing/2014/main" id="{1B0548DE-1BCB-4DC7-AA5A-5751BFECBB92}"/>
              </a:ext>
            </a:extLst>
          </p:cNvPr>
          <p:cNvSpPr>
            <a:spLocks xmlns:a="http://schemas.openxmlformats.org/drawingml/2006/main" noGrp="1"/>
          </p:cNvSpPr>
          <p:nvPr/>
        </p:nvSpPr>
        <p:spPr>
          <a:xfrm xmlns:a="http://schemas.openxmlformats.org/drawingml/2006/main">
            <a:off x="685800" y="5876925"/>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1A30"/>
                </a:solidFill>
                <a:latin typeface="Arial"/>
                <a:ea typeface="Arial"/>
                <a:cs typeface="Arial"/>
              </a:defRPr>
            </a:defPPr>
            <a:lvl1pPr>
              <a:defRPr sz="1800">
                <a:solidFill>
                  <a:srgbClr val="171A30"/>
                </a:solidFill>
                <a:latin typeface="Arial"/>
                <a:ea typeface="Arial"/>
                <a:cs typeface="Arial"/>
              </a:defRPr>
            </a:lvl1pPr>
            <a:lvl2pPr>
              <a:defRPr sz="1800">
                <a:solidFill>
                  <a:srgbClr val="171A30"/>
                </a:solidFill>
                <a:latin typeface="Arial"/>
                <a:ea typeface="Arial"/>
                <a:cs typeface="Arial"/>
              </a:defRPr>
            </a:lvl2pPr>
            <a:lvl3pPr>
              <a:defRPr sz="1800">
                <a:solidFill>
                  <a:srgbClr val="171A30"/>
                </a:solidFill>
                <a:latin typeface="Arial"/>
                <a:ea typeface="Arial"/>
                <a:cs typeface="Arial"/>
              </a:defRPr>
            </a:lvl3pPr>
            <a:lvl4pPr>
              <a:defRPr sz="1800">
                <a:solidFill>
                  <a:srgbClr val="171A30"/>
                </a:solidFill>
                <a:latin typeface="Arial"/>
                <a:ea typeface="Arial"/>
                <a:cs typeface="Arial"/>
              </a:defRPr>
            </a:lvl4pPr>
            <a:lvl5pPr>
              <a:defRPr sz="1800">
                <a:solidFill>
                  <a:srgbClr val="171A30"/>
                </a:solidFill>
                <a:latin typeface="Arial"/>
                <a:ea typeface="Arial"/>
                <a:cs typeface="Arial"/>
              </a:defRPr>
            </a:lvl5pPr>
            <a:lvl6pPr>
              <a:defRPr sz="1800">
                <a:solidFill>
                  <a:srgbClr val="171A30"/>
                </a:solidFill>
                <a:latin typeface="Arial"/>
                <a:ea typeface="Arial"/>
                <a:cs typeface="Arial"/>
              </a:defRPr>
            </a:lvl6pPr>
            <a:lvl7pPr>
              <a:defRPr sz="1800">
                <a:solidFill>
                  <a:srgbClr val="171A30"/>
                </a:solidFill>
                <a:latin typeface="Arial"/>
                <a:ea typeface="Arial"/>
                <a:cs typeface="Arial"/>
              </a:defRPr>
            </a:lvl7pPr>
            <a:lvl8pPr>
              <a:defRPr sz="1800">
                <a:solidFill>
                  <a:srgbClr val="171A30"/>
                </a:solidFill>
                <a:latin typeface="Arial"/>
                <a:ea typeface="Arial"/>
                <a:cs typeface="Arial"/>
              </a:defRPr>
            </a:lvl8pPr>
            <a:lvl9pPr>
              <a:defRPr sz="1800">
                <a:solidFill>
                  <a:srgbClr val="171A30"/>
                </a:solidFill>
                <a:latin typeface="Arial"/>
                <a:ea typeface="Arial"/>
                <a:cs typeface="Arial"/>
              </a:defRPr>
            </a:lvl9pPr>
          </a:lstStyle>
          <a:p xmlns:a="http://schemas.openxmlformats.org/drawingml/2006/main">
            <a:pPr>
              <a:defRPr sz="1800">
                <a:solidFill>
                  <a:srgbClr val="171A30"/>
                </a:solidFill>
                <a:latin typeface="Arial"/>
                <a:ea typeface="Arial"/>
                <a:cs typeface="Arial"/>
              </a:defRPr>
            </a:pPr>
            <a:r>
              <a:rPr sz="1800">
                <a:solidFill>
                  <a:srgbClr val="171A30"/>
                </a:solidFill>
                <a:latin typeface="Arial"/>
                <a:ea typeface="Arial"/>
                <a:cs typeface="Arial"/>
              </a:rPr>
              <a:t>A latência total da API ainda exige medição. O histórico observado não confirma liquidação.</a:t>
            </a:r>
          </a:p>
        </p:txBody>
      </p:sp>
    </p:spTree>
    <p:extLst>
      <p:ext uri="{BB962C8B-B14F-4D97-AF65-F5344CB8AC3E}">
        <p14:creationId xmlns:p14="http://schemas.microsoft.com/office/powerpoint/2010/main" val="735496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2026-10-18T02:34:04.8880000Z</dcterms:created>
  <dcterms:modified xsi:type="dcterms:W3CDTF">2026-10-18T02:34:04.8880000Z</dcterms:modified>
</coreProperties>
</file>